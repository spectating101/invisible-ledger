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 · deck page 1]
BREAKDOWN: Sets the frame; you preface the topic verbally. Nothing to read.
HANDOFF: "Before any numbers, let me start with something everyone can see." → 1a
ASSESSMENT: Solid. The only risk is title length, since 'Invisible Wedge' can suggest hidden money; your first spoken sentence should say it means the part of commerce a revenue figure excludes.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1a · deck page 2]
BREAKDOWN: The emotional entry: digital commerce is transformative, yet its measured footprint is small and reports disagree. It creates the tension the whole talk resolves. You talk; the slide holds one sentence.
HANDOFF: "If the reports disagree, is one of them wrong? No. They're measuring different things." → 2
ASSESSMENT: Strong and relatable. Risk: 'almost insignificant' could be heard as 'undercounted in GDP'. Keep the framing to numbers disagreeing, never missing activity. Keep it short: its value is the pause.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TA · deck page 3]
BREAKDOWN: The real case that opens the problem. Everyone agreed something big moved online; no one could say how big, because each number saw a different part. Keep it neutral: no imports, no protectionism, no claim that the ban caused anything in our data.
HANDOFF: "So which number do you read? That depends on what each one sees." → One Economy, Several Numbers
ASSESSMENT: Concrete, verifiable, and it introduces Tokopedia and social selling before any definitions. If asked about the ban itself: the study does not evaluate the policy; the story only shows that policy acted on activity each measure describes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OE · deck page 4]
BREAKDOWN: Answers the story's question. Left: the three numbers and why a size gap is normal. Right: growth is where they can part, even at Etsy, eBay and Zalando, but abroad the drift is mild.
HANDOFF: "In Indonesia it isn't mild. And one company from that story shows it clearly." → Why Indonesia, and Why Tokopedia
ASSESSMENT: The plain intuition to say aloud: a platform processes 100 and books about 10; accounts show 10, commerce shows 100. Likely question: why these three platforms? They report both numbers consistently; the full list is in the footnote.
IF ASKED (kept off the slide): The plain intuition, spoken: a platform processes 100 of transactions and books about 10 as revenue; accounts show 10, commerce shows 100, the 90 is the wedge. Scale context: Southeast Asia digital economy about US$100B (2020) to US$263B (2024), Google, Temasek &amp; Bain. Monetization in the latest reported year: about 3% at Shopify, about 25% at Mercado Libre, about 70% at Zalando (revenue includes its own retail sales). Median gap abroad 7.10 pp; growth correlation 0.98 excluding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4 · deck page 5]
BREAKDOWN: Justifies the setting (it matters, and it is testable) and introduces Tokopedia properly before its contradiction: Kong's 'who is Tokopedia?' concern, solved. The +53.2 / −8.9 contrast is the emotional peak of Movement I.
HANDOFF: "How can a company grow and shrink at the same time?" → 5
ASSESSMENT: The strongest slide of the opening if the contrast is visually dominant. Risk: two columns plus the big numbers can crowd; keep each left block to two or three lines. 'Substantially larger' is previewed here without the number (the number comes on 12). No claim about why platforms changed strategy: the setting justifies itself without it.
IF ASKED (kept off the slide): Shopee and Tokopedia together held about 70% of Indonesia's estimated marketplace transaction value in 2023 (Momentum Works 2024). TikTok Shop combination completed 31 January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5 · deck page 6]
BREAKDOWN: What changed, how the numbers reconcile, and why it matters, in one slide. The reconciliation explains the contradiction arithmetically; 'who reads which number' shows the stakes. Doubles as the non-technical, data-based literature review. Say "transaction value fell", never "fewer transactions": the count isn't observed.
HANDOFF: "So when can revenue be trusted to describe the business? What do experts already know?" → 6
ASSESSMENT: Carries the most weight in Movement I. Risk: density (three blocks plus a chart plus sub-context). First candidate to split if it looks crowded: 5a (what changed, reconciliation, interpretation, chart) and 5b (who reads which number). Must keep 'arithmetic, not causal' visible, because a finance examiner will check; no block may be labelled "cause".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6 · deck page 7]
BREAKDOWN: Positions the study: each field explains a piece of why the measures differ; this study directly tests when substitution changes the growth conclusion, and links it to national measurement. The claim is 'directly tests', never 'nobody has done this'. It turns the case into a research gap and establishes the study's worth.
HANDOFF: "That gap becomes the research question, in two links." → 7
ASSESSMENT: Important for credibility; it shows you know the field. Risk: it's the densest text slide; speak to the right column and let the left sit as reference. Likely question: 'what about papers on GMV and returns?' Answer honestly: KPI work exists (Givoly et al.); what this study adds is the direct, benchmarked test of revenue–commerce stability, linked to national data.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7 · deck page 8]
BREAKDOWN: States the formal question and the two hypotheses, using the circles to show they are two links of one chain, which answers Kong's 'connect the hypotheses'.
HANDOFF: "To test the first link, we need a measure of whether revenue and commerce stay in step." → 8
ASSESSMENT: Clean. The second and last use of the circles; don't reuse them after this. Read the research question once, slowly.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8 · deck page 9]
BREAKDOWN: Converts the question into measurement: the logic (share kept × transactions) then the equations, with D as the test. Bridges logic into empirics and closes Movement II.
HANDOFF: "What data can actually run this test?" → 9
ASSESSMENT: Well placed: equations arrive only after the audience knows why they matter. Likely questions: 'what is m?' (the share kept) and 'why D, not E?' (E is a level; D tracks change). Spoken line: "W and E tell me whether the levels differ. D tells me whether that difference changes the growth conclusion." If pressed on precision: since R = m × V, D reflects a change in m, and D ≈ g(m) only for small changes. Derivation in backup B7. Never say "safe proxy".
IF ASKED (kept off the slide): E = 9 means nine units of transaction value outside revenue per unit recognized, about 10% kept. Growth is computed in each issuer's own currency, so exchange rates do not enter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9 · deck page 10]
BREAKDOWN: Opens the evidence honestly: only three firms disclose both numbers, so the method is designed around that (self-comparison, benchmark, no single case driving results). Turns 'small sample' from a weakness into a design logic.
HANDOFF: "Before testing stability, how big is the gap we're talking about?" → 10
ASSESSMENT: Strategically important: it answers the sample-size attack before anyone raises it. Keep the right column prominent. Likely question: 'why not Lazada or TikTok Shop?' The answer is in the sub-context.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10 · deck page 11]
BREAKDOWN: Establishes scale with the 2023 table, then deliberately subordinates it: large but not the finding. Keeps the old 'wedge' story in its proper place.
HANDOFF: "W and E tell me the levels differ. D tells me whether that difference changes the growth story. Does it?" → 11
ASSESSMENT: Useful for realism, but the table has five columns, so make sure only the total row is emphasised. Note 13.7 is V/R; the table's E of 12.7 is W/R (= V/R − 1). If asked, both are right; the subtitle uses the plainer one. Keeping GDP off the slide is right. The main risk is a detour into construction methods; point to the 'constructed' label and backup B2.
IF ASKED (kept off the slide): Cross-check: Blibli and Bukalapak own figures give ratios of 43.4 and 36.0, close to Tokopedia 39.3; Shopee 9.0 and Grab 7.9 reflect company-wide monetization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11 · deck page 12]
BREAKDOWN: The first evidence payoff: the D chart shows the pattern visually. Tokopedia wasn't alone.
HANDOFF: "Tokopedia wasn't a one-off. But growth rates never match exactly, so is this unusual?" → 12
ASSESSMENT: The strongest visual in the deck; give it room and silence. Don't read the chart; point to the reversals. Precision trap: the 2 reversals are inside the 6, not the other 2. The two cases where transactions grew faster are Bukalapak 2020–21 (−5.84) and Blibli 2021–22 (−72.18). Never say "6 one way, 2 the other".
IF ASKED (kept off the slide): Blibli 2024-25 reversal: transaction value -1.89%, net revenue +12.07%.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12 · deck page 13]
BREAKDOWN: Proves the pattern is unusual: the benchmark comparison, the test, robustness. The formal answer to Kong's 'you can't just draw a figure'.
HANDOFF: "That's the first link. Now the second: do platforms even see where national growth is?" → 13
ASSESSMENT: Critical for a finance committee. Say 'inconsistent with H1' and 'cumulative evidence', never 'proves'. Likely questions: why Mann–Whitney (small, skewed samples), why one-sided (the direction was predicted), why a median (skew).
IF ASKED (kept off the slide): Why Mann-Whitney: few observations, skewed gaps, so a rank-based test on |D|. Why one-sided: the alternative (larger divergence in Indonesia) was stated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13 · deck page 14]
BREAKDOWN: Tests H2 with BPS's two transitions. The channel split sits in a separate, labelled callout: supporting evidence on where growth was measured, not part of H2 itself.
HANDOFF: "Which raises the obvious next question: can platform and national numbers simply be lined up? Not yet." → 14
ASSESSMENT: Clean, and robust to the business-count issue. Keep the wording 'participating businesses' (not 'new sellers entering': BPS counts don't identify entry) and 'BPS's marketplace category'. Likely question: 'is this causal?' No: an arithmetic decomposition.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14 · deck page 15]
BREAKDOWN: Framed as motivation for thesis work, not as another finding to defend. The level gap and the payment growth rates show that the measurement systems can't yet be lined up, which is why reconciling definitions is part of the thesis plan.
HANDOFF: "With all this, what can and can't we conclude?" → 15
ASSESSMENT: Kept in the core deck in its reframed form; it is proposal-native and feeds straight into "what the thesis will complete" on 17. Likely questions: 'How can Tokopedia alone exceed all marketplaces?', 'Is BPS wrong?', 'Double-counting?', 'Is Shopee Indonesia-only?', 'How does BPS assign multi-channel sellers?' One answer covers all of them: "They aren't measuring the same thing yet. That's precisely what the thesis reconciles." Don't go further; don't defend the level gap. If time is tight, move it to backup (B9) and say the one sentence on 17 instead.
IF ASKED (kept off the slide): Payment measures grew 1.8 to 11 times as fast as e-commerce value (2023-24).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15 · deck page 16]
BREAKDOWN: Pre-empts the hard questions and states the boundaries confidently. This is where the committee decides to trust you.
HANDOFF: "Putting it together." → 16
ASSESSMENT: Essential. Deliver it calmly, not apologetically. The Q&amp;A format mirrors your religion deck and signals preparedness.
IF ASKED (kept off the slide): Monetization abroad ranges from about 3% (Shopify) to about 70% (Zalando).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16 · deck page 17]
BREAKDOWN: Pulls both hypotheses and all the evidence into one image.
HANDOFF: "So what does this give us, and where does it go?" → 17
ASSESSMENT: Short and strong. It's the visual summary the committee will remember; pause on it. The arrows carry the hypotheses exactly as stated on 7; the channel result stays beside the arrow, not on it. The open circle for reconciliation signals unfinished work.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master slide 17 · deck page 18]
BREAKDOWN: Two jobs. Left: what the study adds so far, answering the three open questions from the literature slide, plus the finance point. Right: the framework as a repeatable check (match, size the gap, test stability, benchmark and diagnose). Bottom: what the thesis will complete, so this reads as a programme, not a finished manuscript.
SPOKEN CLOSE: "So how much had moved online in the Tanah Abang case? It depends on the number. This study shows which number answers which question, and gives a check to run before one stands in for another."
ASSESSMENT: Keep the framework claim modest: a check, not the best indicator. If asked about novelty: the pieces exist in the literature; what is new is testing the substitution directly, over time, against a benchmark, and linking it to national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821528" y="1828800"/>
            <a:ext cx="548640" cy="45720"/>
          </a:xfrm>
          <a:prstGeom prst="rect">
            <a:avLst/>
          </a:prstGeom>
          <a:solidFill>
            <a:srgbClr val="1A1A1A"/>
          </a:solidFill>
          <a:ln w="12700">
            <a:solidFill>
              <a:srgbClr val="1A1A1A"/>
            </a:solidFill>
            <a:prstDash val="solid"/>
          </a:ln>
        </p:spPr>
      </p:sp>
      <p:sp>
        <p:nvSpPr>
          <p:cNvPr id="4" name="Text 1"/>
          <p:cNvSpPr txBox="1"/>
          <p:nvPr/>
        </p:nvSpPr>
        <p:spPr>
          <a:xfrm>
            <a:off x="1097280" y="2011680"/>
            <a:ext cx="9997135" cy="685800"/>
          </a:xfrm>
          <a:prstGeom prst="rect">
            <a:avLst/>
          </a:prstGeom>
          <a:noFill/>
          <a:ln/>
        </p:spPr>
        <p:txBody>
          <a:bodyPr wrap="square" lIns="0" tIns="0" rIns="0" bIns="0" rtlCol="0" anchor="t"/>
          <a:lstStyle/>
          <a:p>
            <a:pPr algn="ctr" indent="0" marL="0">
              <a:lnSpc>
                <a:spcPct val="100000"/>
              </a:lnSpc>
              <a:buNone/>
            </a:pPr>
            <a:r>
              <a:rPr lang="en-US" sz="4000" b="1" dirty="0">
                <a:solidFill>
                  <a:srgbClr val="1A1A1A"/>
                </a:solidFill>
                <a:latin typeface="Montserrat" pitchFamily="34" charset="0"/>
                <a:ea typeface="Montserrat" pitchFamily="34" charset="-122"/>
                <a:cs typeface="Montserrat" pitchFamily="34" charset="-120"/>
              </a:rPr>
              <a:t>The Invisible Ledger</a:t>
            </a:r>
            <a:endParaRPr lang="en-US" sz="4000" dirty="0"/>
          </a:p>
        </p:txBody>
      </p:sp>
      <p:sp>
        <p:nvSpPr>
          <p:cNvPr id="5" name="Text 2"/>
          <p:cNvSpPr txBox="1"/>
          <p:nvPr/>
        </p:nvSpPr>
        <p:spPr>
          <a:xfrm>
            <a:off x="1097280" y="2743200"/>
            <a:ext cx="9997135" cy="365760"/>
          </a:xfrm>
          <a:prstGeom prst="rect">
            <a:avLst/>
          </a:prstGeom>
          <a:noFill/>
          <a:ln/>
        </p:spPr>
        <p:txBody>
          <a:bodyPr wrap="square" lIns="0" tIns="0" rIns="0" bIns="0" rtlCol="0" anchor="t"/>
          <a:lstStyle/>
          <a:p>
            <a:pPr algn="ctr" indent="0" marL="0">
              <a:lnSpc>
                <a:spcPct val="100000"/>
              </a:lnSpc>
              <a:buNone/>
            </a:pPr>
            <a:r>
              <a:rPr lang="en-US" sz="1900" dirty="0">
                <a:solidFill>
                  <a:srgbClr val="3A3834"/>
                </a:solidFill>
                <a:latin typeface="Montserrat SemiBold" pitchFamily="34" charset="0"/>
                <a:ea typeface="Montserrat SemiBold" pitchFamily="34" charset="-122"/>
                <a:cs typeface="Montserrat SemiBold" pitchFamily="34" charset="-120"/>
              </a:rPr>
              <a:t>Quantifying the Invisible Wedge in Indonesia’s Platform Economy</a:t>
            </a:r>
            <a:endParaRPr lang="en-US" sz="1900" dirty="0"/>
          </a:p>
        </p:txBody>
      </p:sp>
      <p:sp>
        <p:nvSpPr>
          <p:cNvPr id="6" name="Text 3"/>
          <p:cNvSpPr txBox="1"/>
          <p:nvPr/>
        </p:nvSpPr>
        <p:spPr>
          <a:xfrm>
            <a:off x="1097280" y="3200400"/>
            <a:ext cx="9997135" cy="320040"/>
          </a:xfrm>
          <a:prstGeom prst="rect">
            <a:avLst/>
          </a:prstGeom>
          <a:noFill/>
          <a:ln/>
        </p:spPr>
        <p:txBody>
          <a:bodyPr wrap="square" lIns="0" tIns="0" rIns="0" bIns="0" rtlCol="0" anchor="t"/>
          <a:lstStyle/>
          <a:p>
            <a:pPr algn="ctr" indent="0" marL="0">
              <a:lnSpc>
                <a:spcPct val="105000"/>
              </a:lnSpc>
              <a:buNone/>
            </a:pPr>
            <a:r>
              <a:rPr lang="en-US" sz="1400" dirty="0">
                <a:solidFill>
                  <a:srgbClr val="5F5C57"/>
                </a:solidFill>
                <a:latin typeface="Noto Sans CJK TC" pitchFamily="34" charset="0"/>
                <a:ea typeface="Noto Sans CJK TC" pitchFamily="34" charset="-122"/>
                <a:cs typeface="Noto Sans CJK TC" pitchFamily="34" charset="-120"/>
              </a:rPr>
              <a:t>隱形帳簿：量化印尼平台經濟中的隱形缺口</a:t>
            </a:r>
            <a:endParaRPr lang="en-US" sz="1400" dirty="0"/>
          </a:p>
        </p:txBody>
      </p:sp>
      <p:sp>
        <p:nvSpPr>
          <p:cNvPr id="7" name="Shape 4"/>
          <p:cNvSpPr/>
          <p:nvPr/>
        </p:nvSpPr>
        <p:spPr>
          <a:xfrm>
            <a:off x="4724248" y="3794760"/>
            <a:ext cx="2743200" cy="0"/>
          </a:xfrm>
          <a:prstGeom prst="line">
            <a:avLst/>
          </a:prstGeom>
          <a:noFill/>
          <a:ln w="9525">
            <a:solidFill>
              <a:srgbClr val="B9B5AE"/>
            </a:solidFill>
            <a:prstDash val="solid"/>
          </a:ln>
        </p:spPr>
      </p:sp>
      <p:sp>
        <p:nvSpPr>
          <p:cNvPr id="8" name="Text 5"/>
          <p:cNvSpPr txBox="1"/>
          <p:nvPr/>
        </p:nvSpPr>
        <p:spPr>
          <a:xfrm>
            <a:off x="1097280" y="3977640"/>
            <a:ext cx="9997135" cy="256032"/>
          </a:xfrm>
          <a:prstGeom prst="rect">
            <a:avLst/>
          </a:prstGeom>
          <a:noFill/>
          <a:ln/>
        </p:spPr>
        <p:txBody>
          <a:bodyPr wrap="square" lIns="0" tIns="0" rIns="0" bIns="0" rtlCol="0" anchor="t"/>
          <a:lstStyle/>
          <a:p>
            <a:pPr algn="ctr" indent="0" marL="0">
              <a:lnSpc>
                <a:spcPct val="105000"/>
              </a:lnSpc>
              <a:buNone/>
            </a:pPr>
            <a:r>
              <a:rPr lang="en-US" sz="1200" b="1" spc="200" kern="0" dirty="0">
                <a:solidFill>
                  <a:srgbClr val="1A1A1A"/>
                </a:solidFill>
                <a:latin typeface="Montserrat" pitchFamily="34" charset="0"/>
                <a:ea typeface="Montserrat" pitchFamily="34" charset="-122"/>
                <a:cs typeface="Montserrat" pitchFamily="34" charset="-120"/>
              </a:rPr>
              <a:t>CHRISTOPHER ONGKO  王新福</a:t>
            </a:r>
            <a:endParaRPr lang="en-US" sz="1200" dirty="0"/>
          </a:p>
        </p:txBody>
      </p:sp>
      <p:sp>
        <p:nvSpPr>
          <p:cNvPr id="9" name="Text 6"/>
          <p:cNvSpPr txBox="1"/>
          <p:nvPr/>
        </p:nvSpPr>
        <p:spPr>
          <a:xfrm>
            <a:off x="1097280" y="4279392"/>
            <a:ext cx="9997135" cy="256032"/>
          </a:xfrm>
          <a:prstGeom prst="rect">
            <a:avLst/>
          </a:prstGeom>
          <a:noFill/>
          <a:ln/>
        </p:spPr>
        <p:txBody>
          <a:bodyPr wrap="square" lIns="0" tIns="0" rIns="0" bIns="0" rtlCol="0" anchor="t"/>
          <a:lstStyle/>
          <a:p>
            <a:pPr algn="ctr" indent="0" marL="0">
              <a:lnSpc>
                <a:spcPct val="105000"/>
              </a:lnSpc>
              <a:buNone/>
            </a:pPr>
            <a:r>
              <a:rPr lang="en-US" sz="1100" spc="200" kern="0" dirty="0">
                <a:solidFill>
                  <a:srgbClr val="1A1A1A"/>
                </a:solidFill>
                <a:latin typeface="Montserrat" pitchFamily="34" charset="0"/>
                <a:ea typeface="Montserrat" pitchFamily="34" charset="-122"/>
                <a:cs typeface="Montserrat" pitchFamily="34" charset="-120"/>
              </a:rPr>
              <a:t>ADVISOR: PROF. DE-RONG KONG  孔德蓉</a:t>
            </a:r>
            <a:endParaRPr lang="en-US" sz="1100" dirty="0"/>
          </a:p>
        </p:txBody>
      </p:sp>
      <p:sp>
        <p:nvSpPr>
          <p:cNvPr id="10" name="Text 7"/>
          <p:cNvSpPr txBox="1"/>
          <p:nvPr/>
        </p:nvSpPr>
        <p:spPr>
          <a:xfrm>
            <a:off x="1097280" y="4800600"/>
            <a:ext cx="9997135" cy="256032"/>
          </a:xfrm>
          <a:prstGeom prst="rect">
            <a:avLst/>
          </a:prstGeom>
          <a:noFill/>
          <a:ln/>
        </p:spPr>
        <p:txBody>
          <a:bodyPr wrap="square" lIns="0" tIns="0" rIns="0" bIns="0" rtlCol="0" anchor="t"/>
          <a:lstStyle/>
          <a:p>
            <a:pPr algn="ctr" indent="0" marL="0">
              <a:lnSpc>
                <a:spcPct val="105000"/>
              </a:lnSpc>
              <a:buNone/>
            </a:pPr>
            <a:r>
              <a:rPr lang="en-US" sz="900" spc="150" kern="0" dirty="0">
                <a:solidFill>
                  <a:srgbClr val="5F5C57"/>
                </a:solidFill>
                <a:latin typeface="Montserrat" pitchFamily="34" charset="0"/>
                <a:ea typeface="Montserrat" pitchFamily="34" charset="-122"/>
                <a:cs typeface="Montserrat" pitchFamily="34" charset="-120"/>
              </a:rPr>
              <a:t>MASTER OF SCIENCE IN FINANCE, YUAN ZE UNIVERSITY  ·  PROPOSAL ORAL EXAMINATION  ·  1 OCTOBER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 THE PROBLEM</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2</a:t>
            </a:r>
            <a:endParaRPr lang="en-US" sz="800" dirty="0"/>
          </a:p>
        </p:txBody>
      </p:sp>
      <p:sp>
        <p:nvSpPr>
          <p:cNvPr id="5" name="Shape 2"/>
          <p:cNvSpPr/>
          <p:nvPr/>
        </p:nvSpPr>
        <p:spPr>
          <a:xfrm>
            <a:off x="5821528" y="1645920"/>
            <a:ext cx="548640" cy="45720"/>
          </a:xfrm>
          <a:prstGeom prst="rect">
            <a:avLst/>
          </a:prstGeom>
          <a:solidFill>
            <a:srgbClr val="1A1A1A"/>
          </a:solidFill>
          <a:ln w="12700">
            <a:solidFill>
              <a:srgbClr val="1A1A1A"/>
            </a:solidFill>
            <a:prstDash val="solid"/>
          </a:ln>
        </p:spPr>
      </p:sp>
      <p:sp>
        <p:nvSpPr>
          <p:cNvPr id="6" name="Text 3"/>
          <p:cNvSpPr txBox="1"/>
          <p:nvPr/>
        </p:nvSpPr>
        <p:spPr>
          <a:xfrm>
            <a:off x="1463040" y="1874520"/>
            <a:ext cx="9265615" cy="1463040"/>
          </a:xfrm>
          <a:prstGeom prst="rect">
            <a:avLst/>
          </a:prstGeom>
          <a:noFill/>
          <a:ln/>
        </p:spPr>
        <p:txBody>
          <a:bodyPr wrap="square" lIns="0" tIns="0" rIns="0" bIns="0" rtlCol="0" anchor="t"/>
          <a:lstStyle/>
          <a:p>
            <a:pPr algn="ctr" indent="0" marL="0">
              <a:lnSpc>
                <a:spcPct val="115000"/>
              </a:lnSpc>
              <a:buNone/>
            </a:pPr>
            <a:r>
              <a:rPr lang="en-US" sz="2400" b="1" dirty="0">
                <a:solidFill>
                  <a:srgbClr val="1A1A1A"/>
                </a:solidFill>
                <a:latin typeface="Montserrat" pitchFamily="34" charset="0"/>
                <a:ea typeface="Montserrat" pitchFamily="34" charset="-122"/>
                <a:cs typeface="Montserrat" pitchFamily="34" charset="-120"/>
              </a:rPr>
              <a:t>Digital commerce has changed how an entire country buys and sells, yet some of the numbers used to measure it make it look far smaller than others do.</a:t>
            </a:r>
            <a:endParaRPr lang="en-US" sz="2400" dirty="0"/>
          </a:p>
        </p:txBody>
      </p:sp>
      <p:sp>
        <p:nvSpPr>
          <p:cNvPr id="7" name="Text 4"/>
          <p:cNvSpPr txBox="1"/>
          <p:nvPr/>
        </p:nvSpPr>
        <p:spPr>
          <a:xfrm>
            <a:off x="1828800" y="3749040"/>
            <a:ext cx="8534095" cy="1371600"/>
          </a:xfrm>
          <a:prstGeom prst="rect">
            <a:avLst/>
          </a:prstGeom>
          <a:noFill/>
          <a:ln/>
        </p:spPr>
        <p:txBody>
          <a:bodyPr wrap="square" lIns="0" tIns="0" rIns="0" bIns="0" rtlCol="0" anchor="t"/>
          <a:lstStyle/>
          <a:p>
            <a:pPr algn="ctr" indent="0" marL="0">
              <a:lnSpc>
                <a:spcPct val="105000"/>
              </a:lnSpc>
              <a:spcAft>
                <a:spcPts val="800"/>
              </a:spcAft>
              <a:buNone/>
            </a:pPr>
            <a:r>
              <a:rPr lang="en-US" sz="1400" dirty="0">
                <a:solidFill>
                  <a:srgbClr val="5F5C57"/>
                </a:solidFill>
                <a:latin typeface="Inter" pitchFamily="34" charset="0"/>
                <a:ea typeface="Inter" pitchFamily="34" charset="-122"/>
                <a:cs typeface="Inter" pitchFamily="34" charset="-120"/>
              </a:rPr>
              <a:t>Sellers in any village reach the whole country; shops run from phones; payments move by QR scan.</a:t>
            </a:r>
            <a:endParaRPr lang="en-US" sz="1400" dirty="0"/>
          </a:p>
          <a:p>
            <a:pPr algn="ctr" indent="0" marL="0">
              <a:lnSpc>
                <a:spcPct val="105000"/>
              </a:lnSpc>
              <a:spcAft>
                <a:spcPts val="800"/>
              </a:spcAft>
              <a:buNone/>
            </a:pPr>
            <a:r>
              <a:rPr lang="en-US" sz="1400" dirty="0">
                <a:solidFill>
                  <a:srgbClr val="5F5C57"/>
                </a:solidFill>
                <a:latin typeface="Inter" pitchFamily="34" charset="0"/>
                <a:ea typeface="Inter" pitchFamily="34" charset="-122"/>
                <a:cs typeface="Inter" pitchFamily="34" charset="-120"/>
              </a:rPr>
              <a:t>Reports on the same activity describe it as booming, as modest, or as barely growing.</a:t>
            </a:r>
            <a:endParaRPr lang="en-US" sz="1400" dirty="0"/>
          </a:p>
          <a:p>
            <a:pPr algn="ctr" indent="0" marL="0">
              <a:lnSpc>
                <a:spcPct val="105000"/>
              </a:lnSpc>
              <a:spcAft>
                <a:spcPts val="800"/>
              </a:spcAft>
              <a:buNone/>
            </a:pPr>
            <a:r>
              <a:rPr lang="en-US" sz="1400" dirty="0">
                <a:solidFill>
                  <a:srgbClr val="5F5C57"/>
                </a:solidFill>
                <a:latin typeface="Inter" pitchFamily="34" charset="0"/>
                <a:ea typeface="Inter" pitchFamily="34" charset="-122"/>
                <a:cs typeface="Inter" pitchFamily="34" charset="-120"/>
              </a:rPr>
              <a:t>Each report is correct on its own terms. Side by side, they don’t tell the same story.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 THE PROBLEM</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3</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Case Study: Tanah Abang Market, Jakarta, 2023</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“Everyone could see commerce moving online. No single number could say how much.”</a:t>
            </a:r>
            <a:endParaRPr lang="en-US" sz="1500" dirty="0"/>
          </a:p>
        </p:txBody>
      </p:sp>
      <p:sp>
        <p:nvSpPr>
          <p:cNvPr id="8" name="Shape 5"/>
          <p:cNvSpPr/>
          <p:nvPr/>
        </p:nvSpPr>
        <p:spPr>
          <a:xfrm>
            <a:off x="822960" y="2075688"/>
            <a:ext cx="10545775" cy="0"/>
          </a:xfrm>
          <a:prstGeom prst="line">
            <a:avLst/>
          </a:prstGeom>
          <a:noFill/>
          <a:ln w="15875">
            <a:solidFill>
              <a:srgbClr val="1A1A1A"/>
            </a:solidFill>
            <a:prstDash val="solid"/>
          </a:ln>
        </p:spPr>
      </p:sp>
      <p:sp>
        <p:nvSpPr>
          <p:cNvPr id="9" name="Shape 6"/>
          <p:cNvSpPr/>
          <p:nvPr/>
        </p:nvSpPr>
        <p:spPr>
          <a:xfrm>
            <a:off x="722376" y="1975104"/>
            <a:ext cx="201168" cy="201168"/>
          </a:xfrm>
          <a:prstGeom prst="ellipse">
            <a:avLst/>
          </a:prstGeom>
          <a:solidFill>
            <a:srgbClr val="1A1A1A"/>
          </a:solidFill>
          <a:ln w="19050">
            <a:solidFill>
              <a:srgbClr val="F3F2EF"/>
            </a:solidFill>
            <a:prstDash val="solid"/>
          </a:ln>
        </p:spPr>
      </p:sp>
      <p:sp>
        <p:nvSpPr>
          <p:cNvPr id="10" name="Text 7"/>
          <p:cNvSpPr txBox="1"/>
          <p:nvPr/>
        </p:nvSpPr>
        <p:spPr>
          <a:xfrm>
            <a:off x="731520" y="1664208"/>
            <a:ext cx="3383280" cy="228600"/>
          </a:xfrm>
          <a:prstGeom prst="rect">
            <a:avLst/>
          </a:prstGeom>
          <a:noFill/>
          <a:ln/>
        </p:spPr>
        <p:txBody>
          <a:bodyPr wrap="square" lIns="0" tIns="0" rIns="0" bIns="0" rtlCol="0" anchor="t"/>
          <a:lstStyle/>
          <a:p>
            <a:pPr algn="l" indent="0" marL="0">
              <a:lnSpc>
                <a:spcPct val="105000"/>
              </a:lnSpc>
              <a:buNone/>
            </a:pPr>
            <a:r>
              <a:rPr lang="en-US" sz="1050" b="1" spc="100" kern="0" dirty="0">
                <a:solidFill>
                  <a:srgbClr val="5F5C57"/>
                </a:solidFill>
                <a:latin typeface="Montserrat" pitchFamily="34" charset="0"/>
                <a:ea typeface="Montserrat" pitchFamily="34" charset="-122"/>
                <a:cs typeface="Montserrat" pitchFamily="34" charset="-120"/>
              </a:rPr>
              <a:t>2023</a:t>
            </a:r>
            <a:endParaRPr lang="en-US" sz="1050" dirty="0"/>
          </a:p>
        </p:txBody>
      </p:sp>
      <p:sp>
        <p:nvSpPr>
          <p:cNvPr id="11" name="Text 8"/>
          <p:cNvSpPr txBox="1"/>
          <p:nvPr/>
        </p:nvSpPr>
        <p:spPr>
          <a:xfrm>
            <a:off x="731520" y="2331720"/>
            <a:ext cx="3383280" cy="228600"/>
          </a:xfrm>
          <a:prstGeom prst="rect">
            <a:avLst/>
          </a:prstGeom>
          <a:noFill/>
          <a:ln/>
        </p:spPr>
        <p:txBody>
          <a:bodyPr wrap="square" lIns="0" tIns="0" rIns="0" bIns="0" rtlCol="0" anchor="t"/>
          <a:lstStyle/>
          <a:p>
            <a:pPr algn="l" indent="0" marL="0">
              <a:lnSpc>
                <a:spcPct val="105000"/>
              </a:lnSpc>
              <a:buNone/>
            </a:pPr>
            <a:r>
              <a:rPr lang="en-US" sz="1200" b="1" spc="80" kern="0" dirty="0">
                <a:solidFill>
                  <a:srgbClr val="1A1A1A"/>
                </a:solidFill>
                <a:latin typeface="Montserrat" pitchFamily="34" charset="0"/>
                <a:ea typeface="Montserrat" pitchFamily="34" charset="-122"/>
                <a:cs typeface="Montserrat" pitchFamily="34" charset="-120"/>
              </a:rPr>
              <a:t>THE SCENE</a:t>
            </a:r>
            <a:endParaRPr lang="en-US" sz="1200" dirty="0"/>
          </a:p>
        </p:txBody>
      </p:sp>
      <p:sp>
        <p:nvSpPr>
          <p:cNvPr id="12" name="Text 9"/>
          <p:cNvSpPr txBox="1"/>
          <p:nvPr/>
        </p:nvSpPr>
        <p:spPr>
          <a:xfrm>
            <a:off x="731520" y="2606040"/>
            <a:ext cx="3383280" cy="1280160"/>
          </a:xfrm>
          <a:prstGeom prst="rect">
            <a:avLst/>
          </a:prstGeom>
          <a:noFill/>
          <a:ln/>
        </p:spPr>
        <p:txBody>
          <a:bodyPr wrap="square" lIns="0" tIns="0" rIns="0" bIns="0" rtlCol="0" anchor="t"/>
          <a:lstStyle/>
          <a:p>
            <a:pPr algn="l" indent="0" marL="0">
              <a:lnSpc>
                <a:spcPct val="105000"/>
              </a:lnSpc>
              <a:buNone/>
            </a:pPr>
            <a:r>
              <a:rPr lang="en-US" sz="1300" dirty="0">
                <a:solidFill>
                  <a:srgbClr val="1A1A1A"/>
                </a:solidFill>
                <a:latin typeface="Inter" pitchFamily="34" charset="0"/>
                <a:ea typeface="Inter" pitchFamily="34" charset="-122"/>
                <a:cs typeface="Inter" pitchFamily="34" charset="-120"/>
              </a:rPr>
              <a:t>Tanah Abang in Jakarta is Southeast Asia’s largest wholesale market. Its traders said their customers had gone elsewhere: to </a:t>
            </a:r>
            <a:r>
              <a:rPr lang="en-US" sz="1300" b="1" dirty="0">
                <a:solidFill>
                  <a:srgbClr val="1A1A1A"/>
                </a:solidFill>
                <a:latin typeface="Inter" pitchFamily="34" charset="0"/>
                <a:ea typeface="Inter" pitchFamily="34" charset="-122"/>
                <a:cs typeface="Inter" pitchFamily="34" charset="-120"/>
              </a:rPr>
              <a:t>sellers live-streaming on their phones</a:t>
            </a:r>
            <a:r>
              <a:rPr lang="en-US" sz="1300" dirty="0">
                <a:solidFill>
                  <a:srgbClr val="1A1A1A"/>
                </a:solidFill>
                <a:latin typeface="Inter" pitchFamily="34" charset="0"/>
                <a:ea typeface="Inter" pitchFamily="34" charset="-122"/>
                <a:cs typeface="Inter" pitchFamily="34" charset="-120"/>
              </a:rPr>
              <a:t>.</a:t>
            </a:r>
            <a:endParaRPr lang="en-US" sz="1300" dirty="0"/>
          </a:p>
        </p:txBody>
      </p:sp>
      <p:sp>
        <p:nvSpPr>
          <p:cNvPr id="13" name="Shape 10"/>
          <p:cNvSpPr/>
          <p:nvPr/>
        </p:nvSpPr>
        <p:spPr>
          <a:xfrm>
            <a:off x="5995264" y="1975104"/>
            <a:ext cx="201168" cy="201168"/>
          </a:xfrm>
          <a:prstGeom prst="ellipse">
            <a:avLst/>
          </a:prstGeom>
          <a:solidFill>
            <a:srgbClr val="1A1A1A"/>
          </a:solidFill>
          <a:ln w="19050">
            <a:solidFill>
              <a:srgbClr val="F3F2EF"/>
            </a:solidFill>
            <a:prstDash val="solid"/>
          </a:ln>
        </p:spPr>
      </p:sp>
      <p:sp>
        <p:nvSpPr>
          <p:cNvPr id="14" name="Text 11"/>
          <p:cNvSpPr txBox="1"/>
          <p:nvPr/>
        </p:nvSpPr>
        <p:spPr>
          <a:xfrm>
            <a:off x="4404208" y="1664208"/>
            <a:ext cx="3383280" cy="228600"/>
          </a:xfrm>
          <a:prstGeom prst="rect">
            <a:avLst/>
          </a:prstGeom>
          <a:noFill/>
          <a:ln/>
        </p:spPr>
        <p:txBody>
          <a:bodyPr wrap="square" lIns="0" tIns="0" rIns="0" bIns="0" rtlCol="0" anchor="t"/>
          <a:lstStyle/>
          <a:p>
            <a:pPr algn="ctr" indent="0" marL="0">
              <a:lnSpc>
                <a:spcPct val="105000"/>
              </a:lnSpc>
              <a:buNone/>
            </a:pPr>
            <a:r>
              <a:rPr lang="en-US" sz="1050" b="1" spc="100" kern="0" dirty="0">
                <a:solidFill>
                  <a:srgbClr val="5F5C57"/>
                </a:solidFill>
                <a:latin typeface="Montserrat" pitchFamily="34" charset="0"/>
                <a:ea typeface="Montserrat" pitchFamily="34" charset="-122"/>
                <a:cs typeface="Montserrat" pitchFamily="34" charset="-120"/>
              </a:rPr>
              <a:t>SEPTEMBER – OCTOBER 2023</a:t>
            </a:r>
            <a:endParaRPr lang="en-US" sz="1050" dirty="0"/>
          </a:p>
        </p:txBody>
      </p:sp>
      <p:sp>
        <p:nvSpPr>
          <p:cNvPr id="15" name="Text 12"/>
          <p:cNvSpPr txBox="1"/>
          <p:nvPr/>
        </p:nvSpPr>
        <p:spPr>
          <a:xfrm>
            <a:off x="4404208" y="2331720"/>
            <a:ext cx="3383280" cy="228600"/>
          </a:xfrm>
          <a:prstGeom prst="rect">
            <a:avLst/>
          </a:prstGeom>
          <a:noFill/>
          <a:ln/>
        </p:spPr>
        <p:txBody>
          <a:bodyPr wrap="square" lIns="0" tIns="0" rIns="0" bIns="0" rtlCol="0" anchor="t"/>
          <a:lstStyle/>
          <a:p>
            <a:pPr algn="ctr" indent="0" marL="0">
              <a:lnSpc>
                <a:spcPct val="105000"/>
              </a:lnSpc>
              <a:buNone/>
            </a:pPr>
            <a:r>
              <a:rPr lang="en-US" sz="1200" b="1" spc="80" kern="0" dirty="0">
                <a:solidFill>
                  <a:srgbClr val="1A1A1A"/>
                </a:solidFill>
                <a:latin typeface="Montserrat" pitchFamily="34" charset="0"/>
                <a:ea typeface="Montserrat" pitchFamily="34" charset="-122"/>
                <a:cs typeface="Montserrat" pitchFamily="34" charset="-120"/>
              </a:rPr>
              <a:t>THE RESPONSE</a:t>
            </a:r>
            <a:endParaRPr lang="en-US" sz="1200" dirty="0"/>
          </a:p>
        </p:txBody>
      </p:sp>
      <p:sp>
        <p:nvSpPr>
          <p:cNvPr id="16" name="Text 13"/>
          <p:cNvSpPr txBox="1"/>
          <p:nvPr/>
        </p:nvSpPr>
        <p:spPr>
          <a:xfrm>
            <a:off x="4404208" y="2606040"/>
            <a:ext cx="3383280" cy="1280160"/>
          </a:xfrm>
          <a:prstGeom prst="rect">
            <a:avLst/>
          </a:prstGeom>
          <a:noFill/>
          <a:ln/>
        </p:spPr>
        <p:txBody>
          <a:bodyPr wrap="square" lIns="0" tIns="0" rIns="0" bIns="0" rtlCol="0" anchor="t"/>
          <a:lstStyle/>
          <a:p>
            <a:pPr algn="ctr" indent="0" marL="0">
              <a:lnSpc>
                <a:spcPct val="105000"/>
              </a:lnSpc>
              <a:buNone/>
            </a:pPr>
            <a:r>
              <a:rPr lang="en-US" sz="1300" dirty="0">
                <a:solidFill>
                  <a:srgbClr val="1A1A1A"/>
                </a:solidFill>
                <a:latin typeface="Inter" pitchFamily="34" charset="0"/>
                <a:ea typeface="Inter" pitchFamily="34" charset="-122"/>
                <a:cs typeface="Inter" pitchFamily="34" charset="-120"/>
              </a:rPr>
              <a:t>The government restricted selling through social media. Within days, </a:t>
            </a:r>
            <a:r>
              <a:rPr lang="en-US" sz="1300" b="1" dirty="0">
                <a:solidFill>
                  <a:srgbClr val="1A1A1A"/>
                </a:solidFill>
                <a:latin typeface="Inter" pitchFamily="34" charset="0"/>
                <a:ea typeface="Inter" pitchFamily="34" charset="-122"/>
                <a:cs typeface="Inter" pitchFamily="34" charset="-120"/>
              </a:rPr>
              <a:t>TikTok Shop closed</a:t>
            </a:r>
            <a:r>
              <a:rPr lang="en-US" sz="1300" dirty="0">
                <a:solidFill>
                  <a:srgbClr val="1A1A1A"/>
                </a:solidFill>
                <a:latin typeface="Inter" pitchFamily="34" charset="0"/>
                <a:ea typeface="Inter" pitchFamily="34" charset="-122"/>
                <a:cs typeface="Inter" pitchFamily="34" charset="-120"/>
              </a:rPr>
              <a:t> in Indonesia.</a:t>
            </a:r>
            <a:endParaRPr lang="en-US" sz="1300" dirty="0"/>
          </a:p>
        </p:txBody>
      </p:sp>
      <p:sp>
        <p:nvSpPr>
          <p:cNvPr id="17" name="Shape 14"/>
          <p:cNvSpPr/>
          <p:nvPr/>
        </p:nvSpPr>
        <p:spPr>
          <a:xfrm>
            <a:off x="11268151" y="1975104"/>
            <a:ext cx="201168" cy="201168"/>
          </a:xfrm>
          <a:prstGeom prst="ellipse">
            <a:avLst/>
          </a:prstGeom>
          <a:solidFill>
            <a:srgbClr val="1F4E5F"/>
          </a:solidFill>
          <a:ln w="19050">
            <a:solidFill>
              <a:srgbClr val="F3F2EF"/>
            </a:solidFill>
            <a:prstDash val="solid"/>
          </a:ln>
        </p:spPr>
      </p:sp>
      <p:sp>
        <p:nvSpPr>
          <p:cNvPr id="18" name="Text 15"/>
          <p:cNvSpPr txBox="1"/>
          <p:nvPr/>
        </p:nvSpPr>
        <p:spPr>
          <a:xfrm>
            <a:off x="8076895" y="1664208"/>
            <a:ext cx="3383280" cy="228600"/>
          </a:xfrm>
          <a:prstGeom prst="rect">
            <a:avLst/>
          </a:prstGeom>
          <a:noFill/>
          <a:ln/>
        </p:spPr>
        <p:txBody>
          <a:bodyPr wrap="square" lIns="0" tIns="0" rIns="0" bIns="0" rtlCol="0" anchor="t"/>
          <a:lstStyle/>
          <a:p>
            <a:pPr algn="r" indent="0" marL="0">
              <a:lnSpc>
                <a:spcPct val="105000"/>
              </a:lnSpc>
              <a:buNone/>
            </a:pPr>
            <a:r>
              <a:rPr lang="en-US" sz="1050" b="1" spc="100" kern="0" dirty="0">
                <a:solidFill>
                  <a:srgbClr val="5F5C57"/>
                </a:solidFill>
                <a:latin typeface="Montserrat" pitchFamily="34" charset="0"/>
                <a:ea typeface="Montserrat" pitchFamily="34" charset="-122"/>
                <a:cs typeface="Montserrat" pitchFamily="34" charset="-120"/>
              </a:rPr>
              <a:t>DECEMBER 2023 – JANUARY 2024</a:t>
            </a:r>
            <a:endParaRPr lang="en-US" sz="1050" dirty="0"/>
          </a:p>
        </p:txBody>
      </p:sp>
      <p:sp>
        <p:nvSpPr>
          <p:cNvPr id="19" name="Text 16"/>
          <p:cNvSpPr txBox="1"/>
          <p:nvPr/>
        </p:nvSpPr>
        <p:spPr>
          <a:xfrm>
            <a:off x="8076895" y="2331720"/>
            <a:ext cx="3383280" cy="228600"/>
          </a:xfrm>
          <a:prstGeom prst="rect">
            <a:avLst/>
          </a:prstGeom>
          <a:noFill/>
          <a:ln/>
        </p:spPr>
        <p:txBody>
          <a:bodyPr wrap="square" lIns="0" tIns="0" rIns="0" bIns="0" rtlCol="0" anchor="t"/>
          <a:lstStyle/>
          <a:p>
            <a:pPr algn="r" indent="0" marL="0">
              <a:lnSpc>
                <a:spcPct val="105000"/>
              </a:lnSpc>
              <a:buNone/>
            </a:pPr>
            <a:r>
              <a:rPr lang="en-US" sz="1200" b="1" spc="80" kern="0" dirty="0">
                <a:solidFill>
                  <a:srgbClr val="1A1A1A"/>
                </a:solidFill>
                <a:latin typeface="Montserrat" pitchFamily="34" charset="0"/>
                <a:ea typeface="Montserrat" pitchFamily="34" charset="-122"/>
                <a:cs typeface="Montserrat" pitchFamily="34" charset="-120"/>
              </a:rPr>
              <a:t>THE RETURN</a:t>
            </a:r>
            <a:endParaRPr lang="en-US" sz="1200" dirty="0"/>
          </a:p>
        </p:txBody>
      </p:sp>
      <p:sp>
        <p:nvSpPr>
          <p:cNvPr id="20" name="Text 17"/>
          <p:cNvSpPr txBox="1"/>
          <p:nvPr/>
        </p:nvSpPr>
        <p:spPr>
          <a:xfrm>
            <a:off x="8076895" y="2606040"/>
            <a:ext cx="3383280" cy="1280160"/>
          </a:xfrm>
          <a:prstGeom prst="rect">
            <a:avLst/>
          </a:prstGeom>
          <a:noFill/>
          <a:ln/>
        </p:spPr>
        <p:txBody>
          <a:bodyPr wrap="square" lIns="0" tIns="0" rIns="0" bIns="0" rtlCol="0" anchor="t"/>
          <a:lstStyle/>
          <a:p>
            <a:pPr algn="r" indent="0" marL="0">
              <a:lnSpc>
                <a:spcPct val="105000"/>
              </a:lnSpc>
              <a:buNone/>
            </a:pPr>
            <a:r>
              <a:rPr lang="en-US" sz="1300" dirty="0">
                <a:solidFill>
                  <a:srgbClr val="1A1A1A"/>
                </a:solidFill>
                <a:latin typeface="Inter" pitchFamily="34" charset="0"/>
                <a:ea typeface="Inter" pitchFamily="34" charset="-122"/>
                <a:cs typeface="Inter" pitchFamily="34" charset="-120"/>
              </a:rPr>
              <a:t>TikTok came back by </a:t>
            </a:r>
            <a:r>
              <a:rPr lang="en-US" sz="1300" b="1" dirty="0">
                <a:solidFill>
                  <a:srgbClr val="1A1A1A"/>
                </a:solidFill>
                <a:latin typeface="Inter" pitchFamily="34" charset="0"/>
                <a:ea typeface="Inter" pitchFamily="34" charset="-122"/>
                <a:cs typeface="Inter" pitchFamily="34" charset="-120"/>
              </a:rPr>
              <a:t>buying control of Tokopedia</a:t>
            </a:r>
            <a:r>
              <a:rPr lang="en-US" sz="1300" dirty="0">
                <a:solidFill>
                  <a:srgbClr val="1A1A1A"/>
                </a:solidFill>
                <a:latin typeface="Inter" pitchFamily="34" charset="0"/>
                <a:ea typeface="Inter" pitchFamily="34" charset="-122"/>
                <a:cs typeface="Inter" pitchFamily="34" charset="-120"/>
              </a:rPr>
              <a:t>, one of Indonesia’s largest marketplaces, and folding its shop into it.</a:t>
            </a:r>
            <a:endParaRPr lang="en-US" sz="1300" dirty="0"/>
          </a:p>
        </p:txBody>
      </p:sp>
      <p:sp>
        <p:nvSpPr>
          <p:cNvPr id="21" name="Shape 18"/>
          <p:cNvSpPr/>
          <p:nvPr/>
        </p:nvSpPr>
        <p:spPr>
          <a:xfrm>
            <a:off x="548640" y="4407408"/>
            <a:ext cx="11091672" cy="0"/>
          </a:xfrm>
          <a:prstGeom prst="line">
            <a:avLst/>
          </a:prstGeom>
          <a:noFill/>
          <a:ln w="9525">
            <a:solidFill>
              <a:srgbClr val="B9B5AE"/>
            </a:solidFill>
            <a:prstDash val="solid"/>
          </a:ln>
        </p:spPr>
      </p:sp>
      <p:sp>
        <p:nvSpPr>
          <p:cNvPr id="22" name="Text 19"/>
          <p:cNvSpPr txBox="1"/>
          <p:nvPr/>
        </p:nvSpPr>
        <p:spPr>
          <a:xfrm>
            <a:off x="548640" y="4608576"/>
            <a:ext cx="3657600" cy="228600"/>
          </a:xfrm>
          <a:prstGeom prst="rect">
            <a:avLst/>
          </a:prstGeom>
          <a:noFill/>
          <a:ln/>
        </p:spPr>
        <p:txBody>
          <a:bodyPr wrap="square" lIns="0" tIns="0" rIns="0" bIns="0" rtlCol="0" anchor="t"/>
          <a:lstStyle/>
          <a:p>
            <a:pPr algn="l" indent="0" marL="0">
              <a:lnSpc>
                <a:spcPct val="105000"/>
              </a:lnSpc>
              <a:buNone/>
            </a:pPr>
            <a:r>
              <a:rPr lang="en-US" sz="1200" b="1" spc="80" kern="0" dirty="0">
                <a:solidFill>
                  <a:srgbClr val="1A1A1A"/>
                </a:solidFill>
                <a:latin typeface="Montserrat" pitchFamily="34" charset="0"/>
                <a:ea typeface="Montserrat" pitchFamily="34" charset="-122"/>
                <a:cs typeface="Montserrat" pitchFamily="34" charset="-120"/>
              </a:rPr>
              <a:t>THE QUESTION</a:t>
            </a:r>
            <a:endParaRPr lang="en-US" sz="1200" dirty="0"/>
          </a:p>
        </p:txBody>
      </p:sp>
      <p:sp>
        <p:nvSpPr>
          <p:cNvPr id="23" name="Text 20"/>
          <p:cNvSpPr txBox="1"/>
          <p:nvPr/>
        </p:nvSpPr>
        <p:spPr>
          <a:xfrm>
            <a:off x="548640" y="4882896"/>
            <a:ext cx="11091672" cy="365760"/>
          </a:xfrm>
          <a:prstGeom prst="rect">
            <a:avLst/>
          </a:prstGeom>
          <a:noFill/>
          <a:ln/>
        </p:spPr>
        <p:txBody>
          <a:bodyPr wrap="square" lIns="0" tIns="0" rIns="0" bIns="0" rtlCol="0" anchor="t"/>
          <a:lstStyle/>
          <a:p>
            <a:pPr algn="l" indent="0" marL="0">
              <a:lnSpc>
                <a:spcPct val="105000"/>
              </a:lnSpc>
              <a:buNone/>
            </a:pPr>
            <a:r>
              <a:rPr lang="en-US" sz="1700" dirty="0">
                <a:solidFill>
                  <a:srgbClr val="1A1A1A"/>
                </a:solidFill>
                <a:latin typeface="Montserrat SemiBold" pitchFamily="34" charset="0"/>
                <a:ea typeface="Montserrat SemiBold" pitchFamily="34" charset="-122"/>
                <a:cs typeface="Montserrat SemiBold" pitchFamily="34" charset="-120"/>
              </a:rPr>
              <a:t>How much commerce had actually moved online? It depends on which number you read.</a:t>
            </a:r>
            <a:endParaRPr lang="en-US" sz="1700" dirty="0"/>
          </a:p>
        </p:txBody>
      </p:sp>
      <p:sp>
        <p:nvSpPr>
          <p:cNvPr id="24" name="Text 21"/>
          <p:cNvSpPr txBox="1"/>
          <p:nvPr/>
        </p:nvSpPr>
        <p:spPr>
          <a:xfrm>
            <a:off x="548640" y="5303520"/>
            <a:ext cx="11091672" cy="320040"/>
          </a:xfrm>
          <a:prstGeom prst="rect">
            <a:avLst/>
          </a:prstGeom>
          <a:noFill/>
          <a:ln/>
        </p:spPr>
        <p:txBody>
          <a:bodyPr wrap="square" lIns="0" tIns="0" rIns="0" bIns="0" rtlCol="0" anchor="t"/>
          <a:lstStyle/>
          <a:p>
            <a:pPr algn="l" indent="0" marL="0">
              <a:lnSpc>
                <a:spcPct val="105000"/>
              </a:lnSpc>
              <a:buNone/>
            </a:pPr>
            <a:r>
              <a:rPr lang="en-US" sz="1300" dirty="0">
                <a:solidFill>
                  <a:srgbClr val="5F5C57"/>
                </a:solidFill>
                <a:latin typeface="Inter" pitchFamily="34" charset="0"/>
                <a:ea typeface="Inter" pitchFamily="34" charset="-122"/>
                <a:cs typeface="Inter" pitchFamily="34" charset="-120"/>
              </a:rPr>
              <a:t>The platforms’ accounts, their transaction figures and the national statistics </a:t>
            </a:r>
            <a:r>
              <a:rPr lang="en-US" sz="1300" b="1" dirty="0">
                <a:solidFill>
                  <a:srgbClr val="5F5C57"/>
                </a:solidFill>
                <a:latin typeface="Inter" pitchFamily="34" charset="0"/>
                <a:ea typeface="Inter" pitchFamily="34" charset="-122"/>
                <a:cs typeface="Inter" pitchFamily="34" charset="-120"/>
              </a:rPr>
              <a:t>each saw a different part of the same shift</a:t>
            </a:r>
            <a:r>
              <a:rPr lang="en-US" sz="1300" dirty="0">
                <a:solidFill>
                  <a:srgbClr val="5F5C57"/>
                </a:solidFill>
                <a:latin typeface="Inter" pitchFamily="34" charset="0"/>
                <a:ea typeface="Inter" pitchFamily="34" charset="-122"/>
                <a:cs typeface="Inter" pitchFamily="34" charset="-120"/>
              </a:rPr>
              <a:t>.</a:t>
            </a:r>
            <a:endParaRPr lang="en-US" sz="1300" dirty="0"/>
          </a:p>
        </p:txBody>
      </p:sp>
      <p:sp>
        <p:nvSpPr>
          <p:cNvPr id="25" name="Text 22"/>
          <p:cNvSpPr txBox="1"/>
          <p:nvPr/>
        </p:nvSpPr>
        <p:spPr>
          <a:xfrm>
            <a:off x="548640" y="6035040"/>
            <a:ext cx="11091672" cy="274320"/>
          </a:xfrm>
          <a:prstGeom prst="rect">
            <a:avLst/>
          </a:prstGeom>
          <a:noFill/>
          <a:ln/>
        </p:spPr>
        <p:txBody>
          <a:bodyPr wrap="square" lIns="0" tIns="0" rIns="0" bIns="0" rtlCol="0" anchor="t"/>
          <a:lstStyle/>
          <a:p>
            <a:pPr algn="l" indent="0" marL="0">
              <a:lnSpc>
                <a:spcPct val="105000"/>
              </a:lnSpc>
              <a:buNone/>
            </a:pPr>
            <a:r>
              <a:rPr lang="en-US" sz="950" i="1" dirty="0">
                <a:solidFill>
                  <a:srgbClr val="5F5C57"/>
                </a:solidFill>
                <a:latin typeface="Inter" pitchFamily="34" charset="0"/>
                <a:ea typeface="Inter" pitchFamily="34" charset="-122"/>
                <a:cs typeface="Inter" pitchFamily="34" charset="-120"/>
              </a:rPr>
              <a:t>Sources: Trade Minister Regulation 31/2023; ABC News (5 Oct 2023); Al Jazeera (23 Oct 2023); CNN (11 Dec 2023); Nikkei Asia. Deal completed 31 January 2024.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 THE PROBLEM</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4</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One Economy, Several Numbers</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“The numbers are built to differ in size. The question is whether they tell the same growth story.”</a:t>
            </a:r>
            <a:endParaRPr lang="en-US" sz="1500" dirty="0"/>
          </a:p>
        </p:txBody>
      </p:sp>
      <p:sp>
        <p:nvSpPr>
          <p:cNvPr id="8" name="Text 5"/>
          <p:cNvSpPr txBox="1"/>
          <p:nvPr/>
        </p:nvSpPr>
        <p:spPr>
          <a:xfrm>
            <a:off x="548640" y="1344168"/>
            <a:ext cx="5349240"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Different numbers, different parts</a:t>
            </a:r>
            <a:endParaRPr lang="en-US" sz="1450" dirty="0"/>
          </a:p>
        </p:txBody>
      </p:sp>
      <p:sp>
        <p:nvSpPr>
          <p:cNvPr id="9" name="Shape 6"/>
          <p:cNvSpPr/>
          <p:nvPr/>
        </p:nvSpPr>
        <p:spPr>
          <a:xfrm>
            <a:off x="548640" y="1645920"/>
            <a:ext cx="5349240" cy="0"/>
          </a:xfrm>
          <a:prstGeom prst="line">
            <a:avLst/>
          </a:prstGeom>
          <a:noFill/>
          <a:ln w="9525">
            <a:solidFill>
              <a:srgbClr val="B9B5AE"/>
            </a:solidFill>
            <a:prstDash val="solid"/>
          </a:ln>
        </p:spPr>
      </p:sp>
      <p:sp>
        <p:nvSpPr>
          <p:cNvPr id="10" name="Text 7"/>
          <p:cNvSpPr txBox="1"/>
          <p:nvPr/>
        </p:nvSpPr>
        <p:spPr>
          <a:xfrm>
            <a:off x="548640" y="1755648"/>
            <a:ext cx="5349240" cy="4389120"/>
          </a:xfrm>
          <a:prstGeom prst="rect">
            <a:avLst/>
          </a:prstGeom>
          <a:noFill/>
          <a:ln/>
        </p:spPr>
        <p:txBody>
          <a:bodyPr wrap="square" lIns="0" tIns="0" rIns="0" bIns="0" rtlCol="0" anchor="t"/>
          <a:lstStyle/>
          <a:p>
            <a:pPr indent="0" marL="0">
              <a:lnSpc>
                <a:spcPct val="105000"/>
              </a:lnSpc>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TRANSACTION VALUE (GMV / GTV):</a:t>
            </a:r>
            <a:endParaRPr lang="en-US" sz="1200" dirty="0"/>
          </a:p>
          <a:p>
            <a:pPr indent="0" marL="0">
              <a:lnSpc>
                <a:spcPct val="105000"/>
              </a:lnSpc>
              <a:spcBef>
                <a:spcPts val="200"/>
              </a:spcBef>
              <a:spcAft>
                <a:spcPts val="100"/>
              </a:spcAft>
              <a:buNone/>
            </a:pPr>
            <a:r>
              <a:rPr lang="en-US" sz="1300" b="1" dirty="0">
                <a:solidFill>
                  <a:srgbClr val="1A1A1A"/>
                </a:solidFill>
                <a:latin typeface="Inter" pitchFamily="34" charset="0"/>
                <a:ea typeface="Inter" pitchFamily="34" charset="-122"/>
                <a:cs typeface="Inter" pitchFamily="34" charset="-120"/>
              </a:rPr>
              <a:t>All sales</a:t>
            </a:r>
            <a:r>
              <a:rPr lang="en-US" sz="1300" dirty="0">
                <a:solidFill>
                  <a:srgbClr val="1A1A1A"/>
                </a:solidFill>
                <a:latin typeface="Inter" pitchFamily="34" charset="0"/>
                <a:ea typeface="Inter" pitchFamily="34" charset="-122"/>
                <a:cs typeface="Inter" pitchFamily="34" charset="-120"/>
              </a:rPr>
              <a:t> passing through a platform, within its stated reporting scope.</a:t>
            </a:r>
            <a:endParaRPr lang="en-US" sz="1200" dirty="0"/>
          </a:p>
          <a:p>
            <a:pPr indent="0" marL="0">
              <a:lnSpc>
                <a:spcPct val="105000"/>
              </a:lnSpc>
              <a:spcBef>
                <a:spcPts val="1100"/>
              </a:spcBef>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PLATFORM REVENUE:</a:t>
            </a:r>
            <a:endParaRPr lang="en-US" sz="1200" dirty="0"/>
          </a:p>
          <a:p>
            <a:pPr indent="0" marL="0">
              <a:lnSpc>
                <a:spcPct val="105000"/>
              </a:lnSpc>
              <a:spcBef>
                <a:spcPts val="200"/>
              </a:spcBef>
              <a:spcAft>
                <a:spcPts val="100"/>
              </a:spcAft>
              <a:buNone/>
            </a:pPr>
            <a:r>
              <a:rPr lang="en-US" sz="1300" dirty="0">
                <a:solidFill>
                  <a:srgbClr val="1A1A1A"/>
                </a:solidFill>
                <a:latin typeface="Inter" pitchFamily="34" charset="0"/>
                <a:ea typeface="Inter" pitchFamily="34" charset="-122"/>
                <a:cs typeface="Inter" pitchFamily="34" charset="-120"/>
              </a:rPr>
              <a:t>Revenue recognized by the platform under its reporting model. May include fees, commissions and other monetization, depending on the business model and reporting treatment. </a:t>
            </a:r>
            <a:r>
              <a:rPr lang="en-US" sz="1300" b="1" dirty="0">
                <a:solidFill>
                  <a:srgbClr val="1A1A1A"/>
                </a:solidFill>
                <a:latin typeface="Inter" pitchFamily="34" charset="0"/>
                <a:ea typeface="Inter" pitchFamily="34" charset="-122"/>
                <a:cs typeface="Inter" pitchFamily="34" charset="-120"/>
              </a:rPr>
              <a:t>Investors value platforms largely on this.</a:t>
            </a:r>
            <a:endParaRPr lang="en-US" sz="1200" dirty="0"/>
          </a:p>
          <a:p>
            <a:pPr indent="0" marL="0">
              <a:lnSpc>
                <a:spcPct val="105000"/>
              </a:lnSpc>
              <a:spcBef>
                <a:spcPts val="1100"/>
              </a:spcBef>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NATIONAL STATISTICS (BPS):</a:t>
            </a:r>
            <a:endParaRPr lang="en-US" sz="1200" dirty="0"/>
          </a:p>
          <a:p>
            <a:pPr indent="0" marL="0">
              <a:lnSpc>
                <a:spcPct val="105000"/>
              </a:lnSpc>
              <a:spcBef>
                <a:spcPts val="200"/>
              </a:spcBef>
              <a:spcAft>
                <a:spcPts val="100"/>
              </a:spcAft>
              <a:buNone/>
            </a:pPr>
            <a:r>
              <a:rPr lang="en-US" sz="1300" dirty="0">
                <a:solidFill>
                  <a:srgbClr val="1A1A1A"/>
                </a:solidFill>
                <a:latin typeface="Inter" pitchFamily="34" charset="0"/>
                <a:ea typeface="Inter" pitchFamily="34" charset="-122"/>
                <a:cs typeface="Inter" pitchFamily="34" charset="-120"/>
              </a:rPr>
              <a:t>What surveyed businesses report selling online, by channel, including </a:t>
            </a:r>
            <a:r>
              <a:rPr lang="en-US" sz="1300" b="1" dirty="0">
                <a:solidFill>
                  <a:srgbClr val="1A1A1A"/>
                </a:solidFill>
                <a:latin typeface="Inter" pitchFamily="34" charset="0"/>
                <a:ea typeface="Inter" pitchFamily="34" charset="-122"/>
                <a:cs typeface="Inter" pitchFamily="34" charset="-120"/>
              </a:rPr>
              <a:t>social media and messaging</a:t>
            </a:r>
            <a:r>
              <a:rPr lang="en-US" sz="1300" dirty="0">
                <a:solidFill>
                  <a:srgbClr val="1A1A1A"/>
                </a:solidFill>
                <a:latin typeface="Inter" pitchFamily="34" charset="0"/>
                <a:ea typeface="Inter" pitchFamily="34" charset="-122"/>
                <a:cs typeface="Inter" pitchFamily="34" charset="-120"/>
              </a:rPr>
              <a:t>.</a:t>
            </a:r>
            <a:endParaRPr lang="en-US" sz="1200" dirty="0"/>
          </a:p>
          <a:p>
            <a:pPr indent="0" marL="0">
              <a:lnSpc>
                <a:spcPct val="105000"/>
              </a:lnSpc>
              <a:spcBef>
                <a:spcPts val="1100"/>
              </a:spcBef>
              <a:spcAft>
                <a:spcPts val="100"/>
              </a:spcAft>
              <a:buNone/>
            </a:pPr>
            <a:r>
              <a:rPr lang="en-US" sz="1300" dirty="0">
                <a:solidFill>
                  <a:srgbClr val="1A1A1A"/>
                </a:solidFill>
                <a:latin typeface="Inter" pitchFamily="34" charset="0"/>
                <a:ea typeface="Inter" pitchFamily="34" charset="-122"/>
                <a:cs typeface="Inter" pitchFamily="34" charset="-120"/>
              </a:rPr>
              <a:t>A large gap in </a:t>
            </a:r>
            <a:r>
              <a:rPr lang="en-US" sz="1300" i="1" dirty="0">
                <a:solidFill>
                  <a:srgbClr val="1A1A1A"/>
                </a:solidFill>
                <a:latin typeface="Inter" pitchFamily="34" charset="0"/>
                <a:ea typeface="Inter" pitchFamily="34" charset="-122"/>
                <a:cs typeface="Inter" pitchFamily="34" charset="-120"/>
              </a:rPr>
              <a:t>size</a:t>
            </a:r>
            <a:r>
              <a:rPr lang="en-US" sz="1300" dirty="0">
                <a:solidFill>
                  <a:srgbClr val="1A1A1A"/>
                </a:solidFill>
                <a:latin typeface="Inter" pitchFamily="34" charset="0"/>
                <a:ea typeface="Inter" pitchFamily="34" charset="-122"/>
                <a:cs typeface="Inter" pitchFamily="34" charset="-120"/>
              </a:rPr>
              <a:t> is </a:t>
            </a:r>
            <a:r>
              <a:rPr lang="en-US" sz="1300" b="1" dirty="0">
                <a:solidFill>
                  <a:srgbClr val="1A1A1A"/>
                </a:solidFill>
                <a:latin typeface="Inter" pitchFamily="34" charset="0"/>
                <a:ea typeface="Inter" pitchFamily="34" charset="-122"/>
                <a:cs typeface="Inter" pitchFamily="34" charset="-120"/>
              </a:rPr>
              <a:t>normal</a:t>
            </a:r>
            <a:r>
              <a:rPr lang="en-US" sz="1300" dirty="0">
                <a:solidFill>
                  <a:srgbClr val="1A1A1A"/>
                </a:solidFill>
                <a:latin typeface="Inter" pitchFamily="34" charset="0"/>
                <a:ea typeface="Inter" pitchFamily="34" charset="-122"/>
                <a:cs typeface="Inter" pitchFamily="34" charset="-120"/>
              </a:rPr>
              <a:t>: a platform may recognize only a fraction of transaction value as revenue. </a:t>
            </a:r>
            <a:r>
              <a:rPr lang="en-US" sz="1300" b="1" dirty="0">
                <a:solidFill>
                  <a:srgbClr val="1A1A1A"/>
                </a:solidFill>
                <a:latin typeface="Inter" pitchFamily="34" charset="0"/>
                <a:ea typeface="Inter" pitchFamily="34" charset="-122"/>
                <a:cs typeface="Inter" pitchFamily="34" charset="-120"/>
              </a:rPr>
              <a:t>None of these numbers is wrong.</a:t>
            </a:r>
            <a:endParaRPr lang="en-US" sz="1200" dirty="0"/>
          </a:p>
        </p:txBody>
      </p:sp>
      <p:sp>
        <p:nvSpPr>
          <p:cNvPr id="11" name="Shape 8"/>
          <p:cNvSpPr/>
          <p:nvPr/>
        </p:nvSpPr>
        <p:spPr>
          <a:xfrm>
            <a:off x="6217920" y="1344168"/>
            <a:ext cx="0" cy="4572000"/>
          </a:xfrm>
          <a:prstGeom prst="line">
            <a:avLst/>
          </a:prstGeom>
          <a:noFill/>
          <a:ln w="9525">
            <a:solidFill>
              <a:srgbClr val="B9B5AE"/>
            </a:solidFill>
            <a:prstDash val="solid"/>
          </a:ln>
        </p:spPr>
      </p:sp>
      <p:sp>
        <p:nvSpPr>
          <p:cNvPr id="12" name="Text 9"/>
          <p:cNvSpPr txBox="1"/>
          <p:nvPr/>
        </p:nvSpPr>
        <p:spPr>
          <a:xfrm>
            <a:off x="6537960" y="1344168"/>
            <a:ext cx="5102352"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Where they can part: growth</a:t>
            </a:r>
            <a:endParaRPr lang="en-US" sz="1450" dirty="0"/>
          </a:p>
        </p:txBody>
      </p:sp>
      <p:sp>
        <p:nvSpPr>
          <p:cNvPr id="13" name="Shape 10"/>
          <p:cNvSpPr/>
          <p:nvPr/>
        </p:nvSpPr>
        <p:spPr>
          <a:xfrm>
            <a:off x="6537960" y="1645920"/>
            <a:ext cx="5102352" cy="0"/>
          </a:xfrm>
          <a:prstGeom prst="line">
            <a:avLst/>
          </a:prstGeom>
          <a:noFill/>
          <a:ln w="9525">
            <a:solidFill>
              <a:srgbClr val="B9B5AE"/>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37960" y="1801368"/>
          <a:ext cx="9144000" cy="914400"/>
        </p:xfrm>
        <a:graphic>
          <a:graphicData uri="http://schemas.openxmlformats.org/drawingml/2006/table">
            <a:tbl>
              <a:tblPr/>
              <a:tblGrid>
                <a:gridCol w="1234440"/>
                <a:gridCol w="1005840"/>
                <a:gridCol w="1691640"/>
                <a:gridCol w="1170432"/>
              </a:tblGrid>
              <a:tr h="384048">
                <a:tc>
                  <a:txBody>
                    <a:bodyPr/>
                    <a:lstStyle/>
                    <a:p>
                      <a:pPr algn="l" indent="0" marL="0">
                        <a:buNone/>
                      </a:pPr>
                      <a:r>
                        <a:rPr lang="en-US" sz="1200" b="1" dirty="0">
                          <a:solidFill>
                            <a:srgbClr val="1A1A1A"/>
                          </a:solidFill>
                          <a:latin typeface="Inter" pitchFamily="34" charset="0"/>
                          <a:ea typeface="Inter" pitchFamily="34" charset="-122"/>
                          <a:cs typeface="Inter" pitchFamily="34" charset="-120"/>
                        </a:rPr>
                        <a:t>Platform</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1A1A"/>
                          </a:solidFill>
                          <a:latin typeface="Inter" pitchFamily="34" charset="0"/>
                          <a:ea typeface="Inter" pitchFamily="34" charset="-122"/>
                          <a:cs typeface="Inter" pitchFamily="34" charset="-120"/>
                        </a:rPr>
                        <a:t>Year</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1A"/>
                          </a:solidFill>
                          <a:latin typeface="Inter" pitchFamily="34" charset="0"/>
                          <a:ea typeface="Inter" pitchFamily="34" charset="-122"/>
                          <a:cs typeface="Inter" pitchFamily="34" charset="-120"/>
                        </a:rPr>
                        <a:t>Transaction value</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1A"/>
                          </a:solidFill>
                          <a:latin typeface="Inter" pitchFamily="34" charset="0"/>
                          <a:ea typeface="Inter" pitchFamily="34" charset="-122"/>
                          <a:cs typeface="Inter" pitchFamily="34" charset="-120"/>
                        </a:rPr>
                        <a:t>Revenue</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A1A1A"/>
                          </a:solidFill>
                          <a:latin typeface="Inter" pitchFamily="34" charset="0"/>
                          <a:ea typeface="Inter" pitchFamily="34" charset="-122"/>
                          <a:cs typeface="Inter" pitchFamily="34" charset="-120"/>
                        </a:rPr>
                        <a:t>Etsy</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1A"/>
                          </a:solidFill>
                          <a:latin typeface="Inter" pitchFamily="34" charset="0"/>
                          <a:ea typeface="Inter" pitchFamily="34" charset="-122"/>
                          <a:cs typeface="Inter" pitchFamily="34" charset="-120"/>
                        </a:rPr>
                        <a:t>2021–22</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33A2C"/>
                          </a:solidFill>
                          <a:latin typeface="Inter" pitchFamily="34" charset="0"/>
                          <a:ea typeface="Inter" pitchFamily="34" charset="-122"/>
                          <a:cs typeface="Inter" pitchFamily="34" charset="-120"/>
                        </a:rPr>
                        <a:t>−1.3%</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4E5F"/>
                          </a:solidFill>
                          <a:latin typeface="Inter" pitchFamily="34" charset="0"/>
                          <a:ea typeface="Inter" pitchFamily="34" charset="-122"/>
                          <a:cs typeface="Inter" pitchFamily="34" charset="-120"/>
                        </a:rPr>
                        <a:t>+10.2%</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A1A1A"/>
                          </a:solidFill>
                          <a:latin typeface="Inter" pitchFamily="34" charset="0"/>
                          <a:ea typeface="Inter" pitchFamily="34" charset="-122"/>
                          <a:cs typeface="Inter" pitchFamily="34" charset="-120"/>
                        </a:rPr>
                        <a:t>eBay</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1A"/>
                          </a:solidFill>
                          <a:latin typeface="Inter" pitchFamily="34" charset="0"/>
                          <a:ea typeface="Inter" pitchFamily="34" charset="-122"/>
                          <a:cs typeface="Inter" pitchFamily="34" charset="-120"/>
                        </a:rPr>
                        <a:t>2022–23</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33A2C"/>
                          </a:solidFill>
                          <a:latin typeface="Inter" pitchFamily="34" charset="0"/>
                          <a:ea typeface="Inter" pitchFamily="34" charset="-122"/>
                          <a:cs typeface="Inter" pitchFamily="34" charset="-120"/>
                        </a:rPr>
                        <a:t>−0.9%</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4E5F"/>
                          </a:solidFill>
                          <a:latin typeface="Inter" pitchFamily="34" charset="0"/>
                          <a:ea typeface="Inter" pitchFamily="34" charset="-122"/>
                          <a:cs typeface="Inter" pitchFamily="34" charset="-120"/>
                        </a:rPr>
                        <a:t>+3.2%</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A1A1A"/>
                          </a:solidFill>
                          <a:latin typeface="Inter" pitchFamily="34" charset="0"/>
                          <a:ea typeface="Inter" pitchFamily="34" charset="-122"/>
                          <a:cs typeface="Inter" pitchFamily="34" charset="-120"/>
                        </a:rPr>
                        <a:t>Zalando</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1A"/>
                          </a:solidFill>
                          <a:latin typeface="Inter" pitchFamily="34" charset="0"/>
                          <a:ea typeface="Inter" pitchFamily="34" charset="-122"/>
                          <a:cs typeface="Inter" pitchFamily="34" charset="-120"/>
                        </a:rPr>
                        <a:t>2021–22</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4E5F"/>
                          </a:solidFill>
                          <a:latin typeface="Inter" pitchFamily="34" charset="0"/>
                          <a:ea typeface="Inter" pitchFamily="34" charset="-122"/>
                          <a:cs typeface="Inter" pitchFamily="34" charset="-120"/>
                        </a:rPr>
                        <a:t>+3.2%</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33A2C"/>
                          </a:solidFill>
                          <a:latin typeface="Inter" pitchFamily="34" charset="0"/>
                          <a:ea typeface="Inter" pitchFamily="34" charset="-122"/>
                          <a:cs typeface="Inter" pitchFamily="34" charset="-120"/>
                        </a:rPr>
                        <a:t>−0.1%</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6537960" y="3538728"/>
            <a:ext cx="5102352" cy="2560320"/>
          </a:xfrm>
          <a:prstGeom prst="rect">
            <a:avLst/>
          </a:prstGeom>
          <a:noFill/>
          <a:ln/>
        </p:spPr>
        <p:txBody>
          <a:bodyPr wrap="square" lIns="0" tIns="0" rIns="0" bIns="0" rtlCol="0" anchor="t"/>
          <a:lstStyle/>
          <a:p>
            <a:pPr indent="0" marL="0">
              <a:lnSpc>
                <a:spcPct val="105000"/>
              </a:lnSpc>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ACROSS 8 LISTED PLATFORMS ABROAD:</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Revenue grew faster in </a:t>
            </a:r>
            <a:r>
              <a:rPr lang="en-US" sz="1300" b="1" dirty="0">
                <a:solidFill>
                  <a:srgbClr val="1A1A1A"/>
                </a:solidFill>
                <a:latin typeface="Inter" pitchFamily="34" charset="0"/>
                <a:ea typeface="Inter" pitchFamily="34" charset="-122"/>
                <a:cs typeface="Inter" pitchFamily="34" charset="-120"/>
              </a:rPr>
              <a:t>22</a:t>
            </a:r>
            <a:r>
              <a:rPr lang="en-US" sz="1300" dirty="0">
                <a:solidFill>
                  <a:srgbClr val="1A1A1A"/>
                </a:solidFill>
                <a:latin typeface="Inter" pitchFamily="34" charset="0"/>
                <a:ea typeface="Inter" pitchFamily="34" charset="-122"/>
                <a:cs typeface="Inter" pitchFamily="34" charset="-120"/>
              </a:rPr>
              <a:t> of 29 comparisons</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The two moved in opposite directions in </a:t>
            </a:r>
            <a:r>
              <a:rPr lang="en-US" sz="1300" b="1" dirty="0">
                <a:solidFill>
                  <a:srgbClr val="1A1A1A"/>
                </a:solidFill>
                <a:latin typeface="Inter" pitchFamily="34" charset="0"/>
                <a:ea typeface="Inter" pitchFamily="34" charset="-122"/>
                <a:cs typeface="Inter" pitchFamily="34" charset="-120"/>
              </a:rPr>
              <a:t>4</a:t>
            </a:r>
            <a:endParaRPr lang="en-US" sz="1200" dirty="0"/>
          </a:p>
          <a:p>
            <a:pPr indent="0" marL="0">
              <a:lnSpc>
                <a:spcPct val="105000"/>
              </a:lnSpc>
              <a:spcBef>
                <a:spcPts val="1100"/>
              </a:spcBef>
              <a:spcAft>
                <a:spcPts val="100"/>
              </a:spcAft>
              <a:buNone/>
            </a:pPr>
            <a:r>
              <a:rPr lang="en-US" sz="1300" dirty="0">
                <a:solidFill>
                  <a:srgbClr val="1A1A1A"/>
                </a:solidFill>
                <a:latin typeface="Inter" pitchFamily="34" charset="0"/>
                <a:ea typeface="Inter" pitchFamily="34" charset="-122"/>
                <a:cs typeface="Inter" pitchFamily="34" charset="-120"/>
              </a:rPr>
              <a:t>Growth stories can </a:t>
            </a:r>
            <a:r>
              <a:rPr lang="en-US" sz="1300" b="1" dirty="0">
                <a:solidFill>
                  <a:srgbClr val="1A1A1A"/>
                </a:solidFill>
                <a:latin typeface="Inter" pitchFamily="34" charset="0"/>
                <a:ea typeface="Inter" pitchFamily="34" charset="-122"/>
                <a:cs typeface="Inter" pitchFamily="34" charset="-120"/>
              </a:rPr>
              <a:t>split</a:t>
            </a:r>
            <a:r>
              <a:rPr lang="en-US" sz="1300" dirty="0">
                <a:solidFill>
                  <a:srgbClr val="1A1A1A"/>
                </a:solidFill>
                <a:latin typeface="Inter" pitchFamily="34" charset="0"/>
                <a:ea typeface="Inter" pitchFamily="34" charset="-122"/>
                <a:cs typeface="Inter" pitchFamily="34" charset="-120"/>
              </a:rPr>
              <a:t> even at platforms everyone knows. Abroad, the drift is </a:t>
            </a:r>
            <a:r>
              <a:rPr lang="en-US" sz="1300" b="1" dirty="0">
                <a:solidFill>
                  <a:srgbClr val="1A1A1A"/>
                </a:solidFill>
                <a:latin typeface="Inter" pitchFamily="34" charset="0"/>
                <a:ea typeface="Inter" pitchFamily="34" charset="-122"/>
                <a:cs typeface="Inter" pitchFamily="34" charset="-120"/>
              </a:rPr>
              <a:t>usually mild</a:t>
            </a:r>
            <a:r>
              <a:rPr lang="en-US" sz="1300" dirty="0">
                <a:solidFill>
                  <a:srgbClr val="1A1A1A"/>
                </a:solidFill>
                <a:latin typeface="Inter" pitchFamily="34" charset="0"/>
                <a:ea typeface="Inter" pitchFamily="34" charset="-122"/>
                <a:cs typeface="Inter" pitchFamily="34" charset="-120"/>
              </a:rPr>
              <a:t>.</a:t>
            </a:r>
            <a:endParaRPr lang="en-US" sz="1200" dirty="0"/>
          </a:p>
        </p:txBody>
      </p:sp>
      <p:sp>
        <p:nvSpPr>
          <p:cNvPr id="16" name="Text 12"/>
          <p:cNvSpPr txBox="1"/>
          <p:nvPr/>
        </p:nvSpPr>
        <p:spPr>
          <a:xfrm>
            <a:off x="548640" y="6035040"/>
            <a:ext cx="11091672" cy="274320"/>
          </a:xfrm>
          <a:prstGeom prst="rect">
            <a:avLst/>
          </a:prstGeom>
          <a:noFill/>
          <a:ln/>
        </p:spPr>
        <p:txBody>
          <a:bodyPr wrap="square" lIns="0" tIns="0" rIns="0" bIns="0" rtlCol="0" anchor="t"/>
          <a:lstStyle/>
          <a:p>
            <a:pPr algn="l" indent="0" marL="0">
              <a:lnSpc>
                <a:spcPct val="105000"/>
              </a:lnSpc>
              <a:buNone/>
            </a:pPr>
            <a:r>
              <a:rPr lang="en-US" sz="950" i="1" dirty="0">
                <a:solidFill>
                  <a:srgbClr val="5F5C57"/>
                </a:solidFill>
                <a:latin typeface="Inter" pitchFamily="34" charset="0"/>
                <a:ea typeface="Inter" pitchFamily="34" charset="-122"/>
                <a:cs typeface="Inter" pitchFamily="34" charset="-120"/>
              </a:rPr>
              <a:t>Benchmark: eBay, Etsy, Jumia, Mercado Libre, Rakuten, Sea, Shopify, Zalando · issuer filings, 2017–2025 · comparisons unaffected by acquisitions or scope changes.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 THE PROBLEM</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5</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Why Indonesia, and Why Tokopedia</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“Everywhere the numbers drift. In Indonesia they split, and one company shows it clearly.”</a:t>
            </a:r>
            <a:endParaRPr lang="en-US" sz="1500" dirty="0"/>
          </a:p>
        </p:txBody>
      </p:sp>
      <p:sp>
        <p:nvSpPr>
          <p:cNvPr id="8" name="Text 5"/>
          <p:cNvSpPr txBox="1"/>
          <p:nvPr/>
        </p:nvSpPr>
        <p:spPr>
          <a:xfrm>
            <a:off x="548640" y="1344168"/>
            <a:ext cx="5257800"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Why Indonesia</a:t>
            </a:r>
            <a:endParaRPr lang="en-US" sz="1450" dirty="0"/>
          </a:p>
        </p:txBody>
      </p:sp>
      <p:sp>
        <p:nvSpPr>
          <p:cNvPr id="9" name="Shape 6"/>
          <p:cNvSpPr/>
          <p:nvPr/>
        </p:nvSpPr>
        <p:spPr>
          <a:xfrm>
            <a:off x="548640" y="1645920"/>
            <a:ext cx="5257800" cy="0"/>
          </a:xfrm>
          <a:prstGeom prst="line">
            <a:avLst/>
          </a:prstGeom>
          <a:noFill/>
          <a:ln w="9525">
            <a:solidFill>
              <a:srgbClr val="B9B5AE"/>
            </a:solidFill>
            <a:prstDash val="solid"/>
          </a:ln>
        </p:spPr>
      </p:sp>
      <p:sp>
        <p:nvSpPr>
          <p:cNvPr id="10" name="Text 7"/>
          <p:cNvSpPr txBox="1"/>
          <p:nvPr/>
        </p:nvSpPr>
        <p:spPr>
          <a:xfrm>
            <a:off x="548640" y="1755648"/>
            <a:ext cx="5257800" cy="4206240"/>
          </a:xfrm>
          <a:prstGeom prst="rect">
            <a:avLst/>
          </a:prstGeom>
          <a:noFill/>
          <a:ln/>
        </p:spPr>
        <p:txBody>
          <a:bodyPr wrap="square" lIns="0" tIns="0" rIns="0" bIns="0" rtlCol="0" anchor="t"/>
          <a:lstStyle/>
          <a:p>
            <a:pPr indent="0" marL="0">
              <a:lnSpc>
                <a:spcPct val="105000"/>
              </a:lnSpc>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WHY IT MATTERS:</a:t>
            </a:r>
            <a:endParaRPr lang="en-US" sz="1200" dirty="0"/>
          </a:p>
          <a:p>
            <a:pPr indent="0" marL="0">
              <a:lnSpc>
                <a:spcPct val="105000"/>
              </a:lnSpc>
              <a:spcBef>
                <a:spcPts val="200"/>
              </a:spcBef>
              <a:spcAft>
                <a:spcPts val="100"/>
              </a:spcAft>
              <a:buNone/>
            </a:pPr>
            <a:r>
              <a:rPr lang="en-US" sz="1300" dirty="0">
                <a:solidFill>
                  <a:srgbClr val="1A1A1A"/>
                </a:solidFill>
                <a:latin typeface="Inter" pitchFamily="34" charset="0"/>
                <a:ea typeface="Inter" pitchFamily="34" charset="-122"/>
                <a:cs typeface="Inter" pitchFamily="34" charset="-120"/>
              </a:rPr>
              <a:t>Indonesia is the </a:t>
            </a:r>
            <a:r>
              <a:rPr lang="en-US" sz="1300" b="1" dirty="0">
                <a:solidFill>
                  <a:srgbClr val="1A1A1A"/>
                </a:solidFill>
                <a:latin typeface="Inter" pitchFamily="34" charset="0"/>
                <a:ea typeface="Inter" pitchFamily="34" charset="-122"/>
                <a:cs typeface="Inter" pitchFamily="34" charset="-120"/>
              </a:rPr>
              <a:t>largest digital market in Southeast Asia</a:t>
            </a:r>
            <a:r>
              <a:rPr lang="en-US" sz="1300" dirty="0">
                <a:solidFill>
                  <a:srgbClr val="1A1A1A"/>
                </a:solidFill>
                <a:latin typeface="Inter" pitchFamily="34" charset="0"/>
                <a:ea typeface="Inter" pitchFamily="34" charset="-122"/>
                <a:cs typeface="Inter" pitchFamily="34" charset="-120"/>
              </a:rPr>
              <a:t>, and one where commerce moved online quickly, through marketplaces, social media and messaging alike.</a:t>
            </a:r>
            <a:endParaRPr lang="en-US" sz="1200" dirty="0"/>
          </a:p>
          <a:p>
            <a:pPr indent="0" marL="0">
              <a:lnSpc>
                <a:spcPct val="105000"/>
              </a:lnSpc>
              <a:spcBef>
                <a:spcPts val="1200"/>
              </a:spcBef>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WHY IT IS TESTABLE:</a:t>
            </a:r>
            <a:endParaRPr lang="en-US" sz="1200" dirty="0"/>
          </a:p>
          <a:p>
            <a:pPr indent="0" marL="0">
              <a:lnSpc>
                <a:spcPct val="105000"/>
              </a:lnSpc>
              <a:spcBef>
                <a:spcPts val="200"/>
              </a:spcBef>
              <a:spcAft>
                <a:spcPts val="100"/>
              </a:spcAft>
              <a:buNone/>
            </a:pPr>
            <a:r>
              <a:rPr lang="en-US" sz="1300" dirty="0">
                <a:solidFill>
                  <a:srgbClr val="1A1A1A"/>
                </a:solidFill>
                <a:latin typeface="Inter" pitchFamily="34" charset="0"/>
                <a:ea typeface="Inter" pitchFamily="34" charset="-122"/>
                <a:cs typeface="Inter" pitchFamily="34" charset="-120"/>
              </a:rPr>
              <a:t>Several local issuers disclose both revenue and transaction value over time, so the relationship can be tested </a:t>
            </a:r>
            <a:r>
              <a:rPr lang="en-US" sz="1300" b="1" dirty="0">
                <a:solidFill>
                  <a:srgbClr val="1A1A1A"/>
                </a:solidFill>
                <a:latin typeface="Inter" pitchFamily="34" charset="0"/>
                <a:ea typeface="Inter" pitchFamily="34" charset="-122"/>
                <a:cs typeface="Inter" pitchFamily="34" charset="-120"/>
              </a:rPr>
              <a:t>within the same firm</a:t>
            </a:r>
            <a:r>
              <a:rPr lang="en-US" sz="1300" dirty="0">
                <a:solidFill>
                  <a:srgbClr val="1A1A1A"/>
                </a:solidFill>
                <a:latin typeface="Inter" pitchFamily="34" charset="0"/>
                <a:ea typeface="Inter" pitchFamily="34" charset="-122"/>
                <a:cs typeface="Inter" pitchFamily="34" charset="-120"/>
              </a:rPr>
              <a:t>.</a:t>
            </a:r>
            <a:endParaRPr lang="en-US" sz="1200" dirty="0"/>
          </a:p>
          <a:p>
            <a:pPr indent="0" marL="0">
              <a:lnSpc>
                <a:spcPct val="105000"/>
              </a:lnSpc>
              <a:spcBef>
                <a:spcPts val="200"/>
              </a:spcBef>
              <a:spcAft>
                <a:spcPts val="100"/>
              </a:spcAft>
              <a:buNone/>
            </a:pPr>
            <a:r>
              <a:rPr lang="en-US" sz="1300" dirty="0">
                <a:solidFill>
                  <a:srgbClr val="1A1A1A"/>
                </a:solidFill>
                <a:latin typeface="Inter" pitchFamily="34" charset="0"/>
                <a:ea typeface="Inter" pitchFamily="34" charset="-122"/>
                <a:cs typeface="Inter" pitchFamily="34" charset="-120"/>
              </a:rPr>
              <a:t>BPS also reports national online sales by channel and the number of selling businesses, so platform evidence can be set against </a:t>
            </a:r>
            <a:r>
              <a:rPr lang="en-US" sz="1300" b="1" dirty="0">
                <a:solidFill>
                  <a:srgbClr val="1A1A1A"/>
                </a:solidFill>
                <a:latin typeface="Inter" pitchFamily="34" charset="0"/>
                <a:ea typeface="Inter" pitchFamily="34" charset="-122"/>
                <a:cs typeface="Inter" pitchFamily="34" charset="-120"/>
              </a:rPr>
              <a:t>national evidence</a:t>
            </a:r>
            <a:r>
              <a:rPr lang="en-US" sz="1300" dirty="0">
                <a:solidFill>
                  <a:srgbClr val="1A1A1A"/>
                </a:solidFill>
                <a:latin typeface="Inter" pitchFamily="34" charset="0"/>
                <a:ea typeface="Inter" pitchFamily="34" charset="-122"/>
                <a:cs typeface="Inter" pitchFamily="34" charset="-120"/>
              </a:rPr>
              <a:t>.</a:t>
            </a:r>
            <a:endParaRPr lang="en-US" sz="1200" dirty="0"/>
          </a:p>
        </p:txBody>
      </p:sp>
      <p:sp>
        <p:nvSpPr>
          <p:cNvPr id="11" name="Shape 8"/>
          <p:cNvSpPr/>
          <p:nvPr/>
        </p:nvSpPr>
        <p:spPr>
          <a:xfrm>
            <a:off x="6126480" y="1344168"/>
            <a:ext cx="0" cy="4846320"/>
          </a:xfrm>
          <a:prstGeom prst="line">
            <a:avLst/>
          </a:prstGeom>
          <a:noFill/>
          <a:ln w="9525">
            <a:solidFill>
              <a:srgbClr val="B9B5AE"/>
            </a:solidFill>
            <a:prstDash val="solid"/>
          </a:ln>
        </p:spPr>
      </p:sp>
      <p:sp>
        <p:nvSpPr>
          <p:cNvPr id="12" name="Text 9"/>
          <p:cNvSpPr txBox="1"/>
          <p:nvPr/>
        </p:nvSpPr>
        <p:spPr>
          <a:xfrm>
            <a:off x="6446520" y="1344168"/>
            <a:ext cx="5193792"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Meet Tokopedia</a:t>
            </a:r>
            <a:endParaRPr lang="en-US" sz="1450" dirty="0"/>
          </a:p>
        </p:txBody>
      </p:sp>
      <p:sp>
        <p:nvSpPr>
          <p:cNvPr id="13" name="Shape 10"/>
          <p:cNvSpPr/>
          <p:nvPr/>
        </p:nvSpPr>
        <p:spPr>
          <a:xfrm>
            <a:off x="6446520" y="1645920"/>
            <a:ext cx="5193792" cy="0"/>
          </a:xfrm>
          <a:prstGeom prst="line">
            <a:avLst/>
          </a:prstGeom>
          <a:noFill/>
          <a:ln w="9525">
            <a:solidFill>
              <a:srgbClr val="B9B5AE"/>
            </a:solidFill>
            <a:prstDash val="solid"/>
          </a:ln>
        </p:spPr>
      </p:sp>
      <p:sp>
        <p:nvSpPr>
          <p:cNvPr id="14" name="Text 11"/>
          <p:cNvSpPr txBox="1"/>
          <p:nvPr/>
        </p:nvSpPr>
        <p:spPr>
          <a:xfrm>
            <a:off x="6446520" y="1755648"/>
            <a:ext cx="5193792" cy="1737360"/>
          </a:xfrm>
          <a:prstGeom prst="rect">
            <a:avLst/>
          </a:prstGeom>
          <a:noFill/>
          <a:ln/>
        </p:spPr>
        <p:txBody>
          <a:bodyPr wrap="square" lIns="0" tIns="0" rIns="0" bIns="0" rtlCol="0" anchor="t"/>
          <a:lstStyle/>
          <a:p>
            <a:pPr indent="0" marL="0">
              <a:lnSpc>
                <a:spcPct val="105000"/>
              </a:lnSpc>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WHO:</a:t>
            </a:r>
            <a:endParaRPr lang="en-US" sz="1200" dirty="0"/>
          </a:p>
          <a:p>
            <a:pPr indent="0" marL="0">
              <a:lnSpc>
                <a:spcPct val="105000"/>
              </a:lnSpc>
              <a:spcBef>
                <a:spcPts val="200"/>
              </a:spcBef>
              <a:spcAft>
                <a:spcPts val="100"/>
              </a:spcAft>
              <a:buNone/>
            </a:pPr>
            <a:r>
              <a:rPr lang="en-US" sz="1300" dirty="0">
                <a:solidFill>
                  <a:srgbClr val="1A1A1A"/>
                </a:solidFill>
                <a:latin typeface="Inter" pitchFamily="34" charset="0"/>
                <a:ea typeface="Inter" pitchFamily="34" charset="-122"/>
                <a:cs typeface="Inter" pitchFamily="34" charset="-120"/>
              </a:rPr>
              <a:t>One of Indonesia’s largest marketplaces, roughly its eBay, and part of GoTo alongside Gojek.</a:t>
            </a:r>
            <a:endParaRPr lang="en-US" sz="1200" dirty="0"/>
          </a:p>
          <a:p>
            <a:pPr indent="0" marL="0">
              <a:lnSpc>
                <a:spcPct val="105000"/>
              </a:lnSpc>
              <a:spcBef>
                <a:spcPts val="200"/>
              </a:spcBef>
              <a:spcAft>
                <a:spcPts val="100"/>
              </a:spcAft>
              <a:buNone/>
            </a:pPr>
            <a:r>
              <a:rPr lang="en-US" sz="1300" dirty="0">
                <a:solidFill>
                  <a:srgbClr val="1A1A1A"/>
                </a:solidFill>
                <a:latin typeface="Inter" pitchFamily="34" charset="0"/>
                <a:ea typeface="Inter" pitchFamily="34" charset="-122"/>
                <a:cs typeface="Inter" pitchFamily="34" charset="-120"/>
              </a:rPr>
              <a:t>It is also the company </a:t>
            </a:r>
            <a:r>
              <a:rPr lang="en-US" sz="1300" b="1" dirty="0">
                <a:solidFill>
                  <a:srgbClr val="1A1A1A"/>
                </a:solidFill>
                <a:latin typeface="Inter" pitchFamily="34" charset="0"/>
                <a:ea typeface="Inter" pitchFamily="34" charset="-122"/>
                <a:cs typeface="Inter" pitchFamily="34" charset="-120"/>
              </a:rPr>
              <a:t>TikTok bought control of</a:t>
            </a:r>
            <a:r>
              <a:rPr lang="en-US" sz="1300" dirty="0">
                <a:solidFill>
                  <a:srgbClr val="1A1A1A"/>
                </a:solidFill>
                <a:latin typeface="Inter" pitchFamily="34" charset="0"/>
                <a:ea typeface="Inter" pitchFamily="34" charset="-122"/>
                <a:cs typeface="Inter" pitchFamily="34" charset="-120"/>
              </a:rPr>
              <a:t> in the Tanah Abang story.</a:t>
            </a:r>
            <a:endParaRPr lang="en-US" sz="1200" dirty="0"/>
          </a:p>
        </p:txBody>
      </p:sp>
      <p:sp>
        <p:nvSpPr>
          <p:cNvPr id="15" name="Text 12"/>
          <p:cNvSpPr txBox="1"/>
          <p:nvPr/>
        </p:nvSpPr>
        <p:spPr>
          <a:xfrm>
            <a:off x="6446520" y="3328416"/>
            <a:ext cx="5193792" cy="228600"/>
          </a:xfrm>
          <a:prstGeom prst="rect">
            <a:avLst/>
          </a:prstGeom>
          <a:noFill/>
          <a:ln/>
        </p:spPr>
        <p:txBody>
          <a:bodyPr wrap="square" lIns="0" tIns="0" rIns="0" bIns="0" rtlCol="0" anchor="t"/>
          <a:lstStyle/>
          <a:p>
            <a:pPr algn="l" indent="0" marL="0">
              <a:lnSpc>
                <a:spcPct val="105000"/>
              </a:lnSpc>
              <a:buNone/>
            </a:pPr>
            <a:r>
              <a:rPr lang="en-US" sz="1200" b="1" spc="80" kern="0" dirty="0">
                <a:solidFill>
                  <a:srgbClr val="1A1A1A"/>
                </a:solidFill>
                <a:latin typeface="Montserrat" pitchFamily="34" charset="0"/>
                <a:ea typeface="Montserrat" pitchFamily="34" charset="-122"/>
                <a:cs typeface="Montserrat" pitchFamily="34" charset="-120"/>
              </a:rPr>
              <a:t>THE PUZZLE, 2022 </a:t>
            </a:r>
            <a:r>
              <a:rPr lang="en-US" sz="1200" b="1" spc="80" kern="0" dirty="0">
                <a:solidFill>
                  <a:srgbClr val="1A1A1A"/>
                </a:solidFill>
                <a:latin typeface="Segoe UI Symbol" pitchFamily="34" charset="0"/>
                <a:ea typeface="Segoe UI Symbol" pitchFamily="34" charset="-122"/>
                <a:cs typeface="Segoe UI Symbol" pitchFamily="34" charset="-120"/>
              </a:rPr>
              <a:t>→</a:t>
            </a:r>
            <a:r>
              <a:rPr lang="en-US" sz="1200" b="1" spc="80" kern="0" dirty="0">
                <a:solidFill>
                  <a:srgbClr val="1A1A1A"/>
                </a:solidFill>
                <a:latin typeface="Montserrat" pitchFamily="34" charset="0"/>
                <a:ea typeface="Montserrat" pitchFamily="34" charset="-122"/>
                <a:cs typeface="Montserrat" pitchFamily="34" charset="-120"/>
              </a:rPr>
              <a:t> 2023:</a:t>
            </a:r>
            <a:endParaRPr lang="en-US" sz="1200" dirty="0"/>
          </a:p>
        </p:txBody>
      </p:sp>
      <p:sp>
        <p:nvSpPr>
          <p:cNvPr id="16" name="Text 13"/>
          <p:cNvSpPr txBox="1"/>
          <p:nvPr/>
        </p:nvSpPr>
        <p:spPr>
          <a:xfrm>
            <a:off x="6446520" y="3602736"/>
            <a:ext cx="2011680" cy="457200"/>
          </a:xfrm>
          <a:prstGeom prst="rect">
            <a:avLst/>
          </a:prstGeom>
          <a:noFill/>
          <a:ln/>
        </p:spPr>
        <p:txBody>
          <a:bodyPr wrap="square" lIns="0" tIns="0" rIns="0" bIns="0" rtlCol="0" anchor="t"/>
          <a:lstStyle/>
          <a:p>
            <a:pPr algn="l" indent="0" marL="0">
              <a:lnSpc>
                <a:spcPct val="100000"/>
              </a:lnSpc>
              <a:buNone/>
            </a:pPr>
            <a:r>
              <a:rPr lang="en-US" sz="2800" b="1" dirty="0">
                <a:solidFill>
                  <a:srgbClr val="1F4E5F"/>
                </a:solidFill>
                <a:latin typeface="Montserrat" pitchFamily="34" charset="0"/>
                <a:ea typeface="Montserrat" pitchFamily="34" charset="-122"/>
                <a:cs typeface="Montserrat" pitchFamily="34" charset="-120"/>
              </a:rPr>
              <a:t>+53.2%</a:t>
            </a:r>
            <a:endParaRPr lang="en-US" sz="2800" dirty="0"/>
          </a:p>
        </p:txBody>
      </p:sp>
      <p:sp>
        <p:nvSpPr>
          <p:cNvPr id="17" name="Text 14"/>
          <p:cNvSpPr txBox="1"/>
          <p:nvPr/>
        </p:nvSpPr>
        <p:spPr>
          <a:xfrm>
            <a:off x="6446520" y="4078224"/>
            <a:ext cx="2011680" cy="228600"/>
          </a:xfrm>
          <a:prstGeom prst="rect">
            <a:avLst/>
          </a:prstGeom>
          <a:noFill/>
          <a:ln/>
        </p:spPr>
        <p:txBody>
          <a:bodyPr wrap="square" lIns="0" tIns="0" rIns="0" bIns="0" rtlCol="0" anchor="t"/>
          <a:lstStyle/>
          <a:p>
            <a:pPr algn="l" indent="0" marL="0">
              <a:lnSpc>
                <a:spcPct val="105000"/>
              </a:lnSpc>
              <a:buNone/>
            </a:pPr>
            <a:r>
              <a:rPr lang="en-US" sz="1150" dirty="0">
                <a:solidFill>
                  <a:srgbClr val="1F4E5F"/>
                </a:solidFill>
                <a:latin typeface="Inter" pitchFamily="34" charset="0"/>
                <a:ea typeface="Inter" pitchFamily="34" charset="-122"/>
                <a:cs typeface="Inter" pitchFamily="34" charset="-120"/>
              </a:rPr>
              <a:t>revenue</a:t>
            </a:r>
            <a:endParaRPr lang="en-US" sz="1150" dirty="0"/>
          </a:p>
        </p:txBody>
      </p:sp>
      <p:sp>
        <p:nvSpPr>
          <p:cNvPr id="18" name="Text 15"/>
          <p:cNvSpPr txBox="1"/>
          <p:nvPr/>
        </p:nvSpPr>
        <p:spPr>
          <a:xfrm>
            <a:off x="8641080" y="3602736"/>
            <a:ext cx="2011680" cy="457200"/>
          </a:xfrm>
          <a:prstGeom prst="rect">
            <a:avLst/>
          </a:prstGeom>
          <a:noFill/>
          <a:ln/>
        </p:spPr>
        <p:txBody>
          <a:bodyPr wrap="square" lIns="0" tIns="0" rIns="0" bIns="0" rtlCol="0" anchor="t"/>
          <a:lstStyle/>
          <a:p>
            <a:pPr algn="l" indent="0" marL="0">
              <a:lnSpc>
                <a:spcPct val="100000"/>
              </a:lnSpc>
              <a:buNone/>
            </a:pPr>
            <a:r>
              <a:rPr lang="en-US" sz="2800" b="1" dirty="0">
                <a:solidFill>
                  <a:srgbClr val="A33A2C"/>
                </a:solidFill>
                <a:latin typeface="Montserrat" pitchFamily="34" charset="0"/>
                <a:ea typeface="Montserrat" pitchFamily="34" charset="-122"/>
                <a:cs typeface="Montserrat" pitchFamily="34" charset="-120"/>
              </a:rPr>
              <a:t>−8.9%</a:t>
            </a:r>
            <a:endParaRPr lang="en-US" sz="2800" dirty="0"/>
          </a:p>
        </p:txBody>
      </p:sp>
      <p:sp>
        <p:nvSpPr>
          <p:cNvPr id="19" name="Text 16"/>
          <p:cNvSpPr txBox="1"/>
          <p:nvPr/>
        </p:nvSpPr>
        <p:spPr>
          <a:xfrm>
            <a:off x="8641080" y="4078224"/>
            <a:ext cx="2194560" cy="228600"/>
          </a:xfrm>
          <a:prstGeom prst="rect">
            <a:avLst/>
          </a:prstGeom>
          <a:noFill/>
          <a:ln/>
        </p:spPr>
        <p:txBody>
          <a:bodyPr wrap="square" lIns="0" tIns="0" rIns="0" bIns="0" rtlCol="0" anchor="t"/>
          <a:lstStyle/>
          <a:p>
            <a:pPr algn="l" indent="0" marL="0">
              <a:lnSpc>
                <a:spcPct val="105000"/>
              </a:lnSpc>
              <a:buNone/>
            </a:pPr>
            <a:r>
              <a:rPr lang="en-US" sz="1150" dirty="0">
                <a:solidFill>
                  <a:srgbClr val="A33A2C"/>
                </a:solidFill>
                <a:latin typeface="Inter" pitchFamily="34" charset="0"/>
                <a:ea typeface="Inter" pitchFamily="34" charset="-122"/>
                <a:cs typeface="Inter" pitchFamily="34" charset="-120"/>
              </a:rPr>
              <a:t>transaction value</a:t>
            </a:r>
            <a:endParaRPr lang="en-US" sz="1150" dirty="0"/>
          </a:p>
        </p:txBody>
      </p:sp>
      <p:sp>
        <p:nvSpPr>
          <p:cNvPr id="20" name="Text 17"/>
          <p:cNvSpPr txBox="1"/>
          <p:nvPr/>
        </p:nvSpPr>
        <p:spPr>
          <a:xfrm>
            <a:off x="6446520" y="4425696"/>
            <a:ext cx="5193792" cy="914400"/>
          </a:xfrm>
          <a:prstGeom prst="rect">
            <a:avLst/>
          </a:prstGeom>
          <a:noFill/>
          <a:ln/>
        </p:spPr>
        <p:txBody>
          <a:bodyPr wrap="square" lIns="0" tIns="0" rIns="0" bIns="0" rtlCol="0" anchor="t"/>
          <a:lstStyle/>
          <a:p>
            <a:pPr indent="0" marL="0">
              <a:lnSpc>
                <a:spcPct val="105000"/>
              </a:lnSpc>
              <a:spcAft>
                <a:spcPts val="100"/>
              </a:spcAft>
              <a:buNone/>
            </a:pPr>
            <a:r>
              <a:rPr lang="en-US" sz="1300" dirty="0">
                <a:solidFill>
                  <a:srgbClr val="1A1A1A"/>
                </a:solidFill>
                <a:latin typeface="Inter" pitchFamily="34" charset="0"/>
                <a:ea typeface="Inter" pitchFamily="34" charset="-122"/>
                <a:cs typeface="Inter" pitchFamily="34" charset="-120"/>
              </a:rPr>
              <a:t>Both figures come from </a:t>
            </a:r>
            <a:r>
              <a:rPr lang="en-US" sz="1300" b="1" dirty="0">
                <a:solidFill>
                  <a:srgbClr val="1A1A1A"/>
                </a:solidFill>
                <a:latin typeface="Inter" pitchFamily="34" charset="0"/>
                <a:ea typeface="Inter" pitchFamily="34" charset="-122"/>
                <a:cs typeface="Inter" pitchFamily="34" charset="-120"/>
              </a:rPr>
              <a:t>GoTo’s own disclosures</a:t>
            </a:r>
            <a:r>
              <a:rPr lang="en-US" sz="1300" dirty="0">
                <a:solidFill>
                  <a:srgbClr val="1A1A1A"/>
                </a:solidFill>
                <a:latin typeface="Inter" pitchFamily="34" charset="0"/>
                <a:ea typeface="Inter" pitchFamily="34" charset="-122"/>
                <a:cs typeface="Inter" pitchFamily="34" charset="-120"/>
              </a:rPr>
              <a:t>. Read through its accounts, Tokopedia was </a:t>
            </a:r>
            <a:r>
              <a:rPr lang="en-US" sz="1300" b="1" dirty="0">
                <a:solidFill>
                  <a:srgbClr val="1A1A1A"/>
                </a:solidFill>
                <a:latin typeface="Inter" pitchFamily="34" charset="0"/>
                <a:ea typeface="Inter" pitchFamily="34" charset="-122"/>
                <a:cs typeface="Inter" pitchFamily="34" charset="-120"/>
              </a:rPr>
              <a:t>expanding quickly</a:t>
            </a:r>
            <a:r>
              <a:rPr lang="en-US" sz="1300" dirty="0">
                <a:solidFill>
                  <a:srgbClr val="1A1A1A"/>
                </a:solidFill>
                <a:latin typeface="Inter" pitchFamily="34" charset="0"/>
                <a:ea typeface="Inter" pitchFamily="34" charset="-122"/>
                <a:cs typeface="Inter" pitchFamily="34" charset="-120"/>
              </a:rPr>
              <a:t>; read through its transactions, it was </a:t>
            </a:r>
            <a:r>
              <a:rPr lang="en-US" sz="1300" b="1" dirty="0">
                <a:solidFill>
                  <a:srgbClr val="1A1A1A"/>
                </a:solidFill>
                <a:latin typeface="Inter" pitchFamily="34" charset="0"/>
                <a:ea typeface="Inter" pitchFamily="34" charset="-122"/>
                <a:cs typeface="Inter" pitchFamily="34" charset="-120"/>
              </a:rPr>
              <a:t>shrinking</a:t>
            </a:r>
            <a:r>
              <a:rPr lang="en-US" sz="1300" dirty="0">
                <a:solidFill>
                  <a:srgbClr val="1A1A1A"/>
                </a:solidFill>
                <a:latin typeface="Inter" pitchFamily="34" charset="0"/>
                <a:ea typeface="Inter" pitchFamily="34" charset="-122"/>
                <a:cs typeface="Inter" pitchFamily="34" charset="-120"/>
              </a:rPr>
              <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 THE PROBLEM</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6</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A Bigger Slice of a Smaller Pie</a:t>
            </a:r>
            <a:endParaRPr lang="en-US" sz="2600" dirty="0"/>
          </a:p>
        </p:txBody>
      </p:sp>
      <p:sp>
        <p:nvSpPr>
          <p:cNvPr id="7" name="Text 4"/>
          <p:cNvSpPr txBox="1"/>
          <p:nvPr/>
        </p:nvSpPr>
        <p:spPr>
          <a:xfrm>
            <a:off x="548640" y="896112"/>
            <a:ext cx="11091672" cy="54864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“Most of the revenue increase reconciles to lower incentives, not more commerce, and different users read that year differently.”</a:t>
            </a:r>
            <a:endParaRPr lang="en-US" sz="1500" dirty="0"/>
          </a:p>
        </p:txBody>
      </p:sp>
      <p:sp>
        <p:nvSpPr>
          <p:cNvPr id="8" name="Text 5"/>
          <p:cNvSpPr txBox="1"/>
          <p:nvPr/>
        </p:nvSpPr>
        <p:spPr>
          <a:xfrm>
            <a:off x="548640" y="1591056"/>
            <a:ext cx="6172200" cy="512064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WHAT CHANGED (2022 </a:t>
            </a:r>
            <a:r>
              <a:rPr lang="en-US" sz="1150" b="1" spc="80" kern="0" dirty="0">
                <a:solidFill>
                  <a:srgbClr val="1A1A1A"/>
                </a:solidFill>
                <a:latin typeface="Segoe UI Symbol" pitchFamily="34" charset="0"/>
                <a:ea typeface="Segoe UI Symbol" pitchFamily="34" charset="-122"/>
                <a:cs typeface="Segoe UI Symbol" pitchFamily="34" charset="-120"/>
              </a:rPr>
              <a:t>→</a:t>
            </a:r>
            <a:r>
              <a:rPr lang="en-US" sz="1150" b="1" spc="80" kern="0" dirty="0">
                <a:solidFill>
                  <a:srgbClr val="1A1A1A"/>
                </a:solidFill>
                <a:latin typeface="Montserrat" pitchFamily="34" charset="0"/>
                <a:ea typeface="Montserrat" pitchFamily="34" charset="-122"/>
                <a:cs typeface="Montserrat" pitchFamily="34" charset="-120"/>
              </a:rPr>
              <a:t> 2023):</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Transaction value </a:t>
            </a:r>
            <a:r>
              <a:rPr lang="en-US" sz="1250" b="1" dirty="0">
                <a:solidFill>
                  <a:srgbClr val="1A1A1A"/>
                </a:solidFill>
                <a:latin typeface="Inter" pitchFamily="34" charset="0"/>
                <a:ea typeface="Inter" pitchFamily="34" charset="-122"/>
                <a:cs typeface="Inter" pitchFamily="34" charset="-120"/>
              </a:rPr>
              <a:t>fell</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Net revenue </a:t>
            </a:r>
            <a:r>
              <a:rPr lang="en-US" sz="1250" b="1" dirty="0">
                <a:solidFill>
                  <a:srgbClr val="1A1A1A"/>
                </a:solidFill>
                <a:latin typeface="Inter" pitchFamily="34" charset="0"/>
                <a:ea typeface="Inter" pitchFamily="34" charset="-122"/>
                <a:cs typeface="Inter" pitchFamily="34" charset="-120"/>
              </a:rPr>
              <a:t>rose</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Customer incentives deducted from gross revenue </a:t>
            </a:r>
            <a:r>
              <a:rPr lang="en-US" sz="1250" b="1" dirty="0">
                <a:solidFill>
                  <a:srgbClr val="1A1A1A"/>
                </a:solidFill>
                <a:latin typeface="Inter" pitchFamily="34" charset="0"/>
                <a:ea typeface="Inter" pitchFamily="34" charset="-122"/>
                <a:cs typeface="Inter" pitchFamily="34" charset="-120"/>
              </a:rPr>
              <a:t>fell</a:t>
            </a:r>
            <a:r>
              <a:rPr lang="en-US" sz="1250" dirty="0">
                <a:solidFill>
                  <a:srgbClr val="1A1A1A"/>
                </a:solidFill>
                <a:latin typeface="Inter" pitchFamily="34" charset="0"/>
                <a:ea typeface="Inter" pitchFamily="34" charset="-122"/>
                <a:cs typeface="Inter" pitchFamily="34" charset="-120"/>
              </a:rPr>
              <a:t> (discounts, vouchers, promotions)</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THE RECONCILIATION:</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60.6%</a:t>
            </a:r>
            <a:r>
              <a:rPr lang="en-US" sz="1250" dirty="0">
                <a:solidFill>
                  <a:srgbClr val="1A1A1A"/>
                </a:solidFill>
                <a:latin typeface="Inter" pitchFamily="34" charset="0"/>
                <a:ea typeface="Inter" pitchFamily="34" charset="-122"/>
                <a:cs typeface="Inter" pitchFamily="34" charset="-120"/>
              </a:rPr>
              <a:t> of the net-revenue increase reconciles to </a:t>
            </a:r>
            <a:r>
              <a:rPr lang="en-US" sz="1250" b="1" dirty="0">
                <a:solidFill>
                  <a:srgbClr val="1A1A1A"/>
                </a:solidFill>
                <a:latin typeface="Inter" pitchFamily="34" charset="0"/>
                <a:ea typeface="Inter" pitchFamily="34" charset="-122"/>
                <a:cs typeface="Inter" pitchFamily="34" charset="-120"/>
              </a:rPr>
              <a:t>lower incentives</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39.4% reconciles to higher gross revenue</a:t>
            </a:r>
            <a:endParaRPr lang="en-US" sz="1150" dirty="0"/>
          </a:p>
          <a:p>
            <a:pPr marL="190500" indent="-190500">
              <a:lnSpc>
                <a:spcPct val="105000"/>
              </a:lnSpc>
              <a:spcBef>
                <a:spcPts val="200"/>
              </a:spcBef>
              <a:spcAft>
                <a:spcPts val="100"/>
              </a:spcAft>
              <a:buSzPct val="100000"/>
              <a:buFont typeface="Segoe UI Symbol"/>
              <a:buChar char="→"/>
            </a:pPr>
            <a:r>
              <a:rPr lang="en-US" sz="1250" i="1" dirty="0">
                <a:solidFill>
                  <a:srgbClr val="1A1A1A"/>
                </a:solidFill>
                <a:latin typeface="Inter" pitchFamily="34" charset="0"/>
                <a:ea typeface="Inter" pitchFamily="34" charset="-122"/>
                <a:cs typeface="Inter" pitchFamily="34" charset="-120"/>
              </a:rPr>
              <a:t>Arithmetic reconciliation, not a causal claim</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WHY IT MATTERS: WHO READS WHICH NUMBER:</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Investors</a:t>
            </a:r>
            <a:r>
              <a:rPr lang="en-US" sz="1250" dirty="0">
                <a:solidFill>
                  <a:srgbClr val="1A1A1A"/>
                </a:solidFill>
                <a:latin typeface="Inter" pitchFamily="34" charset="0"/>
                <a:ea typeface="Inter" pitchFamily="34" charset="-122"/>
                <a:cs typeface="Inter" pitchFamily="34" charset="-120"/>
              </a:rPr>
              <a:t> largely read revenue</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Statisticians</a:t>
            </a:r>
            <a:r>
              <a:rPr lang="en-US" sz="1250" dirty="0">
                <a:solidFill>
                  <a:srgbClr val="1A1A1A"/>
                </a:solidFill>
                <a:latin typeface="Inter" pitchFamily="34" charset="0"/>
                <a:ea typeface="Inter" pitchFamily="34" charset="-122"/>
                <a:cs typeface="Inter" pitchFamily="34" charset="-120"/>
              </a:rPr>
              <a:t> read seller surveys</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Tax administration</a:t>
            </a:r>
            <a:r>
              <a:rPr lang="en-US" sz="1250" dirty="0">
                <a:solidFill>
                  <a:srgbClr val="1A1A1A"/>
                </a:solidFill>
                <a:latin typeface="Inter" pitchFamily="34" charset="0"/>
                <a:ea typeface="Inter" pitchFamily="34" charset="-122"/>
                <a:cs typeface="Inter" pitchFamily="34" charset="-120"/>
              </a:rPr>
              <a:t> increasingly draws on marketplace records</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Same activity, same year: the conclusions can point in </a:t>
            </a:r>
            <a:r>
              <a:rPr lang="en-US" sz="1250" b="1" dirty="0">
                <a:solidFill>
                  <a:srgbClr val="1A1A1A"/>
                </a:solidFill>
                <a:latin typeface="Inter" pitchFamily="34" charset="0"/>
                <a:ea typeface="Inter" pitchFamily="34" charset="-122"/>
                <a:cs typeface="Inter" pitchFamily="34" charset="-120"/>
              </a:rPr>
              <a:t>opposite directions</a:t>
            </a:r>
            <a:endParaRPr lang="en-US" sz="1150" dirty="0"/>
          </a:p>
        </p:txBody>
      </p:sp>
      <p:sp>
        <p:nvSpPr>
          <p:cNvPr id="9" name="Shape 6"/>
          <p:cNvSpPr/>
          <p:nvPr/>
        </p:nvSpPr>
        <p:spPr>
          <a:xfrm>
            <a:off x="6995160" y="5074920"/>
            <a:ext cx="4251960" cy="0"/>
          </a:xfrm>
          <a:prstGeom prst="line">
            <a:avLst/>
          </a:prstGeom>
          <a:noFill/>
          <a:ln w="12700">
            <a:solidFill>
              <a:srgbClr val="1A1A1A"/>
            </a:solidFill>
            <a:prstDash val="solid"/>
          </a:ln>
        </p:spPr>
      </p:sp>
      <p:sp>
        <p:nvSpPr>
          <p:cNvPr id="10" name="Shape 7"/>
          <p:cNvSpPr/>
          <p:nvPr/>
        </p:nvSpPr>
        <p:spPr>
          <a:xfrm>
            <a:off x="7178040" y="3342955"/>
            <a:ext cx="713232" cy="1731965"/>
          </a:xfrm>
          <a:prstGeom prst="rect">
            <a:avLst/>
          </a:prstGeom>
          <a:solidFill>
            <a:srgbClr val="5B5853"/>
          </a:solidFill>
          <a:ln w="12700">
            <a:solidFill>
              <a:srgbClr val="5B5853"/>
            </a:solidFill>
            <a:prstDash val="solid"/>
          </a:ln>
        </p:spPr>
      </p:sp>
      <p:sp>
        <p:nvSpPr>
          <p:cNvPr id="11" name="Shape 8"/>
          <p:cNvSpPr/>
          <p:nvPr/>
        </p:nvSpPr>
        <p:spPr>
          <a:xfrm>
            <a:off x="7891272" y="3342955"/>
            <a:ext cx="384048" cy="0"/>
          </a:xfrm>
          <a:prstGeom prst="line">
            <a:avLst/>
          </a:prstGeom>
          <a:noFill/>
          <a:ln w="9525">
            <a:solidFill>
              <a:srgbClr val="8A8782"/>
            </a:solidFill>
            <a:prstDash val="dash"/>
          </a:ln>
        </p:spPr>
      </p:sp>
      <p:sp>
        <p:nvSpPr>
          <p:cNvPr id="12" name="Text 9"/>
          <p:cNvSpPr txBox="1"/>
          <p:nvPr/>
        </p:nvSpPr>
        <p:spPr>
          <a:xfrm>
            <a:off x="6858000" y="3086923"/>
            <a:ext cx="1353312" cy="219456"/>
          </a:xfrm>
          <a:prstGeom prst="rect">
            <a:avLst/>
          </a:prstGeom>
          <a:noFill/>
          <a:ln/>
        </p:spPr>
        <p:txBody>
          <a:bodyPr wrap="square" lIns="0" tIns="0" rIns="0" bIns="0" rtlCol="0" anchor="t"/>
          <a:lstStyle/>
          <a:p>
            <a:pPr algn="ctr" indent="0" marL="0">
              <a:lnSpc>
                <a:spcPct val="105000"/>
              </a:lnSpc>
              <a:buNone/>
            </a:pPr>
            <a:r>
              <a:rPr lang="en-US" sz="1100" b="1" dirty="0">
                <a:solidFill>
                  <a:srgbClr val="1A1A1A"/>
                </a:solidFill>
                <a:latin typeface="Inter" pitchFamily="34" charset="0"/>
                <a:ea typeface="Inter" pitchFamily="34" charset="-122"/>
                <a:cs typeface="Inter" pitchFamily="34" charset="-120"/>
              </a:rPr>
              <a:t>4.03</a:t>
            </a:r>
            <a:endParaRPr lang="en-US" sz="1100" dirty="0"/>
          </a:p>
        </p:txBody>
      </p:sp>
      <p:sp>
        <p:nvSpPr>
          <p:cNvPr id="13" name="Text 10"/>
          <p:cNvSpPr txBox="1"/>
          <p:nvPr/>
        </p:nvSpPr>
        <p:spPr>
          <a:xfrm>
            <a:off x="6949440" y="5138928"/>
            <a:ext cx="1170432" cy="384048"/>
          </a:xfrm>
          <a:prstGeom prst="rect">
            <a:avLst/>
          </a:prstGeom>
          <a:noFill/>
          <a:ln/>
        </p:spPr>
        <p:txBody>
          <a:bodyPr wrap="square" lIns="0" tIns="0" rIns="0" bIns="0" rtlCol="0" anchor="t"/>
          <a:lstStyle/>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2022</a:t>
            </a:r>
            <a:endParaRPr lang="en-US" sz="950" dirty="0"/>
          </a:p>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net revenue</a:t>
            </a:r>
            <a:endParaRPr lang="en-US" sz="950" dirty="0"/>
          </a:p>
        </p:txBody>
      </p:sp>
      <p:sp>
        <p:nvSpPr>
          <p:cNvPr id="14" name="Shape 11"/>
          <p:cNvSpPr/>
          <p:nvPr/>
        </p:nvSpPr>
        <p:spPr>
          <a:xfrm>
            <a:off x="8275320" y="2784257"/>
            <a:ext cx="713232" cy="558698"/>
          </a:xfrm>
          <a:prstGeom prst="rect">
            <a:avLst/>
          </a:prstGeom>
          <a:solidFill>
            <a:srgbClr val="1F4E5F"/>
          </a:solidFill>
          <a:ln w="12700">
            <a:solidFill>
              <a:srgbClr val="1F4E5F"/>
            </a:solidFill>
            <a:prstDash val="solid"/>
          </a:ln>
        </p:spPr>
      </p:sp>
      <p:sp>
        <p:nvSpPr>
          <p:cNvPr id="15" name="Shape 12"/>
          <p:cNvSpPr/>
          <p:nvPr/>
        </p:nvSpPr>
        <p:spPr>
          <a:xfrm>
            <a:off x="8988552" y="2784257"/>
            <a:ext cx="384048" cy="0"/>
          </a:xfrm>
          <a:prstGeom prst="line">
            <a:avLst/>
          </a:prstGeom>
          <a:noFill/>
          <a:ln w="9525">
            <a:solidFill>
              <a:srgbClr val="8A8782"/>
            </a:solidFill>
            <a:prstDash val="dash"/>
          </a:ln>
        </p:spPr>
      </p:sp>
      <p:sp>
        <p:nvSpPr>
          <p:cNvPr id="16" name="Text 13"/>
          <p:cNvSpPr txBox="1"/>
          <p:nvPr/>
        </p:nvSpPr>
        <p:spPr>
          <a:xfrm>
            <a:off x="7955280" y="2528225"/>
            <a:ext cx="1353312" cy="219456"/>
          </a:xfrm>
          <a:prstGeom prst="rect">
            <a:avLst/>
          </a:prstGeom>
          <a:noFill/>
          <a:ln/>
        </p:spPr>
        <p:txBody>
          <a:bodyPr wrap="square" lIns="0" tIns="0" rIns="0" bIns="0" rtlCol="0" anchor="t"/>
          <a:lstStyle/>
          <a:p>
            <a:pPr algn="ctr" indent="0" marL="0">
              <a:lnSpc>
                <a:spcPct val="105000"/>
              </a:lnSpc>
              <a:buNone/>
            </a:pPr>
            <a:r>
              <a:rPr lang="en-US" sz="1100" b="1" dirty="0">
                <a:solidFill>
                  <a:srgbClr val="1F4E5F"/>
                </a:solidFill>
                <a:latin typeface="Inter" pitchFamily="34" charset="0"/>
                <a:ea typeface="Inter" pitchFamily="34" charset="-122"/>
                <a:cs typeface="Inter" pitchFamily="34" charset="-120"/>
              </a:rPr>
              <a:t>+1.30 (60.6%)</a:t>
            </a:r>
            <a:endParaRPr lang="en-US" sz="1100" dirty="0"/>
          </a:p>
        </p:txBody>
      </p:sp>
      <p:sp>
        <p:nvSpPr>
          <p:cNvPr id="17" name="Text 14"/>
          <p:cNvSpPr txBox="1"/>
          <p:nvPr/>
        </p:nvSpPr>
        <p:spPr>
          <a:xfrm>
            <a:off x="8046720" y="5138928"/>
            <a:ext cx="1170432" cy="384048"/>
          </a:xfrm>
          <a:prstGeom prst="rect">
            <a:avLst/>
          </a:prstGeom>
          <a:noFill/>
          <a:ln/>
        </p:spPr>
        <p:txBody>
          <a:bodyPr wrap="square" lIns="0" tIns="0" rIns="0" bIns="0" rtlCol="0" anchor="t"/>
          <a:lstStyle/>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Lower</a:t>
            </a:r>
            <a:endParaRPr lang="en-US" sz="950" dirty="0"/>
          </a:p>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incentives</a:t>
            </a:r>
            <a:endParaRPr lang="en-US" sz="950" dirty="0"/>
          </a:p>
        </p:txBody>
      </p:sp>
      <p:sp>
        <p:nvSpPr>
          <p:cNvPr id="18" name="Shape 15"/>
          <p:cNvSpPr/>
          <p:nvPr/>
        </p:nvSpPr>
        <p:spPr>
          <a:xfrm>
            <a:off x="9372600" y="2418954"/>
            <a:ext cx="713232" cy="365303"/>
          </a:xfrm>
          <a:prstGeom prst="rect">
            <a:avLst/>
          </a:prstGeom>
          <a:solidFill>
            <a:srgbClr val="6F97A3"/>
          </a:solidFill>
          <a:ln w="12700">
            <a:solidFill>
              <a:srgbClr val="6F97A3"/>
            </a:solidFill>
            <a:prstDash val="solid"/>
          </a:ln>
        </p:spPr>
      </p:sp>
      <p:sp>
        <p:nvSpPr>
          <p:cNvPr id="19" name="Shape 16"/>
          <p:cNvSpPr/>
          <p:nvPr/>
        </p:nvSpPr>
        <p:spPr>
          <a:xfrm>
            <a:off x="10085832" y="2418954"/>
            <a:ext cx="384048" cy="0"/>
          </a:xfrm>
          <a:prstGeom prst="line">
            <a:avLst/>
          </a:prstGeom>
          <a:noFill/>
          <a:ln w="9525">
            <a:solidFill>
              <a:srgbClr val="8A8782"/>
            </a:solidFill>
            <a:prstDash val="dash"/>
          </a:ln>
        </p:spPr>
      </p:sp>
      <p:sp>
        <p:nvSpPr>
          <p:cNvPr id="20" name="Text 17"/>
          <p:cNvSpPr txBox="1"/>
          <p:nvPr/>
        </p:nvSpPr>
        <p:spPr>
          <a:xfrm>
            <a:off x="9052560" y="2162922"/>
            <a:ext cx="1353312" cy="219456"/>
          </a:xfrm>
          <a:prstGeom prst="rect">
            <a:avLst/>
          </a:prstGeom>
          <a:noFill/>
          <a:ln/>
        </p:spPr>
        <p:txBody>
          <a:bodyPr wrap="square" lIns="0" tIns="0" rIns="0" bIns="0" rtlCol="0" anchor="t"/>
          <a:lstStyle/>
          <a:p>
            <a:pPr algn="ctr" indent="0" marL="0">
              <a:lnSpc>
                <a:spcPct val="105000"/>
              </a:lnSpc>
              <a:buNone/>
            </a:pPr>
            <a:r>
              <a:rPr lang="en-US" sz="1100" b="1" dirty="0">
                <a:solidFill>
                  <a:srgbClr val="1F4E5F"/>
                </a:solidFill>
                <a:latin typeface="Inter" pitchFamily="34" charset="0"/>
                <a:ea typeface="Inter" pitchFamily="34" charset="-122"/>
                <a:cs typeface="Inter" pitchFamily="34" charset="-120"/>
              </a:rPr>
              <a:t>+0.85 (39.4%)</a:t>
            </a:r>
            <a:endParaRPr lang="en-US" sz="1100" dirty="0"/>
          </a:p>
        </p:txBody>
      </p:sp>
      <p:sp>
        <p:nvSpPr>
          <p:cNvPr id="21" name="Text 18"/>
          <p:cNvSpPr txBox="1"/>
          <p:nvPr/>
        </p:nvSpPr>
        <p:spPr>
          <a:xfrm>
            <a:off x="9144000" y="5138928"/>
            <a:ext cx="1170432" cy="384048"/>
          </a:xfrm>
          <a:prstGeom prst="rect">
            <a:avLst/>
          </a:prstGeom>
          <a:noFill/>
          <a:ln/>
        </p:spPr>
        <p:txBody>
          <a:bodyPr wrap="square" lIns="0" tIns="0" rIns="0" bIns="0" rtlCol="0" anchor="t"/>
          <a:lstStyle/>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Higher gross</a:t>
            </a:r>
            <a:endParaRPr lang="en-US" sz="950" dirty="0"/>
          </a:p>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revenue</a:t>
            </a:r>
            <a:endParaRPr lang="en-US" sz="950" dirty="0"/>
          </a:p>
        </p:txBody>
      </p:sp>
      <p:sp>
        <p:nvSpPr>
          <p:cNvPr id="22" name="Shape 19"/>
          <p:cNvSpPr/>
          <p:nvPr/>
        </p:nvSpPr>
        <p:spPr>
          <a:xfrm>
            <a:off x="10469880" y="2418954"/>
            <a:ext cx="713232" cy="2655966"/>
          </a:xfrm>
          <a:prstGeom prst="rect">
            <a:avLst/>
          </a:prstGeom>
          <a:solidFill>
            <a:srgbClr val="5B5853"/>
          </a:solidFill>
          <a:ln w="12700">
            <a:solidFill>
              <a:srgbClr val="5B5853"/>
            </a:solidFill>
            <a:prstDash val="solid"/>
          </a:ln>
        </p:spPr>
      </p:sp>
      <p:sp>
        <p:nvSpPr>
          <p:cNvPr id="23" name="Text 20"/>
          <p:cNvSpPr txBox="1"/>
          <p:nvPr/>
        </p:nvSpPr>
        <p:spPr>
          <a:xfrm>
            <a:off x="10149840" y="2162922"/>
            <a:ext cx="1353312" cy="219456"/>
          </a:xfrm>
          <a:prstGeom prst="rect">
            <a:avLst/>
          </a:prstGeom>
          <a:noFill/>
          <a:ln/>
        </p:spPr>
        <p:txBody>
          <a:bodyPr wrap="square" lIns="0" tIns="0" rIns="0" bIns="0" rtlCol="0" anchor="t"/>
          <a:lstStyle/>
          <a:p>
            <a:pPr algn="ctr" indent="0" marL="0">
              <a:lnSpc>
                <a:spcPct val="105000"/>
              </a:lnSpc>
              <a:buNone/>
            </a:pPr>
            <a:r>
              <a:rPr lang="en-US" sz="1100" b="1" dirty="0">
                <a:solidFill>
                  <a:srgbClr val="1A1A1A"/>
                </a:solidFill>
                <a:latin typeface="Inter" pitchFamily="34" charset="0"/>
                <a:ea typeface="Inter" pitchFamily="34" charset="-122"/>
                <a:cs typeface="Inter" pitchFamily="34" charset="-120"/>
              </a:rPr>
              <a:t>6.18</a:t>
            </a:r>
            <a:endParaRPr lang="en-US" sz="1100" dirty="0"/>
          </a:p>
        </p:txBody>
      </p:sp>
      <p:sp>
        <p:nvSpPr>
          <p:cNvPr id="24" name="Text 21"/>
          <p:cNvSpPr txBox="1"/>
          <p:nvPr/>
        </p:nvSpPr>
        <p:spPr>
          <a:xfrm>
            <a:off x="10241280" y="5138928"/>
            <a:ext cx="1170432" cy="384048"/>
          </a:xfrm>
          <a:prstGeom prst="rect">
            <a:avLst/>
          </a:prstGeom>
          <a:noFill/>
          <a:ln/>
        </p:spPr>
        <p:txBody>
          <a:bodyPr wrap="square" lIns="0" tIns="0" rIns="0" bIns="0" rtlCol="0" anchor="t"/>
          <a:lstStyle/>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2023</a:t>
            </a:r>
            <a:endParaRPr lang="en-US" sz="950" dirty="0"/>
          </a:p>
          <a:p>
            <a:pPr algn="ctr" indent="0" marL="0">
              <a:lnSpc>
                <a:spcPct val="95000"/>
              </a:lnSpc>
              <a:buNone/>
            </a:pPr>
            <a:r>
              <a:rPr lang="en-US" sz="950" dirty="0">
                <a:solidFill>
                  <a:srgbClr val="1A1A1A"/>
                </a:solidFill>
                <a:latin typeface="Inter" pitchFamily="34" charset="0"/>
                <a:ea typeface="Inter" pitchFamily="34" charset="-122"/>
                <a:cs typeface="Inter" pitchFamily="34" charset="-120"/>
              </a:rPr>
              <a:t>net revenue</a:t>
            </a:r>
            <a:endParaRPr lang="en-US" sz="950" dirty="0"/>
          </a:p>
        </p:txBody>
      </p:sp>
      <p:sp>
        <p:nvSpPr>
          <p:cNvPr id="25" name="Text 22"/>
          <p:cNvSpPr txBox="1"/>
          <p:nvPr/>
        </p:nvSpPr>
        <p:spPr>
          <a:xfrm>
            <a:off x="6995160" y="5605272"/>
            <a:ext cx="4480560" cy="201168"/>
          </a:xfrm>
          <a:prstGeom prst="rect">
            <a:avLst/>
          </a:prstGeom>
          <a:noFill/>
          <a:ln/>
        </p:spPr>
        <p:txBody>
          <a:bodyPr wrap="square" lIns="0" tIns="0" rIns="0" bIns="0" rtlCol="0" anchor="t"/>
          <a:lstStyle/>
          <a:p>
            <a:pPr algn="ctr" indent="0" marL="0">
              <a:lnSpc>
                <a:spcPct val="105000"/>
              </a:lnSpc>
              <a:buNone/>
            </a:pPr>
            <a:r>
              <a:rPr lang="en-US" sz="850" b="1" spc="120" kern="0" dirty="0">
                <a:solidFill>
                  <a:srgbClr val="5F5C57"/>
                </a:solidFill>
                <a:latin typeface="Montserrat" pitchFamily="34" charset="0"/>
                <a:ea typeface="Montserrat" pitchFamily="34" charset="-122"/>
                <a:cs typeface="Montserrat" pitchFamily="34" charset="-120"/>
              </a:rPr>
              <a:t>TOKOPEDIA NET REVENUE, Rp TRILLION</a:t>
            </a:r>
            <a:endParaRPr lang="en-US" sz="850" dirty="0"/>
          </a:p>
        </p:txBody>
      </p:sp>
      <p:sp>
        <p:nvSpPr>
          <p:cNvPr id="26" name="Text 23"/>
          <p:cNvSpPr txBox="1"/>
          <p:nvPr/>
        </p:nvSpPr>
        <p:spPr>
          <a:xfrm>
            <a:off x="6995160" y="5897880"/>
            <a:ext cx="4526280" cy="411480"/>
          </a:xfrm>
          <a:prstGeom prst="rect">
            <a:avLst/>
          </a:prstGeom>
          <a:noFill/>
          <a:ln/>
        </p:spPr>
        <p:txBody>
          <a:bodyPr wrap="square" lIns="0" tIns="0" rIns="0" bIns="0" rtlCol="0" anchor="t"/>
          <a:lstStyle/>
          <a:p>
            <a:pPr algn="ctr" indent="0" marL="0">
              <a:lnSpc>
                <a:spcPct val="105000"/>
              </a:lnSpc>
              <a:buNone/>
            </a:pPr>
            <a:r>
              <a:rPr lang="en-US" sz="950" i="1" dirty="0">
                <a:solidFill>
                  <a:srgbClr val="5F5C57"/>
                </a:solidFill>
                <a:latin typeface="Inter" pitchFamily="34" charset="0"/>
                <a:ea typeface="Inter" pitchFamily="34" charset="-122"/>
                <a:cs typeface="Inter" pitchFamily="34" charset="-120"/>
              </a:rPr>
              <a:t>Gross revenue Rp8.14T </a:t>
            </a:r>
            <a:r>
              <a:rPr lang="en-US" sz="950" i="1" dirty="0">
                <a:solidFill>
                  <a:srgbClr val="5F5C57"/>
                </a:solidFill>
                <a:latin typeface="Segoe UI Symbol" pitchFamily="34" charset="0"/>
                <a:ea typeface="Segoe UI Symbol" pitchFamily="34" charset="-122"/>
                <a:cs typeface="Segoe UI Symbol" pitchFamily="34" charset="-120"/>
              </a:rPr>
              <a:t>→</a:t>
            </a:r>
            <a:r>
              <a:rPr lang="en-US" sz="950" i="1" dirty="0">
                <a:solidFill>
                  <a:srgbClr val="5F5C57"/>
                </a:solidFill>
                <a:latin typeface="Inter" pitchFamily="34" charset="0"/>
                <a:ea typeface="Inter" pitchFamily="34" charset="-122"/>
                <a:cs typeface="Inter" pitchFamily="34" charset="-120"/>
              </a:rPr>
              <a:t> Rp8.99T · incentives Rp4.11T </a:t>
            </a:r>
            <a:r>
              <a:rPr lang="en-US" sz="950" i="1" dirty="0">
                <a:solidFill>
                  <a:srgbClr val="5F5C57"/>
                </a:solidFill>
                <a:latin typeface="Segoe UI Symbol" pitchFamily="34" charset="0"/>
                <a:ea typeface="Segoe UI Symbol" pitchFamily="34" charset="-122"/>
                <a:cs typeface="Segoe UI Symbol" pitchFamily="34" charset="-120"/>
              </a:rPr>
              <a:t>→</a:t>
            </a:r>
            <a:r>
              <a:rPr lang="en-US" sz="950" i="1" dirty="0">
                <a:solidFill>
                  <a:srgbClr val="5F5C57"/>
                </a:solidFill>
                <a:latin typeface="Inter" pitchFamily="34" charset="0"/>
                <a:ea typeface="Inter" pitchFamily="34" charset="-122"/>
                <a:cs typeface="Inter" pitchFamily="34" charset="-120"/>
              </a:rPr>
              <a:t> Rp2.81T · net revenue Rp4.03T </a:t>
            </a:r>
            <a:r>
              <a:rPr lang="en-US" sz="950" i="1" dirty="0">
                <a:solidFill>
                  <a:srgbClr val="5F5C57"/>
                </a:solidFill>
                <a:latin typeface="Segoe UI Symbol" pitchFamily="34" charset="0"/>
                <a:ea typeface="Segoe UI Symbol" pitchFamily="34" charset="-122"/>
                <a:cs typeface="Segoe UI Symbol" pitchFamily="34" charset="-120"/>
              </a:rPr>
              <a:t>→</a:t>
            </a:r>
            <a:r>
              <a:rPr lang="en-US" sz="950" i="1" dirty="0">
                <a:solidFill>
                  <a:srgbClr val="5F5C57"/>
                </a:solidFill>
                <a:latin typeface="Inter" pitchFamily="34" charset="0"/>
                <a:ea typeface="Inter" pitchFamily="34" charset="-122"/>
                <a:cs typeface="Inter" pitchFamily="34" charset="-120"/>
              </a:rPr>
              <a:t> Rp6.18T (GoTo, 2024 annual report)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 THE QUESTION</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7</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What the Literature Can and Cannot Answer</a:t>
            </a:r>
            <a:endParaRPr lang="en-US" sz="2600" dirty="0"/>
          </a:p>
        </p:txBody>
      </p:sp>
      <p:sp>
        <p:nvSpPr>
          <p:cNvPr id="7" name="Text 4"/>
          <p:cNvSpPr txBox="1"/>
          <p:nvPr/>
        </p:nvSpPr>
        <p:spPr>
          <a:xfrm>
            <a:off x="548640" y="896112"/>
            <a:ext cx="11091672" cy="54864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“Existing work explains why the measures differ; this study directly tests when substituting one for another changes the growth conclusion.”</a:t>
            </a:r>
            <a:endParaRPr lang="en-US" sz="1500" dirty="0"/>
          </a:p>
        </p:txBody>
      </p:sp>
      <p:sp>
        <p:nvSpPr>
          <p:cNvPr id="8" name="Text 5"/>
          <p:cNvSpPr txBox="1"/>
          <p:nvPr/>
        </p:nvSpPr>
        <p:spPr>
          <a:xfrm>
            <a:off x="548640" y="1591056"/>
            <a:ext cx="6035040"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What we know</a:t>
            </a:r>
            <a:endParaRPr lang="en-US" sz="1450" dirty="0"/>
          </a:p>
        </p:txBody>
      </p:sp>
      <p:sp>
        <p:nvSpPr>
          <p:cNvPr id="9" name="Shape 6"/>
          <p:cNvSpPr/>
          <p:nvPr/>
        </p:nvSpPr>
        <p:spPr>
          <a:xfrm>
            <a:off x="548640" y="1892808"/>
            <a:ext cx="6035040" cy="0"/>
          </a:xfrm>
          <a:prstGeom prst="line">
            <a:avLst/>
          </a:prstGeom>
          <a:noFill/>
          <a:ln w="9525">
            <a:solidFill>
              <a:srgbClr val="B9B5AE"/>
            </a:solidFill>
            <a:prstDash val="solid"/>
          </a:ln>
        </p:spPr>
      </p:sp>
      <p:sp>
        <p:nvSpPr>
          <p:cNvPr id="10" name="Text 7"/>
          <p:cNvSpPr txBox="1"/>
          <p:nvPr/>
        </p:nvSpPr>
        <p:spPr>
          <a:xfrm>
            <a:off x="548640" y="2002536"/>
            <a:ext cx="6035040" cy="457200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PLATFORM ECONOMICS</a:t>
            </a:r>
            <a:r>
              <a:rPr lang="en-US" sz="1250" dirty="0">
                <a:solidFill>
                  <a:srgbClr val="1A1A1A"/>
                </a:solidFill>
                <a:latin typeface="Inter" pitchFamily="34" charset="0"/>
                <a:ea typeface="Inter" pitchFamily="34" charset="-122"/>
                <a:cs typeface="Inter" pitchFamily="34" charset="-120"/>
              </a:rPr>
              <a:t> (Rochet &amp; Tirole, 2003; Hagiu &amp; Wright, 2015)</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Platforms price through fees and subsidies across both sides of the market, so revenue </a:t>
            </a:r>
            <a:r>
              <a:rPr lang="en-US" sz="1250" b="1" i="1" dirty="0">
                <a:solidFill>
                  <a:srgbClr val="1A1A1A"/>
                </a:solidFill>
                <a:latin typeface="Inter" pitchFamily="34" charset="0"/>
                <a:ea typeface="Inter" pitchFamily="34" charset="-122"/>
                <a:cs typeface="Inter" pitchFamily="34" charset="-120"/>
              </a:rPr>
              <a:t>need not</a:t>
            </a:r>
            <a:r>
              <a:rPr lang="en-US" sz="1250" dirty="0">
                <a:solidFill>
                  <a:srgbClr val="1A1A1A"/>
                </a:solidFill>
                <a:latin typeface="Inter" pitchFamily="34" charset="0"/>
                <a:ea typeface="Inter" pitchFamily="34" charset="-122"/>
                <a:cs typeface="Inter" pitchFamily="34" charset="-120"/>
              </a:rPr>
              <a:t> track the commerce they coordinate.</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ACCOUNTING</a:t>
            </a:r>
            <a:r>
              <a:rPr lang="en-US" sz="1250" dirty="0">
                <a:solidFill>
                  <a:srgbClr val="1A1A1A"/>
                </a:solidFill>
                <a:latin typeface="Inter" pitchFamily="34" charset="0"/>
                <a:ea typeface="Inter" pitchFamily="34" charset="-122"/>
                <a:cs typeface="Inter" pitchFamily="34" charset="-120"/>
              </a:rPr>
              <a:t> (IFRS 15; Bowen, Davis &amp; Rajgopal, 2002)</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Principal/agent rules and incentives decide </a:t>
            </a:r>
            <a:r>
              <a:rPr lang="en-US" sz="1250" b="1" dirty="0">
                <a:solidFill>
                  <a:srgbClr val="1A1A1A"/>
                </a:solidFill>
                <a:latin typeface="Inter" pitchFamily="34" charset="0"/>
                <a:ea typeface="Inter" pitchFamily="34" charset="-122"/>
                <a:cs typeface="Inter" pitchFamily="34" charset="-120"/>
              </a:rPr>
              <a:t>how much of each sale becomes revenue</a:t>
            </a:r>
            <a:r>
              <a:rPr lang="en-US" sz="1250" dirty="0">
                <a:solidFill>
                  <a:srgbClr val="1A1A1A"/>
                </a:solidFill>
                <a:latin typeface="Inter" pitchFamily="34" charset="0"/>
                <a:ea typeface="Inter" pitchFamily="34" charset="-122"/>
                <a:cs typeface="Inter" pitchFamily="34" charset="-120"/>
              </a:rPr>
              <a:t>, and both can change.</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KPI RESEARCH</a:t>
            </a:r>
            <a:r>
              <a:rPr lang="en-US" sz="1250" dirty="0">
                <a:solidFill>
                  <a:srgbClr val="1A1A1A"/>
                </a:solidFill>
                <a:latin typeface="Inter" pitchFamily="34" charset="0"/>
                <a:ea typeface="Inter" pitchFamily="34" charset="-122"/>
                <a:cs typeface="Inter" pitchFamily="34" charset="-120"/>
              </a:rPr>
              <a:t> (Givoly et al., 2019)</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A reported measure loses information when its </a:t>
            </a:r>
            <a:r>
              <a:rPr lang="en-US" sz="1250" b="1" dirty="0">
                <a:solidFill>
                  <a:srgbClr val="1A1A1A"/>
                </a:solidFill>
                <a:latin typeface="Inter" pitchFamily="34" charset="0"/>
                <a:ea typeface="Inter" pitchFamily="34" charset="-122"/>
                <a:cs typeface="Inter" pitchFamily="34" charset="-120"/>
              </a:rPr>
              <a:t>basis of computation changes</a:t>
            </a:r>
            <a:r>
              <a:rPr lang="en-US" sz="1250" dirty="0">
                <a:solidFill>
                  <a:srgbClr val="1A1A1A"/>
                </a:solidFill>
                <a:latin typeface="Inter" pitchFamily="34" charset="0"/>
                <a:ea typeface="Inter" pitchFamily="34" charset="-122"/>
                <a:cs typeface="Inter" pitchFamily="34" charset="-120"/>
              </a:rPr>
              <a:t> over time.</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MEASUREMENT</a:t>
            </a:r>
            <a:r>
              <a:rPr lang="en-US" sz="1250" dirty="0">
                <a:solidFill>
                  <a:srgbClr val="1A1A1A"/>
                </a:solidFill>
                <a:latin typeface="Inter" pitchFamily="34" charset="0"/>
                <a:ea typeface="Inter" pitchFamily="34" charset="-122"/>
                <a:cs typeface="Inter" pitchFamily="34" charset="-120"/>
              </a:rPr>
              <a:t> (Henderson, Storeygard &amp; Weil, 2012; Ahmad &amp; Schreyer, 2016)</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An indicator must be </a:t>
            </a:r>
            <a:r>
              <a:rPr lang="en-US" sz="1250" b="1" i="1" dirty="0">
                <a:solidFill>
                  <a:srgbClr val="1A1A1A"/>
                </a:solidFill>
                <a:latin typeface="Inter" pitchFamily="34" charset="0"/>
                <a:ea typeface="Inter" pitchFamily="34" charset="-122"/>
                <a:cs typeface="Inter" pitchFamily="34" charset="-120"/>
              </a:rPr>
              <a:t>tested</a:t>
            </a:r>
            <a:r>
              <a:rPr lang="en-US" sz="1250" dirty="0">
                <a:solidFill>
                  <a:srgbClr val="1A1A1A"/>
                </a:solidFill>
                <a:latin typeface="Inter" pitchFamily="34" charset="0"/>
                <a:ea typeface="Inter" pitchFamily="34" charset="-122"/>
                <a:cs typeface="Inter" pitchFamily="34" charset="-120"/>
              </a:rPr>
              <a:t> against what it stands in for. National accounts separate a platform’s service from the commerce it carries.</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DIGITAL RECORDS</a:t>
            </a:r>
            <a:r>
              <a:rPr lang="en-US" sz="1250" dirty="0">
                <a:solidFill>
                  <a:srgbClr val="1A1A1A"/>
                </a:solidFill>
                <a:latin typeface="Inter" pitchFamily="34" charset="0"/>
                <a:ea typeface="Inter" pitchFamily="34" charset="-122"/>
                <a:cs typeface="Inter" pitchFamily="34" charset="-120"/>
              </a:rPr>
              <a:t> (Berg et al., 2020; OECD, 2020)</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Platform records can </a:t>
            </a:r>
            <a:r>
              <a:rPr lang="en-US" sz="1250" b="1" dirty="0">
                <a:solidFill>
                  <a:srgbClr val="1A1A1A"/>
                </a:solidFill>
                <a:latin typeface="Inter" pitchFamily="34" charset="0"/>
                <a:ea typeface="Inter" pitchFamily="34" charset="-122"/>
                <a:cs typeface="Inter" pitchFamily="34" charset="-120"/>
              </a:rPr>
              <a:t>show activity that revenue excludes</a:t>
            </a:r>
            <a:r>
              <a:rPr lang="en-US" sz="1250" dirty="0">
                <a:solidFill>
                  <a:srgbClr val="1A1A1A"/>
                </a:solidFill>
                <a:latin typeface="Inter" pitchFamily="34" charset="0"/>
                <a:ea typeface="Inter" pitchFamily="34" charset="-122"/>
                <a:cs typeface="Inter" pitchFamily="34" charset="-120"/>
              </a:rPr>
              <a:t>, which is why tax rules increasingly draw on them.</a:t>
            </a:r>
            <a:endParaRPr lang="en-US" sz="1150" dirty="0"/>
          </a:p>
        </p:txBody>
      </p:sp>
      <p:sp>
        <p:nvSpPr>
          <p:cNvPr id="11" name="Shape 8"/>
          <p:cNvSpPr/>
          <p:nvPr/>
        </p:nvSpPr>
        <p:spPr>
          <a:xfrm>
            <a:off x="6903720" y="1591056"/>
            <a:ext cx="0" cy="4892040"/>
          </a:xfrm>
          <a:prstGeom prst="line">
            <a:avLst/>
          </a:prstGeom>
          <a:noFill/>
          <a:ln w="9525">
            <a:solidFill>
              <a:srgbClr val="B9B5AE"/>
            </a:solidFill>
            <a:prstDash val="solid"/>
          </a:ln>
        </p:spPr>
      </p:sp>
      <p:sp>
        <p:nvSpPr>
          <p:cNvPr id="12" name="Text 9"/>
          <p:cNvSpPr txBox="1"/>
          <p:nvPr/>
        </p:nvSpPr>
        <p:spPr>
          <a:xfrm>
            <a:off x="7223760" y="1591056"/>
            <a:ext cx="4416552"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What’s missing</a:t>
            </a:r>
            <a:endParaRPr lang="en-US" sz="1450" dirty="0"/>
          </a:p>
        </p:txBody>
      </p:sp>
      <p:sp>
        <p:nvSpPr>
          <p:cNvPr id="13" name="Shape 10"/>
          <p:cNvSpPr/>
          <p:nvPr/>
        </p:nvSpPr>
        <p:spPr>
          <a:xfrm>
            <a:off x="7223760" y="1892808"/>
            <a:ext cx="4416552" cy="0"/>
          </a:xfrm>
          <a:prstGeom prst="line">
            <a:avLst/>
          </a:prstGeom>
          <a:noFill/>
          <a:ln w="9525">
            <a:solidFill>
              <a:srgbClr val="B9B5AE"/>
            </a:solidFill>
            <a:prstDash val="solid"/>
          </a:ln>
        </p:spPr>
      </p:sp>
      <p:sp>
        <p:nvSpPr>
          <p:cNvPr id="14" name="Text 11"/>
          <p:cNvSpPr txBox="1"/>
          <p:nvPr/>
        </p:nvSpPr>
        <p:spPr>
          <a:xfrm>
            <a:off x="7223760" y="2002536"/>
            <a:ext cx="4416552" cy="457200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UNANSWERED:</a:t>
            </a:r>
            <a:endParaRPr lang="en-US" sz="1150" dirty="0"/>
          </a:p>
          <a:p>
            <a:pPr marL="190500" indent="-190500">
              <a:lnSpc>
                <a:spcPct val="105000"/>
              </a:lnSpc>
              <a:spcBef>
                <a:spcPts val="200"/>
              </a:spcBef>
              <a:spcAft>
                <a:spcPts val="100"/>
              </a:spcAft>
              <a:buSzPct val="100000"/>
              <a:buFont typeface="Segoe UI Symbol"/>
              <a:buChar char="→"/>
            </a:pPr>
            <a:r>
              <a:rPr lang="en-US" sz="1250" i="1" dirty="0">
                <a:solidFill>
                  <a:srgbClr val="1A1A1A"/>
                </a:solidFill>
                <a:latin typeface="Inter" pitchFamily="34" charset="0"/>
                <a:ea typeface="Inter" pitchFamily="34" charset="-122"/>
                <a:cs typeface="Inter" pitchFamily="34" charset="-120"/>
              </a:rPr>
              <a:t>When</a:t>
            </a:r>
            <a:r>
              <a:rPr lang="en-US" sz="1250" dirty="0">
                <a:solidFill>
                  <a:srgbClr val="1A1A1A"/>
                </a:solidFill>
                <a:latin typeface="Inter" pitchFamily="34" charset="0"/>
                <a:ea typeface="Inter" pitchFamily="34" charset="-122"/>
                <a:cs typeface="Inter" pitchFamily="34" charset="-120"/>
              </a:rPr>
              <a:t> does revenue stop representing platform commerce?</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Does platform data represent </a:t>
            </a:r>
            <a:r>
              <a:rPr lang="en-US" sz="1250" i="1" dirty="0">
                <a:solidFill>
                  <a:srgbClr val="1A1A1A"/>
                </a:solidFill>
                <a:latin typeface="Inter" pitchFamily="34" charset="0"/>
                <a:ea typeface="Inter" pitchFamily="34" charset="-122"/>
                <a:cs typeface="Inter" pitchFamily="34" charset="-120"/>
              </a:rPr>
              <a:t>national</a:t>
            </a:r>
            <a:r>
              <a:rPr lang="en-US" sz="1250" dirty="0">
                <a:solidFill>
                  <a:srgbClr val="1A1A1A"/>
                </a:solidFill>
                <a:latin typeface="Inter" pitchFamily="34" charset="0"/>
                <a:ea typeface="Inter" pitchFamily="34" charset="-122"/>
                <a:cs typeface="Inter" pitchFamily="34" charset="-120"/>
              </a:rPr>
              <a:t> growth?</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How large do these differences become in practice, and do they persist?</a:t>
            </a:r>
            <a:endParaRPr lang="en-US" sz="1150" dirty="0"/>
          </a:p>
          <a:p>
            <a:pPr indent="0" marL="0">
              <a:lnSpc>
                <a:spcPct val="105000"/>
              </a:lnSpc>
              <a:spcBef>
                <a:spcPts val="11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WHY IT’S HARD:</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It needs </a:t>
            </a:r>
            <a:r>
              <a:rPr lang="en-US" sz="1250" b="1" dirty="0">
                <a:solidFill>
                  <a:srgbClr val="1A1A1A"/>
                </a:solidFill>
                <a:latin typeface="Inter" pitchFamily="34" charset="0"/>
                <a:ea typeface="Inter" pitchFamily="34" charset="-122"/>
                <a:cs typeface="Inter" pitchFamily="34" charset="-120"/>
              </a:rPr>
              <a:t>both numbers from the same company, over time</a:t>
            </a:r>
            <a:r>
              <a:rPr lang="en-US" sz="1250" dirty="0">
                <a:solidFill>
                  <a:srgbClr val="1A1A1A"/>
                </a:solidFill>
                <a:latin typeface="Inter" pitchFamily="34" charset="0"/>
                <a:ea typeface="Inter" pitchFamily="34" charset="-122"/>
                <a:cs typeface="Inter" pitchFamily="34" charset="-120"/>
              </a:rPr>
              <a:t>, plus a </a:t>
            </a:r>
            <a:r>
              <a:rPr lang="en-US" sz="1250" b="1" dirty="0">
                <a:solidFill>
                  <a:srgbClr val="1A1A1A"/>
                </a:solidFill>
                <a:latin typeface="Inter" pitchFamily="34" charset="0"/>
                <a:ea typeface="Inter" pitchFamily="34" charset="-122"/>
                <a:cs typeface="Inter" pitchFamily="34" charset="-120"/>
              </a:rPr>
              <a:t>benchmark of normal drift</a:t>
            </a:r>
            <a:r>
              <a:rPr lang="en-US" sz="1250" dirty="0">
                <a:solidFill>
                  <a:srgbClr val="1A1A1A"/>
                </a:solidFill>
                <a:latin typeface="Inter" pitchFamily="34" charset="0"/>
                <a:ea typeface="Inter" pitchFamily="34" charset="-122"/>
                <a:cs typeface="Inter" pitchFamily="34" charset="-120"/>
              </a:rPr>
              <a:t>. Indonesia adds local issuers reporting both, </a:t>
            </a:r>
            <a:r>
              <a:rPr lang="en-US" sz="1250" i="1" dirty="0">
                <a:solidFill>
                  <a:srgbClr val="1A1A1A"/>
                </a:solidFill>
                <a:latin typeface="Inter" pitchFamily="34" charset="0"/>
                <a:ea typeface="Inter" pitchFamily="34" charset="-122"/>
                <a:cs typeface="Inter" pitchFamily="34" charset="-120"/>
              </a:rPr>
              <a:t>and</a:t>
            </a:r>
            <a:r>
              <a:rPr lang="en-US" sz="1250" dirty="0">
                <a:solidFill>
                  <a:srgbClr val="1A1A1A"/>
                </a:solidFill>
                <a:latin typeface="Inter" pitchFamily="34" charset="0"/>
                <a:ea typeface="Inter" pitchFamily="34" charset="-122"/>
                <a:cs typeface="Inter" pitchFamily="34" charset="-120"/>
              </a:rPr>
              <a:t> national surveys that split online sales by channel.</a:t>
            </a:r>
            <a:endParaRPr lang="en-US" sz="1150" dirty="0"/>
          </a:p>
          <a:p>
            <a:pPr indent="0" marL="0">
              <a:lnSpc>
                <a:spcPct val="105000"/>
              </a:lnSpc>
              <a:spcBef>
                <a:spcPts val="11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THE STUDY’S PLACE:</a:t>
            </a:r>
            <a:endParaRPr lang="en-US" sz="1150" dirty="0"/>
          </a:p>
          <a:p>
            <a:pPr indent="0" marL="0">
              <a:lnSpc>
                <a:spcPct val="105000"/>
              </a:lnSpc>
              <a:spcBef>
                <a:spcPts val="200"/>
              </a:spcBef>
              <a:spcAft>
                <a:spcPts val="100"/>
              </a:spcAft>
              <a:buNone/>
            </a:pPr>
            <a:r>
              <a:rPr lang="en-US" sz="1250" b="1" dirty="0">
                <a:solidFill>
                  <a:srgbClr val="1A1A1A"/>
                </a:solidFill>
                <a:latin typeface="Inter" pitchFamily="34" charset="0"/>
                <a:ea typeface="Inter" pitchFamily="34" charset="-122"/>
                <a:cs typeface="Inter" pitchFamily="34" charset="-120"/>
              </a:rPr>
              <a:t>Directly tests the stability of the revenue–commerce relationship and links it to national measurement.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 THE QUESTION</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8</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Research Question and Hypotheses</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“Does revenue represent the platform, and does the platform represent the country?”</a:t>
            </a:r>
            <a:endParaRPr lang="en-US" sz="1500" dirty="0"/>
          </a:p>
        </p:txBody>
      </p:sp>
      <p:sp>
        <p:nvSpPr>
          <p:cNvPr id="8" name="Text 5"/>
          <p:cNvSpPr txBox="1"/>
          <p:nvPr/>
        </p:nvSpPr>
        <p:spPr>
          <a:xfrm>
            <a:off x="548640" y="1344168"/>
            <a:ext cx="6309360" cy="502920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RESEARCH QUESTION:</a:t>
            </a:r>
            <a:endParaRPr lang="en-US" sz="1150" dirty="0"/>
          </a:p>
          <a:p>
            <a:pPr indent="0" marL="0">
              <a:lnSpc>
                <a:spcPct val="105000"/>
              </a:lnSpc>
              <a:spcBef>
                <a:spcPts val="200"/>
              </a:spcBef>
              <a:spcAft>
                <a:spcPts val="100"/>
              </a:spcAft>
              <a:buNone/>
            </a:pPr>
            <a:r>
              <a:rPr lang="en-US" sz="1250" i="1" dirty="0">
                <a:solidFill>
                  <a:srgbClr val="1A1A1A"/>
                </a:solidFill>
                <a:latin typeface="Inter" pitchFamily="34" charset="0"/>
                <a:ea typeface="Inter" pitchFamily="34" charset="-122"/>
                <a:cs typeface="Inter" pitchFamily="34" charset="-120"/>
              </a:rPr>
              <a:t>How much economic activity remains invisible when digital platforms are measured through their reported revenue, and when does that choice change the conclusion about growth?</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H1 — REVENUE </a:t>
            </a:r>
            <a:r>
              <a:rPr lang="en-US" sz="1150" b="1" spc="80" kern="0" dirty="0">
                <a:solidFill>
                  <a:srgbClr val="1A1A1A"/>
                </a:solidFill>
                <a:latin typeface="Segoe UI Symbol" pitchFamily="34" charset="0"/>
                <a:ea typeface="Segoe UI Symbol" pitchFamily="34" charset="-122"/>
                <a:cs typeface="Segoe UI Symbol" pitchFamily="34" charset="-120"/>
              </a:rPr>
              <a:t>→</a:t>
            </a:r>
            <a:r>
              <a:rPr lang="en-US" sz="1150" b="1" spc="80" kern="0" dirty="0">
                <a:solidFill>
                  <a:srgbClr val="1A1A1A"/>
                </a:solidFill>
                <a:latin typeface="Montserrat" pitchFamily="34" charset="0"/>
                <a:ea typeface="Montserrat" pitchFamily="34" charset="-122"/>
                <a:cs typeface="Montserrat" pitchFamily="34" charset="-120"/>
              </a:rPr>
              <a:t> PLATFORM COMMERCE:</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Transaction value and revenue recognized by the same platform </a:t>
            </a:r>
            <a:r>
              <a:rPr lang="en-US" sz="1250" b="1" dirty="0">
                <a:solidFill>
                  <a:srgbClr val="1A1A1A"/>
                </a:solidFill>
                <a:latin typeface="Inter" pitchFamily="34" charset="0"/>
                <a:ea typeface="Inter" pitchFamily="34" charset="-122"/>
                <a:cs typeface="Inter" pitchFamily="34" charset="-120"/>
              </a:rPr>
              <a:t>grow proportionally over time</a:t>
            </a:r>
            <a:r>
              <a:rPr lang="en-US" sz="1250" dirty="0">
                <a:solidFill>
                  <a:srgbClr val="1A1A1A"/>
                </a:solidFill>
                <a:latin typeface="Inter" pitchFamily="34" charset="0"/>
                <a:ea typeface="Inter" pitchFamily="34" charset="-122"/>
                <a:cs typeface="Inter" pitchFamily="34" charset="-120"/>
              </a:rPr>
              <a:t>.</a:t>
            </a:r>
            <a:endParaRPr lang="en-US" sz="1150" dirty="0"/>
          </a:p>
          <a:p>
            <a:pPr indent="0" marL="0">
              <a:lnSpc>
                <a:spcPct val="105000"/>
              </a:lnSpc>
              <a:spcBef>
                <a:spcPts val="200"/>
              </a:spcBef>
              <a:spcAft>
                <a:spcPts val="100"/>
              </a:spcAft>
              <a:buNone/>
            </a:pPr>
            <a:r>
              <a:rPr lang="en-US" sz="1250" i="1" dirty="0">
                <a:solidFill>
                  <a:srgbClr val="1A1A1A"/>
                </a:solidFill>
                <a:latin typeface="Inter" pitchFamily="34" charset="0"/>
                <a:ea typeface="Inter" pitchFamily="34" charset="-122"/>
                <a:cs typeface="Inter" pitchFamily="34" charset="-120"/>
              </a:rPr>
              <a:t>Why expect a test here: revenue tracks transactions </a:t>
            </a:r>
            <a:r>
              <a:rPr lang="en-US" sz="1250" b="1" i="1" dirty="0">
                <a:solidFill>
                  <a:srgbClr val="1A1A1A"/>
                </a:solidFill>
                <a:latin typeface="Inter" pitchFamily="34" charset="0"/>
                <a:ea typeface="Inter" pitchFamily="34" charset="-122"/>
                <a:cs typeface="Inter" pitchFamily="34" charset="-120"/>
              </a:rPr>
              <a:t>only while the share kept stays constant</a:t>
            </a:r>
            <a:r>
              <a:rPr lang="en-US" sz="1250" i="1" dirty="0">
                <a:solidFill>
                  <a:srgbClr val="1A1A1A"/>
                </a:solidFill>
                <a:latin typeface="Inter" pitchFamily="34" charset="0"/>
                <a:ea typeface="Inter" pitchFamily="34" charset="-122"/>
                <a:cs typeface="Inter" pitchFamily="34" charset="-120"/>
              </a:rPr>
              <a:t>, and fees, incentives and accounting treatment all move it.</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H2 — PLATFORM COMMERCE </a:t>
            </a:r>
            <a:r>
              <a:rPr lang="en-US" sz="1150" b="1" spc="80" kern="0" dirty="0">
                <a:solidFill>
                  <a:srgbClr val="1A1A1A"/>
                </a:solidFill>
                <a:latin typeface="Segoe UI Symbol" pitchFamily="34" charset="0"/>
                <a:ea typeface="Segoe UI Symbol" pitchFamily="34" charset="-122"/>
                <a:cs typeface="Segoe UI Symbol" pitchFamily="34" charset="-120"/>
              </a:rPr>
              <a:t>→</a:t>
            </a:r>
            <a:r>
              <a:rPr lang="en-US" sz="1150" b="1" spc="80" kern="0" dirty="0">
                <a:solidFill>
                  <a:srgbClr val="1A1A1A"/>
                </a:solidFill>
                <a:latin typeface="Montserrat" pitchFamily="34" charset="0"/>
                <a:ea typeface="Montserrat" pitchFamily="34" charset="-122"/>
                <a:cs typeface="Montserrat" pitchFamily="34" charset="-120"/>
              </a:rPr>
              <a:t> NATIONAL GROWTH:</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National e-commerce growth comes mainly from </a:t>
            </a:r>
            <a:r>
              <a:rPr lang="en-US" sz="1250" b="1" dirty="0">
                <a:solidFill>
                  <a:srgbClr val="1A1A1A"/>
                </a:solidFill>
                <a:latin typeface="Inter" pitchFamily="34" charset="0"/>
                <a:ea typeface="Inter" pitchFamily="34" charset="-122"/>
                <a:cs typeface="Inter" pitchFamily="34" charset="-120"/>
              </a:rPr>
              <a:t>more participating businesses</a:t>
            </a:r>
            <a:r>
              <a:rPr lang="en-US" sz="1250" dirty="0">
                <a:solidFill>
                  <a:srgbClr val="1A1A1A"/>
                </a:solidFill>
                <a:latin typeface="Inter" pitchFamily="34" charset="0"/>
                <a:ea typeface="Inter" pitchFamily="34" charset="-122"/>
                <a:cs typeface="Inter" pitchFamily="34" charset="-120"/>
              </a:rPr>
              <a:t>, not higher sales per business.</a:t>
            </a:r>
            <a:endParaRPr lang="en-US" sz="1150" dirty="0"/>
          </a:p>
          <a:p>
            <a:pPr indent="0" marL="0">
              <a:lnSpc>
                <a:spcPct val="105000"/>
              </a:lnSpc>
              <a:spcBef>
                <a:spcPts val="200"/>
              </a:spcBef>
              <a:spcAft>
                <a:spcPts val="100"/>
              </a:spcAft>
              <a:buNone/>
            </a:pPr>
            <a:r>
              <a:rPr lang="en-US" sz="1250" i="1" dirty="0">
                <a:solidFill>
                  <a:srgbClr val="1A1A1A"/>
                </a:solidFill>
                <a:latin typeface="Inter" pitchFamily="34" charset="0"/>
                <a:ea typeface="Inter" pitchFamily="34" charset="-122"/>
                <a:cs typeface="Inter" pitchFamily="34" charset="-120"/>
              </a:rPr>
              <a:t>Why it matters: growth can come from existing sellers selling more or from more sellers (Hummels &amp; Klenow, 2005). Growth through more sellers can occur in </a:t>
            </a:r>
            <a:r>
              <a:rPr lang="en-US" sz="1250" b="1" i="1" dirty="0">
                <a:solidFill>
                  <a:srgbClr val="1A1A1A"/>
                </a:solidFill>
                <a:latin typeface="Inter" pitchFamily="34" charset="0"/>
                <a:ea typeface="Inter" pitchFamily="34" charset="-122"/>
                <a:cs typeface="Inter" pitchFamily="34" charset="-120"/>
              </a:rPr>
              <a:t>channels platform records don’t cover</a:t>
            </a:r>
            <a:r>
              <a:rPr lang="en-US" sz="1250" i="1" dirty="0">
                <a:solidFill>
                  <a:srgbClr val="1A1A1A"/>
                </a:solidFill>
                <a:latin typeface="Inter" pitchFamily="34" charset="0"/>
                <a:ea typeface="Inter" pitchFamily="34" charset="-122"/>
                <a:cs typeface="Inter" pitchFamily="34" charset="-120"/>
              </a:rPr>
              <a:t>.</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SUPPORTING ANALYSES:</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Where national growth occurs, by sales channel</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Whether marketplace sellers keep better financial records</a:t>
            </a:r>
            <a:endParaRPr lang="en-US" sz="1150" dirty="0"/>
          </a:p>
        </p:txBody>
      </p:sp>
      <p:sp>
        <p:nvSpPr>
          <p:cNvPr id="9" name="Shape 6"/>
          <p:cNvSpPr/>
          <p:nvPr/>
        </p:nvSpPr>
        <p:spPr>
          <a:xfrm>
            <a:off x="7589520" y="1828800"/>
            <a:ext cx="3749040" cy="3749040"/>
          </a:xfrm>
          <a:prstGeom prst="ellipse">
            <a:avLst/>
          </a:prstGeom>
          <a:solidFill>
            <a:srgbClr val="ECEAE5"/>
          </a:solidFill>
          <a:ln w="19050">
            <a:solidFill>
              <a:srgbClr val="1A1A1A"/>
            </a:solidFill>
            <a:prstDash val="solid"/>
          </a:ln>
        </p:spPr>
      </p:sp>
      <p:sp>
        <p:nvSpPr>
          <p:cNvPr id="10" name="Shape 7"/>
          <p:cNvSpPr/>
          <p:nvPr/>
        </p:nvSpPr>
        <p:spPr>
          <a:xfrm>
            <a:off x="7863840" y="3017520"/>
            <a:ext cx="2286000" cy="2286000"/>
          </a:xfrm>
          <a:prstGeom prst="ellipse">
            <a:avLst/>
          </a:prstGeom>
          <a:solidFill>
            <a:srgbClr val="D5E1E4"/>
          </a:solidFill>
          <a:ln w="19050">
            <a:solidFill>
              <a:srgbClr val="1F4E5F"/>
            </a:solidFill>
            <a:prstDash val="solid"/>
          </a:ln>
        </p:spPr>
      </p:sp>
      <p:sp>
        <p:nvSpPr>
          <p:cNvPr id="11" name="Shape 8"/>
          <p:cNvSpPr/>
          <p:nvPr/>
        </p:nvSpPr>
        <p:spPr>
          <a:xfrm>
            <a:off x="8394192" y="4169664"/>
            <a:ext cx="859536" cy="859536"/>
          </a:xfrm>
          <a:prstGeom prst="ellipse">
            <a:avLst/>
          </a:prstGeom>
          <a:solidFill>
            <a:srgbClr val="F3DFBD"/>
          </a:solidFill>
          <a:ln w="19050">
            <a:solidFill>
              <a:srgbClr val="C58A2E"/>
            </a:solidFill>
            <a:prstDash val="solid"/>
          </a:ln>
        </p:spPr>
      </p:sp>
      <p:sp>
        <p:nvSpPr>
          <p:cNvPr id="12" name="Text 9"/>
          <p:cNvSpPr txBox="1"/>
          <p:nvPr/>
        </p:nvSpPr>
        <p:spPr>
          <a:xfrm>
            <a:off x="8183880" y="2103120"/>
            <a:ext cx="2560320" cy="411480"/>
          </a:xfrm>
          <a:prstGeom prst="rect">
            <a:avLst/>
          </a:prstGeom>
          <a:noFill/>
          <a:ln/>
        </p:spPr>
        <p:txBody>
          <a:bodyPr wrap="square" lIns="0" tIns="0" rIns="0" bIns="0" rtlCol="0" anchor="t"/>
          <a:lstStyle/>
          <a:p>
            <a:pPr algn="ctr" indent="0" marL="0">
              <a:lnSpc>
                <a:spcPct val="105000"/>
              </a:lnSpc>
              <a:buNone/>
            </a:pPr>
            <a:r>
              <a:rPr lang="en-US" sz="1000" b="1" dirty="0">
                <a:solidFill>
                  <a:srgbClr val="1A1A1A"/>
                </a:solidFill>
                <a:latin typeface="Inter" pitchFamily="34" charset="0"/>
                <a:ea typeface="Inter" pitchFamily="34" charset="-122"/>
                <a:cs typeface="Inter" pitchFamily="34" charset="-120"/>
              </a:rPr>
              <a:t>All online commerce</a:t>
            </a:r>
            <a:endParaRPr lang="en-US" sz="1000" dirty="0"/>
          </a:p>
          <a:p>
            <a:pPr algn="ctr" indent="0" marL="0">
              <a:lnSpc>
                <a:spcPct val="105000"/>
              </a:lnSpc>
              <a:buNone/>
            </a:pPr>
            <a:r>
              <a:rPr lang="en-US" sz="1000" dirty="0">
                <a:solidFill>
                  <a:srgbClr val="1A1A1A"/>
                </a:solidFill>
                <a:latin typeface="Inter" pitchFamily="34" charset="0"/>
                <a:ea typeface="Inter" pitchFamily="34" charset="-122"/>
                <a:cs typeface="Inter" pitchFamily="34" charset="-120"/>
              </a:rPr>
              <a:t>national statistics (BPS)</a:t>
            </a:r>
            <a:endParaRPr lang="en-US" sz="1000" dirty="0"/>
          </a:p>
        </p:txBody>
      </p:sp>
      <p:sp>
        <p:nvSpPr>
          <p:cNvPr id="13" name="Text 10"/>
          <p:cNvSpPr txBox="1"/>
          <p:nvPr/>
        </p:nvSpPr>
        <p:spPr>
          <a:xfrm>
            <a:off x="8092440" y="3246120"/>
            <a:ext cx="1828800" cy="384048"/>
          </a:xfrm>
          <a:prstGeom prst="rect">
            <a:avLst/>
          </a:prstGeom>
          <a:noFill/>
          <a:ln/>
        </p:spPr>
        <p:txBody>
          <a:bodyPr wrap="square" lIns="0" tIns="0" rIns="0" bIns="0" rtlCol="0" anchor="t"/>
          <a:lstStyle/>
          <a:p>
            <a:pPr algn="ctr" indent="0" marL="0">
              <a:lnSpc>
                <a:spcPct val="105000"/>
              </a:lnSpc>
              <a:buNone/>
            </a:pPr>
            <a:r>
              <a:rPr lang="en-US" sz="950" b="1" dirty="0">
                <a:solidFill>
                  <a:srgbClr val="1F4E5F"/>
                </a:solidFill>
                <a:latin typeface="Inter" pitchFamily="34" charset="0"/>
                <a:ea typeface="Inter" pitchFamily="34" charset="-122"/>
                <a:cs typeface="Inter" pitchFamily="34" charset="-120"/>
              </a:rPr>
              <a:t>Platform commerce</a:t>
            </a:r>
            <a:endParaRPr lang="en-US" sz="950" dirty="0"/>
          </a:p>
          <a:p>
            <a:pPr algn="ctr" indent="0" marL="0">
              <a:lnSpc>
                <a:spcPct val="105000"/>
              </a:lnSpc>
              <a:buNone/>
            </a:pPr>
            <a:r>
              <a:rPr lang="en-US" sz="950" i="1" dirty="0">
                <a:solidFill>
                  <a:srgbClr val="1F4E5F"/>
                </a:solidFill>
                <a:latin typeface="Inter" pitchFamily="34" charset="0"/>
                <a:ea typeface="Inter" pitchFamily="34" charset="-122"/>
                <a:cs typeface="Inter" pitchFamily="34" charset="-120"/>
              </a:rPr>
              <a:t>transaction value</a:t>
            </a:r>
            <a:endParaRPr lang="en-US" sz="950" dirty="0"/>
          </a:p>
        </p:txBody>
      </p:sp>
      <p:sp>
        <p:nvSpPr>
          <p:cNvPr id="14" name="Text 11"/>
          <p:cNvSpPr txBox="1"/>
          <p:nvPr/>
        </p:nvSpPr>
        <p:spPr>
          <a:xfrm>
            <a:off x="8366760" y="4489704"/>
            <a:ext cx="914400" cy="228600"/>
          </a:xfrm>
          <a:prstGeom prst="rect">
            <a:avLst/>
          </a:prstGeom>
          <a:noFill/>
          <a:ln/>
        </p:spPr>
        <p:txBody>
          <a:bodyPr wrap="square" lIns="0" tIns="0" rIns="0" bIns="0" rtlCol="0" anchor="t"/>
          <a:lstStyle/>
          <a:p>
            <a:pPr algn="ctr" indent="0" marL="0">
              <a:lnSpc>
                <a:spcPct val="105000"/>
              </a:lnSpc>
              <a:buNone/>
            </a:pPr>
            <a:r>
              <a:rPr lang="en-US" sz="950" b="1" dirty="0">
                <a:solidFill>
                  <a:srgbClr val="7A5A1E"/>
                </a:solidFill>
                <a:latin typeface="Inter" pitchFamily="34" charset="0"/>
                <a:ea typeface="Inter" pitchFamily="34" charset="-122"/>
                <a:cs typeface="Inter" pitchFamily="34" charset="-120"/>
              </a:rPr>
              <a:t>Revenue</a:t>
            </a:r>
            <a:endParaRPr lang="en-US" sz="950" dirty="0"/>
          </a:p>
        </p:txBody>
      </p:sp>
      <p:sp>
        <p:nvSpPr>
          <p:cNvPr id="15" name="Shape 12"/>
          <p:cNvSpPr/>
          <p:nvPr/>
        </p:nvSpPr>
        <p:spPr>
          <a:xfrm>
            <a:off x="8913937" y="4771705"/>
            <a:ext cx="438912" cy="274320"/>
          </a:xfrm>
          <a:prstGeom prst="roundRect">
            <a:avLst>
              <a:gd name="adj" fmla="val 23333"/>
            </a:avLst>
          </a:prstGeom>
          <a:solidFill>
            <a:srgbClr val="7A5A1E"/>
          </a:solidFill>
          <a:ln w="15875">
            <a:solidFill>
              <a:srgbClr val="FFFFFF"/>
            </a:solidFill>
            <a:prstDash val="solid"/>
          </a:ln>
        </p:spPr>
      </p:sp>
      <p:sp>
        <p:nvSpPr>
          <p:cNvPr id="16" name="Text 13"/>
          <p:cNvSpPr txBox="1"/>
          <p:nvPr/>
        </p:nvSpPr>
        <p:spPr>
          <a:xfrm>
            <a:off x="8913937" y="4771705"/>
            <a:ext cx="438912" cy="2743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Montserrat" pitchFamily="34" charset="0"/>
                <a:ea typeface="Montserrat" pitchFamily="34" charset="-122"/>
                <a:cs typeface="Montserrat" pitchFamily="34" charset="-120"/>
              </a:rPr>
              <a:t>H1</a:t>
            </a:r>
            <a:endParaRPr lang="en-US" sz="1050" dirty="0"/>
          </a:p>
        </p:txBody>
      </p:sp>
      <p:sp>
        <p:nvSpPr>
          <p:cNvPr id="17" name="Shape 14"/>
          <p:cNvSpPr/>
          <p:nvPr/>
        </p:nvSpPr>
        <p:spPr>
          <a:xfrm>
            <a:off x="9930384" y="4023360"/>
            <a:ext cx="438912" cy="274320"/>
          </a:xfrm>
          <a:prstGeom prst="roundRect">
            <a:avLst>
              <a:gd name="adj" fmla="val 23333"/>
            </a:avLst>
          </a:prstGeom>
          <a:solidFill>
            <a:srgbClr val="1F4E5F"/>
          </a:solidFill>
          <a:ln w="15875">
            <a:solidFill>
              <a:srgbClr val="FFFFFF"/>
            </a:solidFill>
            <a:prstDash val="solid"/>
          </a:ln>
        </p:spPr>
      </p:sp>
      <p:sp>
        <p:nvSpPr>
          <p:cNvPr id="18" name="Text 15"/>
          <p:cNvSpPr txBox="1"/>
          <p:nvPr/>
        </p:nvSpPr>
        <p:spPr>
          <a:xfrm>
            <a:off x="9930384" y="4023360"/>
            <a:ext cx="438912" cy="2743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Montserrat" pitchFamily="34" charset="0"/>
                <a:ea typeface="Montserrat" pitchFamily="34" charset="-122"/>
                <a:cs typeface="Montserrat" pitchFamily="34" charset="-120"/>
              </a:rPr>
              <a:t>H2</a:t>
            </a:r>
            <a:endParaRPr lang="en-US" sz="1050" dirty="0"/>
          </a:p>
        </p:txBody>
      </p:sp>
      <p:sp>
        <p:nvSpPr>
          <p:cNvPr id="19" name="Text 16"/>
          <p:cNvSpPr txBox="1"/>
          <p:nvPr/>
        </p:nvSpPr>
        <p:spPr>
          <a:xfrm>
            <a:off x="7040880" y="5669280"/>
            <a:ext cx="4846320" cy="548640"/>
          </a:xfrm>
          <a:prstGeom prst="rect">
            <a:avLst/>
          </a:prstGeom>
          <a:noFill/>
          <a:ln/>
        </p:spPr>
        <p:txBody>
          <a:bodyPr wrap="square" lIns="0" tIns="0" rIns="0" bIns="0" rtlCol="0" anchor="t"/>
          <a:lstStyle/>
          <a:p>
            <a:pPr algn="ctr" indent="0" marL="0">
              <a:lnSpc>
                <a:spcPct val="105000"/>
              </a:lnSpc>
              <a:buNone/>
            </a:pPr>
            <a:r>
              <a:rPr lang="en-US" sz="950" b="1" dirty="0">
                <a:solidFill>
                  <a:srgbClr val="5F5C57"/>
                </a:solidFill>
                <a:latin typeface="Inter" pitchFamily="34" charset="0"/>
                <a:ea typeface="Inter" pitchFamily="34" charset="-122"/>
                <a:cs typeface="Inter" pitchFamily="34" charset="-120"/>
              </a:rPr>
              <a:t>H1</a:t>
            </a:r>
            <a:r>
              <a:rPr lang="en-US" sz="950" dirty="0">
                <a:solidFill>
                  <a:srgbClr val="5F5C57"/>
                </a:solidFill>
                <a:latin typeface="Inter" pitchFamily="34" charset="0"/>
                <a:ea typeface="Inter" pitchFamily="34" charset="-122"/>
                <a:cs typeface="Inter" pitchFamily="34" charset="-120"/>
              </a:rPr>
              <a:t> (inner boundary): does revenue track platform commerce?</a:t>
            </a:r>
            <a:endParaRPr lang="en-US" sz="950" dirty="0"/>
          </a:p>
          <a:p>
            <a:pPr algn="ctr" indent="0" marL="0">
              <a:lnSpc>
                <a:spcPct val="105000"/>
              </a:lnSpc>
              <a:buNone/>
            </a:pPr>
            <a:r>
              <a:rPr lang="en-US" sz="950" b="1" dirty="0">
                <a:solidFill>
                  <a:srgbClr val="5F5C57"/>
                </a:solidFill>
                <a:latin typeface="Inter" pitchFamily="34" charset="0"/>
                <a:ea typeface="Inter" pitchFamily="34" charset="-122"/>
                <a:cs typeface="Inter" pitchFamily="34" charset="-120"/>
              </a:rPr>
              <a:t>H2</a:t>
            </a:r>
            <a:r>
              <a:rPr lang="en-US" sz="950" dirty="0">
                <a:solidFill>
                  <a:srgbClr val="5F5C57"/>
                </a:solidFill>
                <a:latin typeface="Inter" pitchFamily="34" charset="0"/>
                <a:ea typeface="Inter" pitchFamily="34" charset="-122"/>
                <a:cs typeface="Inter" pitchFamily="34" charset="-120"/>
              </a:rPr>
              <a:t> (outer boundary): does platform commerce track national growth?</a:t>
            </a:r>
            <a:endParaRPr lang="en-US" sz="950" dirty="0"/>
          </a:p>
          <a:p>
            <a:pPr algn="ctr" indent="0" marL="0">
              <a:lnSpc>
                <a:spcPct val="105000"/>
              </a:lnSpc>
              <a:buNone/>
            </a:pPr>
            <a:r>
              <a:rPr lang="en-US" sz="950" i="1" dirty="0">
                <a:solidFill>
                  <a:srgbClr val="5F5C57"/>
                </a:solidFill>
                <a:latin typeface="Inter" pitchFamily="34" charset="0"/>
                <a:ea typeface="Inter" pitchFamily="34" charset="-122"/>
                <a:cs typeface="Inter" pitchFamily="34" charset="-120"/>
              </a:rPr>
              <a:t>Illustrative only; circle sizes not to scale.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 THE QUESTION</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9</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From Question to Measurement</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“The size of the gap isn’t the test. Whether it stays stable is.”</a:t>
            </a:r>
            <a:endParaRPr lang="en-US" sz="1500" dirty="0"/>
          </a:p>
        </p:txBody>
      </p:sp>
      <p:sp>
        <p:nvSpPr>
          <p:cNvPr id="8" name="Text 5"/>
          <p:cNvSpPr txBox="1"/>
          <p:nvPr/>
        </p:nvSpPr>
        <p:spPr>
          <a:xfrm>
            <a:off x="548640" y="1344168"/>
            <a:ext cx="5989320" cy="502920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THE LOGIC:</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Revenue = </a:t>
            </a:r>
            <a:r>
              <a:rPr lang="en-US" sz="1250" b="1" dirty="0">
                <a:solidFill>
                  <a:srgbClr val="1A1A1A"/>
                </a:solidFill>
                <a:latin typeface="Inter" pitchFamily="34" charset="0"/>
                <a:ea typeface="Inter" pitchFamily="34" charset="-122"/>
                <a:cs typeface="Inter" pitchFamily="34" charset="-120"/>
              </a:rPr>
              <a:t>share kept × transaction value</a:t>
            </a:r>
            <a:r>
              <a:rPr lang="en-US" sz="1250" dirty="0">
                <a:solidFill>
                  <a:srgbClr val="1A1A1A"/>
                </a:solidFill>
                <a:latin typeface="Inter" pitchFamily="34" charset="0"/>
                <a:ea typeface="Inter" pitchFamily="34" charset="-122"/>
                <a:cs typeface="Inter" pitchFamily="34" charset="-120"/>
              </a:rPr>
              <a:t>. If the share </a:t>
            </a:r>
            <a:r>
              <a:rPr lang="en-US" sz="1250" b="1" dirty="0">
                <a:solidFill>
                  <a:srgbClr val="1A1A1A"/>
                </a:solidFill>
                <a:latin typeface="Inter" pitchFamily="34" charset="0"/>
                <a:ea typeface="Inter" pitchFamily="34" charset="-122"/>
                <a:cs typeface="Inter" pitchFamily="34" charset="-120"/>
              </a:rPr>
              <a:t>holds steady</a:t>
            </a:r>
            <a:r>
              <a:rPr lang="en-US" sz="1250" dirty="0">
                <a:solidFill>
                  <a:srgbClr val="1A1A1A"/>
                </a:solidFill>
                <a:latin typeface="Inter" pitchFamily="34" charset="0"/>
                <a:ea typeface="Inter" pitchFamily="34" charset="-122"/>
                <a:cs typeface="Inter" pitchFamily="34" charset="-120"/>
              </a:rPr>
              <a:t>, revenue and transactions grow together; if it moves, revenue tells a different growth story.</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WHY D, NOT E:</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E describes a level at one point in time, and levels differ with the business model. D asks </a:t>
            </a:r>
            <a:r>
              <a:rPr lang="en-US" sz="1250" b="1" dirty="0">
                <a:solidFill>
                  <a:srgbClr val="1A1A1A"/>
                </a:solidFill>
                <a:latin typeface="Inter" pitchFamily="34" charset="0"/>
                <a:ea typeface="Inter" pitchFamily="34" charset="-122"/>
                <a:cs typeface="Inter" pitchFamily="34" charset="-120"/>
              </a:rPr>
              <a:t>whether that level moves</a:t>
            </a:r>
            <a:r>
              <a:rPr lang="en-US" sz="1250" dirty="0">
                <a:solidFill>
                  <a:srgbClr val="1A1A1A"/>
                </a:solidFill>
                <a:latin typeface="Inter" pitchFamily="34" charset="0"/>
                <a:ea typeface="Inter" pitchFamily="34" charset="-122"/>
                <a:cs typeface="Inter" pitchFamily="34" charset="-120"/>
              </a:rPr>
              <a:t>, and that is what decides whether revenue growth still tracks commerce growth.</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WHAT THE DATA MUST SHOW:</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H1:</a:t>
            </a:r>
            <a:r>
              <a:rPr lang="en-US" sz="1250" dirty="0">
                <a:solidFill>
                  <a:srgbClr val="1A1A1A"/>
                </a:solidFill>
                <a:latin typeface="Inter" pitchFamily="34" charset="0"/>
                <a:ea typeface="Inter" pitchFamily="34" charset="-122"/>
                <a:cs typeface="Inter" pitchFamily="34" charset="-120"/>
              </a:rPr>
              <a:t> does revenue growth remain close to transaction-value growth within platforms?</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Benchmark:</a:t>
            </a:r>
            <a:r>
              <a:rPr lang="en-US" sz="1250" dirty="0">
                <a:solidFill>
                  <a:srgbClr val="1A1A1A"/>
                </a:solidFill>
                <a:latin typeface="Inter" pitchFamily="34" charset="0"/>
                <a:ea typeface="Inter" pitchFamily="34" charset="-122"/>
                <a:cs typeface="Inter" pitchFamily="34" charset="-120"/>
              </a:rPr>
              <a:t> is the observed |D| unusually large relative to comparable listed platforms?</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H2:</a:t>
            </a:r>
            <a:r>
              <a:rPr lang="en-US" sz="1250" dirty="0">
                <a:solidFill>
                  <a:srgbClr val="1A1A1A"/>
                </a:solidFill>
                <a:latin typeface="Inter" pitchFamily="34" charset="0"/>
                <a:ea typeface="Inter" pitchFamily="34" charset="-122"/>
                <a:cs typeface="Inter" pitchFamily="34" charset="-120"/>
              </a:rPr>
              <a:t> does national growth come mainly from more participating businesses?</a:t>
            </a:r>
            <a:endParaRPr lang="en-US" sz="1150" dirty="0"/>
          </a:p>
        </p:txBody>
      </p:sp>
      <p:sp>
        <p:nvSpPr>
          <p:cNvPr id="9" name="Shape 6"/>
          <p:cNvSpPr/>
          <p:nvPr/>
        </p:nvSpPr>
        <p:spPr>
          <a:xfrm>
            <a:off x="6858000" y="1344168"/>
            <a:ext cx="0" cy="4297680"/>
          </a:xfrm>
          <a:prstGeom prst="line">
            <a:avLst/>
          </a:prstGeom>
          <a:noFill/>
          <a:ln w="9525">
            <a:solidFill>
              <a:srgbClr val="B9B5AE"/>
            </a:solidFill>
            <a:prstDash val="solid"/>
          </a:ln>
        </p:spPr>
      </p:sp>
      <p:sp>
        <p:nvSpPr>
          <p:cNvPr id="10" name="Text 7"/>
          <p:cNvSpPr txBox="1"/>
          <p:nvPr/>
        </p:nvSpPr>
        <p:spPr>
          <a:xfrm>
            <a:off x="7178040" y="1389888"/>
            <a:ext cx="4480560" cy="365760"/>
          </a:xfrm>
          <a:prstGeom prst="rect">
            <a:avLst/>
          </a:prstGeom>
          <a:noFill/>
          <a:ln/>
        </p:spPr>
        <p:txBody>
          <a:bodyPr wrap="square" lIns="0" tIns="0" rIns="0" bIns="0" rtlCol="0" anchor="t"/>
          <a:lstStyle/>
          <a:p>
            <a:pPr algn="l" indent="0" marL="0">
              <a:lnSpc>
                <a:spcPct val="100000"/>
              </a:lnSpc>
              <a:buNone/>
            </a:pPr>
            <a:r>
              <a:rPr lang="en-US" sz="2000" dirty="0">
                <a:solidFill>
                  <a:srgbClr val="1A1A1A"/>
                </a:solidFill>
                <a:latin typeface="Montserrat SemiBold" pitchFamily="34" charset="0"/>
                <a:ea typeface="Montserrat SemiBold" pitchFamily="34" charset="-122"/>
                <a:cs typeface="Montserrat SemiBold" pitchFamily="34" charset="-120"/>
              </a:rPr>
              <a:t>W = V − R</a:t>
            </a:r>
            <a:endParaRPr lang="en-US" sz="2000" dirty="0"/>
          </a:p>
        </p:txBody>
      </p:sp>
      <p:sp>
        <p:nvSpPr>
          <p:cNvPr id="11" name="Text 8"/>
          <p:cNvSpPr txBox="1"/>
          <p:nvPr/>
        </p:nvSpPr>
        <p:spPr>
          <a:xfrm>
            <a:off x="7178040" y="1801368"/>
            <a:ext cx="4480560" cy="228600"/>
          </a:xfrm>
          <a:prstGeom prst="rect">
            <a:avLst/>
          </a:prstGeom>
          <a:noFill/>
          <a:ln/>
        </p:spPr>
        <p:txBody>
          <a:bodyPr wrap="square" lIns="0" tIns="0" rIns="0" bIns="0" rtlCol="0" anchor="t"/>
          <a:lstStyle/>
          <a:p>
            <a:pPr algn="l" indent="0" marL="0">
              <a:lnSpc>
                <a:spcPct val="105000"/>
              </a:lnSpc>
              <a:buNone/>
            </a:pPr>
            <a:r>
              <a:rPr lang="en-US" sz="1100" dirty="0">
                <a:solidFill>
                  <a:srgbClr val="5F5C57"/>
                </a:solidFill>
                <a:latin typeface="Inter" pitchFamily="34" charset="0"/>
                <a:ea typeface="Inter" pitchFamily="34" charset="-122"/>
                <a:cs typeface="Inter" pitchFamily="34" charset="-120"/>
              </a:rPr>
              <a:t>Invisible wedge: the level of the gap, in currency units</a:t>
            </a:r>
            <a:endParaRPr lang="en-US" sz="1100" dirty="0"/>
          </a:p>
        </p:txBody>
      </p:sp>
      <p:sp>
        <p:nvSpPr>
          <p:cNvPr id="12" name="Text 9"/>
          <p:cNvSpPr txBox="1"/>
          <p:nvPr/>
        </p:nvSpPr>
        <p:spPr>
          <a:xfrm>
            <a:off x="7178040" y="2304288"/>
            <a:ext cx="4480560" cy="365760"/>
          </a:xfrm>
          <a:prstGeom prst="rect">
            <a:avLst/>
          </a:prstGeom>
          <a:noFill/>
          <a:ln/>
        </p:spPr>
        <p:txBody>
          <a:bodyPr wrap="square" lIns="0" tIns="0" rIns="0" bIns="0" rtlCol="0" anchor="t"/>
          <a:lstStyle/>
          <a:p>
            <a:pPr algn="l" indent="0" marL="0">
              <a:lnSpc>
                <a:spcPct val="100000"/>
              </a:lnSpc>
              <a:buNone/>
            </a:pPr>
            <a:r>
              <a:rPr lang="en-US" sz="2000" dirty="0">
                <a:solidFill>
                  <a:srgbClr val="1A1A1A"/>
                </a:solidFill>
                <a:latin typeface="Montserrat SemiBold" pitchFamily="34" charset="0"/>
                <a:ea typeface="Montserrat SemiBold" pitchFamily="34" charset="-122"/>
                <a:cs typeface="Montserrat SemiBold" pitchFamily="34" charset="-120"/>
              </a:rPr>
              <a:t>E = W / R = 1/m − 1</a:t>
            </a:r>
            <a:endParaRPr lang="en-US" sz="2000" dirty="0"/>
          </a:p>
        </p:txBody>
      </p:sp>
      <p:sp>
        <p:nvSpPr>
          <p:cNvPr id="13" name="Text 10"/>
          <p:cNvSpPr txBox="1"/>
          <p:nvPr/>
        </p:nvSpPr>
        <p:spPr>
          <a:xfrm>
            <a:off x="7178040" y="2715768"/>
            <a:ext cx="4480560" cy="411480"/>
          </a:xfrm>
          <a:prstGeom prst="rect">
            <a:avLst/>
          </a:prstGeom>
          <a:noFill/>
          <a:ln/>
        </p:spPr>
        <p:txBody>
          <a:bodyPr wrap="square" lIns="0" tIns="0" rIns="0" bIns="0" rtlCol="0" anchor="t"/>
          <a:lstStyle/>
          <a:p>
            <a:pPr algn="l" indent="0" marL="0">
              <a:lnSpc>
                <a:spcPct val="105000"/>
              </a:lnSpc>
              <a:buNone/>
            </a:pPr>
            <a:r>
              <a:rPr lang="en-US" sz="1100" dirty="0">
                <a:solidFill>
                  <a:srgbClr val="5F5C57"/>
                </a:solidFill>
                <a:latin typeface="Inter" pitchFamily="34" charset="0"/>
                <a:ea typeface="Inter" pitchFamily="34" charset="-122"/>
                <a:cs typeface="Inter" pitchFamily="34" charset="-120"/>
              </a:rPr>
              <a:t>Ecosystem Ratio: the gap relative to revenue (m = R/V, the share kept)</a:t>
            </a:r>
            <a:endParaRPr lang="en-US" sz="1100" dirty="0"/>
          </a:p>
        </p:txBody>
      </p:sp>
      <p:sp>
        <p:nvSpPr>
          <p:cNvPr id="14" name="Shape 11"/>
          <p:cNvSpPr/>
          <p:nvPr/>
        </p:nvSpPr>
        <p:spPr>
          <a:xfrm>
            <a:off x="7178040" y="3355848"/>
            <a:ext cx="45720" cy="1005840"/>
          </a:xfrm>
          <a:prstGeom prst="rect">
            <a:avLst/>
          </a:prstGeom>
          <a:solidFill>
            <a:srgbClr val="1F4E5F"/>
          </a:solidFill>
          <a:ln w="12700">
            <a:solidFill>
              <a:srgbClr val="1F4E5F"/>
            </a:solidFill>
            <a:prstDash val="solid"/>
          </a:ln>
        </p:spPr>
      </p:sp>
      <p:sp>
        <p:nvSpPr>
          <p:cNvPr id="15" name="Text 12"/>
          <p:cNvSpPr txBox="1"/>
          <p:nvPr/>
        </p:nvSpPr>
        <p:spPr>
          <a:xfrm>
            <a:off x="7360920" y="3374136"/>
            <a:ext cx="4480560" cy="457200"/>
          </a:xfrm>
          <a:prstGeom prst="rect">
            <a:avLst/>
          </a:prstGeom>
          <a:noFill/>
          <a:ln/>
        </p:spPr>
        <p:txBody>
          <a:bodyPr wrap="square" lIns="0" tIns="0" rIns="0" bIns="0" rtlCol="0" anchor="t"/>
          <a:lstStyle/>
          <a:p>
            <a:pPr algn="l" indent="0" marL="0">
              <a:lnSpc>
                <a:spcPct val="100000"/>
              </a:lnSpc>
              <a:buNone/>
            </a:pPr>
            <a:r>
              <a:rPr lang="en-US" sz="2400" b="1" dirty="0">
                <a:solidFill>
                  <a:srgbClr val="1F4E5F"/>
                </a:solidFill>
                <a:latin typeface="Montserrat" pitchFamily="34" charset="0"/>
                <a:ea typeface="Montserrat" pitchFamily="34" charset="-122"/>
                <a:cs typeface="Montserrat" pitchFamily="34" charset="-120"/>
              </a:rPr>
              <a:t>D = g(R) − g(V)</a:t>
            </a:r>
            <a:endParaRPr lang="en-US" sz="2400" dirty="0"/>
          </a:p>
        </p:txBody>
      </p:sp>
      <p:sp>
        <p:nvSpPr>
          <p:cNvPr id="16" name="Text 13"/>
          <p:cNvSpPr txBox="1"/>
          <p:nvPr/>
        </p:nvSpPr>
        <p:spPr>
          <a:xfrm>
            <a:off x="7360920" y="3858768"/>
            <a:ext cx="4480560" cy="228600"/>
          </a:xfrm>
          <a:prstGeom prst="rect">
            <a:avLst/>
          </a:prstGeom>
          <a:noFill/>
          <a:ln/>
        </p:spPr>
        <p:txBody>
          <a:bodyPr wrap="square" lIns="0" tIns="0" rIns="0" bIns="0" rtlCol="0" anchor="t"/>
          <a:lstStyle/>
          <a:p>
            <a:pPr algn="l" indent="0" marL="0">
              <a:lnSpc>
                <a:spcPct val="105000"/>
              </a:lnSpc>
              <a:buNone/>
            </a:pPr>
            <a:r>
              <a:rPr lang="en-US" sz="1100" b="1" spc="100" kern="0" dirty="0">
                <a:solidFill>
                  <a:srgbClr val="1F4E5F"/>
                </a:solidFill>
                <a:latin typeface="Montserrat" pitchFamily="34" charset="0"/>
                <a:ea typeface="Montserrat" pitchFamily="34" charset="-122"/>
                <a:cs typeface="Montserrat" pitchFamily="34" charset="-120"/>
              </a:rPr>
              <a:t>GROWTH DIVERGENCE: THE CENTRAL TEST</a:t>
            </a:r>
            <a:endParaRPr lang="en-US" sz="1100" dirty="0"/>
          </a:p>
        </p:txBody>
      </p:sp>
      <p:sp>
        <p:nvSpPr>
          <p:cNvPr id="17" name="Text 14"/>
          <p:cNvSpPr txBox="1"/>
          <p:nvPr/>
        </p:nvSpPr>
        <p:spPr>
          <a:xfrm>
            <a:off x="7178040" y="4544568"/>
            <a:ext cx="4480560" cy="731520"/>
          </a:xfrm>
          <a:prstGeom prst="rect">
            <a:avLst/>
          </a:prstGeom>
          <a:noFill/>
          <a:ln/>
        </p:spPr>
        <p:txBody>
          <a:bodyPr wrap="square" lIns="0" tIns="0" rIns="0" bIns="0" rtlCol="0" anchor="t"/>
          <a:lstStyle/>
          <a:p>
            <a:pPr algn="l" indent="0" marL="0">
              <a:lnSpc>
                <a:spcPct val="105000"/>
              </a:lnSpc>
              <a:spcAft>
                <a:spcPts val="400"/>
              </a:spcAft>
              <a:buNone/>
            </a:pPr>
            <a:r>
              <a:rPr lang="en-US" sz="1150" dirty="0">
                <a:solidFill>
                  <a:srgbClr val="1A1A1A"/>
                </a:solidFill>
                <a:latin typeface="Inter" pitchFamily="34" charset="0"/>
                <a:ea typeface="Inter" pitchFamily="34" charset="-122"/>
                <a:cs typeface="Inter" pitchFamily="34" charset="-120"/>
              </a:rPr>
              <a:t>D </a:t>
            </a:r>
            <a:r>
              <a:rPr lang="en-US" sz="1150" dirty="0">
                <a:solidFill>
                  <a:srgbClr val="1A1A1A"/>
                </a:solidFill>
                <a:latin typeface="Segoe UI Symbol" pitchFamily="34" charset="0"/>
                <a:ea typeface="Segoe UI Symbol" pitchFamily="34" charset="-122"/>
                <a:cs typeface="Segoe UI Symbol" pitchFamily="34" charset="-120"/>
              </a:rPr>
              <a:t>≈</a:t>
            </a:r>
            <a:r>
              <a:rPr lang="en-US" sz="1150" dirty="0">
                <a:solidFill>
                  <a:srgbClr val="1A1A1A"/>
                </a:solidFill>
                <a:latin typeface="Inter" pitchFamily="34" charset="0"/>
                <a:ea typeface="Inter" pitchFamily="34" charset="-122"/>
                <a:cs typeface="Inter" pitchFamily="34" charset="-120"/>
              </a:rPr>
              <a:t> 0 </a:t>
            </a:r>
            <a:r>
              <a:rPr lang="en-US" sz="1150" dirty="0">
                <a:solidFill>
                  <a:srgbClr val="1A1A1A"/>
                </a:solidFill>
                <a:latin typeface="Segoe UI Symbol" pitchFamily="34" charset="0"/>
                <a:ea typeface="Segoe UI Symbol" pitchFamily="34" charset="-122"/>
                <a:cs typeface="Segoe UI Symbol" pitchFamily="34" charset="-120"/>
              </a:rPr>
              <a:t>→</a:t>
            </a:r>
            <a:r>
              <a:rPr lang="en-US" sz="1150" dirty="0">
                <a:solidFill>
                  <a:srgbClr val="1A1A1A"/>
                </a:solidFill>
                <a:latin typeface="Inter" pitchFamily="34" charset="0"/>
                <a:ea typeface="Inter" pitchFamily="34" charset="-122"/>
                <a:cs typeface="Inter" pitchFamily="34" charset="-120"/>
              </a:rPr>
              <a:t> revenue approximately preserves the transaction-growth signal</a:t>
            </a:r>
            <a:endParaRPr lang="en-US" sz="1150" dirty="0"/>
          </a:p>
          <a:p>
            <a:pPr algn="l" indent="0" marL="0">
              <a:lnSpc>
                <a:spcPct val="105000"/>
              </a:lnSpc>
              <a:spcAft>
                <a:spcPts val="400"/>
              </a:spcAft>
              <a:buNone/>
            </a:pPr>
            <a:r>
              <a:rPr lang="en-US" sz="1150" dirty="0">
                <a:solidFill>
                  <a:srgbClr val="1A1A1A"/>
                </a:solidFill>
                <a:latin typeface="Inter" pitchFamily="34" charset="0"/>
                <a:ea typeface="Inter" pitchFamily="34" charset="-122"/>
                <a:cs typeface="Inter" pitchFamily="34" charset="-120"/>
              </a:rPr>
              <a:t>|D| large </a:t>
            </a:r>
            <a:r>
              <a:rPr lang="en-US" sz="1150" dirty="0">
                <a:solidFill>
                  <a:srgbClr val="1A1A1A"/>
                </a:solidFill>
                <a:latin typeface="Segoe UI Symbol" pitchFamily="34" charset="0"/>
                <a:ea typeface="Segoe UI Symbol" pitchFamily="34" charset="-122"/>
                <a:cs typeface="Segoe UI Symbol" pitchFamily="34" charset="-120"/>
              </a:rPr>
              <a:t>→</a:t>
            </a:r>
            <a:r>
              <a:rPr lang="en-US" sz="1150" dirty="0">
                <a:solidFill>
                  <a:srgbClr val="1A1A1A"/>
                </a:solidFill>
                <a:latin typeface="Inter" pitchFamily="34" charset="0"/>
                <a:ea typeface="Inter" pitchFamily="34" charset="-122"/>
                <a:cs typeface="Inter" pitchFamily="34" charset="-120"/>
              </a:rPr>
              <a:t> the share kept changed enough to alter the growth story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III. THE EVIDENCE</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10</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The Dataset: Sufficient, Not Unlimited</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“Few platforms disclose both numbers, so the method is built around that constraint.”</a:t>
            </a:r>
            <a:endParaRPr lang="en-US" sz="1500" dirty="0"/>
          </a:p>
        </p:txBody>
      </p:sp>
      <p:sp>
        <p:nvSpPr>
          <p:cNvPr id="8" name="Text 5"/>
          <p:cNvSpPr txBox="1"/>
          <p:nvPr/>
        </p:nvSpPr>
        <p:spPr>
          <a:xfrm>
            <a:off x="548640" y="1344168"/>
            <a:ext cx="5897880"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What exists</a:t>
            </a:r>
            <a:endParaRPr lang="en-US" sz="1450" dirty="0"/>
          </a:p>
        </p:txBody>
      </p:sp>
      <p:sp>
        <p:nvSpPr>
          <p:cNvPr id="9" name="Shape 6"/>
          <p:cNvSpPr/>
          <p:nvPr/>
        </p:nvSpPr>
        <p:spPr>
          <a:xfrm>
            <a:off x="548640" y="1645920"/>
            <a:ext cx="5897880" cy="0"/>
          </a:xfrm>
          <a:prstGeom prst="line">
            <a:avLst/>
          </a:prstGeom>
          <a:noFill/>
          <a:ln w="9525">
            <a:solidFill>
              <a:srgbClr val="B9B5AE"/>
            </a:solidFill>
            <a:prstDash val="solid"/>
          </a:ln>
        </p:spPr>
      </p:sp>
      <p:sp>
        <p:nvSpPr>
          <p:cNvPr id="10" name="Text 7"/>
          <p:cNvSpPr txBox="1"/>
          <p:nvPr/>
        </p:nvSpPr>
        <p:spPr>
          <a:xfrm>
            <a:off x="548640" y="1755648"/>
            <a:ext cx="5897880" cy="448056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INDONESIAN PLATFORMS:</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Many platforms, few listed, </a:t>
            </a:r>
            <a:r>
              <a:rPr lang="en-US" sz="1250" b="1" dirty="0">
                <a:solidFill>
                  <a:srgbClr val="1A1A1A"/>
                </a:solidFill>
                <a:latin typeface="Inter" pitchFamily="34" charset="0"/>
                <a:ea typeface="Inter" pitchFamily="34" charset="-122"/>
                <a:cs typeface="Inter" pitchFamily="34" charset="-120"/>
              </a:rPr>
              <a:t>fewer reporting both numbers themselves</a:t>
            </a:r>
            <a:r>
              <a:rPr lang="en-US" sz="1250" dirty="0">
                <a:solidFill>
                  <a:srgbClr val="1A1A1A"/>
                </a:solidFill>
                <a:latin typeface="Inter" pitchFamily="34" charset="0"/>
                <a:ea typeface="Inter" pitchFamily="34" charset="-122"/>
                <a:cs typeface="Inter" pitchFamily="34" charset="-120"/>
              </a:rPr>
              <a:t>. Three do: </a:t>
            </a:r>
            <a:r>
              <a:rPr lang="en-US" sz="1250" b="1" dirty="0">
                <a:solidFill>
                  <a:srgbClr val="1A1A1A"/>
                </a:solidFill>
                <a:latin typeface="Inter" pitchFamily="34" charset="0"/>
                <a:ea typeface="Inter" pitchFamily="34" charset="-122"/>
                <a:cs typeface="Inter" pitchFamily="34" charset="-120"/>
              </a:rPr>
              <a:t>Tokopedia, Blibli and Bukalapak</a:t>
            </a:r>
            <a:r>
              <a:rPr lang="en-US" sz="1250" dirty="0">
                <a:solidFill>
                  <a:srgbClr val="1A1A1A"/>
                </a:solidFill>
                <a:latin typeface="Inter" pitchFamily="34" charset="0"/>
                <a:ea typeface="Inter" pitchFamily="34" charset="-122"/>
                <a:cs typeface="Inter" pitchFamily="34" charset="-120"/>
              </a:rPr>
              <a:t>, giving 11 platform-years and </a:t>
            </a:r>
            <a:r>
              <a:rPr lang="en-US" sz="1250" b="1" dirty="0">
                <a:solidFill>
                  <a:srgbClr val="1A1A1A"/>
                </a:solidFill>
                <a:latin typeface="Inter" pitchFamily="34" charset="0"/>
                <a:ea typeface="Inter" pitchFamily="34" charset="-122"/>
                <a:cs typeface="Inter" pitchFamily="34" charset="-120"/>
              </a:rPr>
              <a:t>8 year-to-year comparisons</a:t>
            </a:r>
            <a:r>
              <a:rPr lang="en-US" sz="1250" dirty="0">
                <a:solidFill>
                  <a:srgbClr val="1A1A1A"/>
                </a:solidFill>
                <a:latin typeface="Inter" pitchFamily="34" charset="0"/>
                <a:ea typeface="Inter" pitchFamily="34" charset="-122"/>
                <a:cs typeface="Inter" pitchFamily="34" charset="-120"/>
              </a:rPr>
              <a:t> (2020–2025).</a:t>
            </a:r>
            <a:endParaRPr lang="en-US" sz="1150" dirty="0"/>
          </a:p>
          <a:p>
            <a:pPr indent="0" marL="0">
              <a:lnSpc>
                <a:spcPct val="105000"/>
              </a:lnSpc>
              <a:spcBef>
                <a:spcPts val="11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HOW EACH SOURCE IS USED:</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Main sample:</a:t>
            </a:r>
            <a:r>
              <a:rPr lang="en-US" sz="1250" dirty="0">
                <a:solidFill>
                  <a:srgbClr val="1A1A1A"/>
                </a:solidFill>
                <a:latin typeface="Inter" pitchFamily="34" charset="0"/>
                <a:ea typeface="Inter" pitchFamily="34" charset="-122"/>
                <a:cs typeface="Inter" pitchFamily="34" charset="-120"/>
              </a:rPr>
              <a:t> issuer-reported pairs </a:t>
            </a: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H1</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Benchmark:</a:t>
            </a:r>
            <a:r>
              <a:rPr lang="en-US" sz="1250" dirty="0">
                <a:solidFill>
                  <a:srgbClr val="1A1A1A"/>
                </a:solidFill>
                <a:latin typeface="Inter" pitchFamily="34" charset="0"/>
                <a:ea typeface="Inter" pitchFamily="34" charset="-122"/>
                <a:cs typeface="Inter" pitchFamily="34" charset="-120"/>
              </a:rPr>
              <a:t> 8 listed platforms abroad, 29 clean comparisons </a:t>
            </a: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what “normal” looks like</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BPS national surveys, 2022–2024</a:t>
            </a:r>
            <a:r>
              <a:rPr lang="en-US" sz="1250" dirty="0">
                <a:solidFill>
                  <a:srgbClr val="1A1A1A"/>
                </a:solidFill>
                <a:latin typeface="Inter" pitchFamily="34" charset="0"/>
                <a:ea typeface="Inter" pitchFamily="34" charset="-122"/>
                <a:cs typeface="Inter" pitchFamily="34" charset="-120"/>
              </a:rPr>
              <a:t> </a:t>
            </a: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H2</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Grab, Shopee:</a:t>
            </a:r>
            <a:r>
              <a:rPr lang="en-US" sz="1250" dirty="0">
                <a:solidFill>
                  <a:srgbClr val="1A1A1A"/>
                </a:solidFill>
                <a:latin typeface="Inter" pitchFamily="34" charset="0"/>
                <a:ea typeface="Inter" pitchFamily="34" charset="-122"/>
                <a:cs typeface="Inter" pitchFamily="34" charset="-120"/>
              </a:rPr>
              <a:t> constructed Indonesian figures </a:t>
            </a: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2023 scale only</a:t>
            </a:r>
            <a:endParaRPr lang="en-US" sz="1150" dirty="0"/>
          </a:p>
          <a:p>
            <a:pPr marL="190500" indent="-190500">
              <a:lnSpc>
                <a:spcPct val="105000"/>
              </a:lnSpc>
              <a:spcBef>
                <a:spcPts val="200"/>
              </a:spcBef>
              <a:spcAft>
                <a:spcPts val="100"/>
              </a:spcAft>
              <a:buSzPct val="100000"/>
              <a:buFont typeface="Segoe UI Symbol"/>
              <a:buChar char="→"/>
            </a:pPr>
            <a:r>
              <a:rPr lang="en-US" sz="1250" b="1" dirty="0">
                <a:solidFill>
                  <a:srgbClr val="1A1A1A"/>
                </a:solidFill>
                <a:latin typeface="Inter" pitchFamily="34" charset="0"/>
                <a:ea typeface="Inter" pitchFamily="34" charset="-122"/>
                <a:cs typeface="Inter" pitchFamily="34" charset="-120"/>
              </a:rPr>
              <a:t>Bank Indonesia payments</a:t>
            </a:r>
            <a:r>
              <a:rPr lang="en-US" sz="1250" dirty="0">
                <a:solidFill>
                  <a:srgbClr val="1A1A1A"/>
                </a:solidFill>
                <a:latin typeface="Inter" pitchFamily="34" charset="0"/>
                <a:ea typeface="Inter" pitchFamily="34" charset="-122"/>
                <a:cs typeface="Inter" pitchFamily="34" charset="-120"/>
              </a:rPr>
              <a:t> </a:t>
            </a: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context only</a:t>
            </a:r>
            <a:endParaRPr lang="en-US" sz="1150" dirty="0"/>
          </a:p>
        </p:txBody>
      </p:sp>
      <p:sp>
        <p:nvSpPr>
          <p:cNvPr id="11" name="Shape 8"/>
          <p:cNvSpPr/>
          <p:nvPr/>
        </p:nvSpPr>
        <p:spPr>
          <a:xfrm>
            <a:off x="6766560" y="1344168"/>
            <a:ext cx="0" cy="4663440"/>
          </a:xfrm>
          <a:prstGeom prst="line">
            <a:avLst/>
          </a:prstGeom>
          <a:noFill/>
          <a:ln w="9525">
            <a:solidFill>
              <a:srgbClr val="B9B5AE"/>
            </a:solidFill>
            <a:prstDash val="solid"/>
          </a:ln>
        </p:spPr>
      </p:sp>
      <p:sp>
        <p:nvSpPr>
          <p:cNvPr id="12" name="Text 9"/>
          <p:cNvSpPr txBox="1"/>
          <p:nvPr/>
        </p:nvSpPr>
        <p:spPr>
          <a:xfrm>
            <a:off x="7086600" y="1344168"/>
            <a:ext cx="4553712"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What this means for method</a:t>
            </a:r>
            <a:endParaRPr lang="en-US" sz="1450" dirty="0"/>
          </a:p>
        </p:txBody>
      </p:sp>
      <p:sp>
        <p:nvSpPr>
          <p:cNvPr id="13" name="Shape 10"/>
          <p:cNvSpPr/>
          <p:nvPr/>
        </p:nvSpPr>
        <p:spPr>
          <a:xfrm>
            <a:off x="7086600" y="1645920"/>
            <a:ext cx="4553712" cy="0"/>
          </a:xfrm>
          <a:prstGeom prst="line">
            <a:avLst/>
          </a:prstGeom>
          <a:noFill/>
          <a:ln w="9525">
            <a:solidFill>
              <a:srgbClr val="B9B5AE"/>
            </a:solidFill>
            <a:prstDash val="solid"/>
          </a:ln>
        </p:spPr>
      </p:sp>
      <p:sp>
        <p:nvSpPr>
          <p:cNvPr id="14" name="Text 11"/>
          <p:cNvSpPr txBox="1"/>
          <p:nvPr/>
        </p:nvSpPr>
        <p:spPr>
          <a:xfrm>
            <a:off x="7086600" y="1755648"/>
            <a:ext cx="4553712" cy="448056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MATCHING RULE:</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A pair enters </a:t>
            </a:r>
            <a:r>
              <a:rPr lang="en-US" sz="1250" b="1" dirty="0">
                <a:solidFill>
                  <a:srgbClr val="1A1A1A"/>
                </a:solidFill>
                <a:latin typeface="Inter" pitchFamily="34" charset="0"/>
                <a:ea typeface="Inter" pitchFamily="34" charset="-122"/>
                <a:cs typeface="Inter" pitchFamily="34" charset="-120"/>
              </a:rPr>
              <a:t>only when</a:t>
            </a:r>
            <a:r>
              <a:rPr lang="en-US" sz="1250" dirty="0">
                <a:solidFill>
                  <a:srgbClr val="1A1A1A"/>
                </a:solidFill>
                <a:latin typeface="Inter" pitchFamily="34" charset="0"/>
                <a:ea typeface="Inter" pitchFamily="34" charset="-122"/>
                <a:cs typeface="Inter" pitchFamily="34" charset="-120"/>
              </a:rPr>
              <a:t> transaction value and revenue cover the same period and, as closely as possible, the same business activity. </a:t>
            </a:r>
            <a:r>
              <a:rPr lang="en-US" sz="1250" b="1" dirty="0">
                <a:solidFill>
                  <a:srgbClr val="1A1A1A"/>
                </a:solidFill>
                <a:latin typeface="Inter" pitchFamily="34" charset="0"/>
                <a:ea typeface="Inter" pitchFamily="34" charset="-122"/>
                <a:cs typeface="Inter" pitchFamily="34" charset="-120"/>
              </a:rPr>
              <a:t>Mismatched pairs are excluded</a:t>
            </a:r>
            <a:r>
              <a:rPr lang="en-US" sz="1250" dirty="0">
                <a:solidFill>
                  <a:srgbClr val="1A1A1A"/>
                </a:solidFill>
                <a:latin typeface="Inter" pitchFamily="34" charset="0"/>
                <a:ea typeface="Inter" pitchFamily="34" charset="-122"/>
                <a:cs typeface="Inter" pitchFamily="34" charset="-120"/>
              </a:rPr>
              <a:t>; issuer labels (GTV, GMV, TPV) are kept and checked.</a:t>
            </a:r>
            <a:endParaRPr lang="en-US" sz="1150" dirty="0"/>
          </a:p>
          <a:p>
            <a:pPr indent="0" marL="0">
              <a:lnSpc>
                <a:spcPct val="105000"/>
              </a:lnSpc>
              <a:spcBef>
                <a:spcPts val="11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DESIGN CHOICES:</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Compare each platform </a:t>
            </a:r>
            <a:r>
              <a:rPr lang="en-US" sz="1250" b="1" dirty="0">
                <a:solidFill>
                  <a:srgbClr val="1A1A1A"/>
                </a:solidFill>
                <a:latin typeface="Inter" pitchFamily="34" charset="0"/>
                <a:ea typeface="Inter" pitchFamily="34" charset="-122"/>
                <a:cs typeface="Inter" pitchFamily="34" charset="-120"/>
              </a:rPr>
              <a:t>with itself</a:t>
            </a:r>
            <a:r>
              <a:rPr lang="en-US" sz="1250" dirty="0">
                <a:solidFill>
                  <a:srgbClr val="1A1A1A"/>
                </a:solidFill>
                <a:latin typeface="Inter" pitchFamily="34" charset="0"/>
                <a:ea typeface="Inter" pitchFamily="34" charset="-122"/>
                <a:cs typeface="Inter" pitchFamily="34" charset="-120"/>
              </a:rPr>
              <a:t> over time</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Benchmark Indonesia against </a:t>
            </a:r>
            <a:r>
              <a:rPr lang="en-US" sz="1250" b="1" dirty="0">
                <a:solidFill>
                  <a:srgbClr val="1A1A1A"/>
                </a:solidFill>
                <a:latin typeface="Inter" pitchFamily="34" charset="0"/>
                <a:ea typeface="Inter" pitchFamily="34" charset="-122"/>
                <a:cs typeface="Inter" pitchFamily="34" charset="-120"/>
              </a:rPr>
              <a:t>normal drift abroad</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Check that no single firm or case drives the result</a:t>
            </a:r>
            <a:endParaRPr lang="en-US" sz="1150" dirty="0"/>
          </a:p>
          <a:p>
            <a:pPr indent="0" marL="0">
              <a:lnSpc>
                <a:spcPct val="105000"/>
              </a:lnSpc>
              <a:spcBef>
                <a:spcPts val="11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WHAT’S KEPT APART:</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Issuer-reported vs constructed figures</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Platform vs national data: different definitions, </a:t>
            </a:r>
            <a:r>
              <a:rPr lang="en-US" sz="1250" b="1" dirty="0">
                <a:solidFill>
                  <a:srgbClr val="1A1A1A"/>
                </a:solidFill>
                <a:latin typeface="Inter" pitchFamily="34" charset="0"/>
                <a:ea typeface="Inter" pitchFamily="34" charset="-122"/>
                <a:cs typeface="Inter" pitchFamily="34" charset="-120"/>
              </a:rPr>
              <a:t>never</a:t>
            </a:r>
            <a:r>
              <a:rPr lang="en-US" sz="1250" dirty="0">
                <a:solidFill>
                  <a:srgbClr val="1A1A1A"/>
                </a:solidFill>
                <a:latin typeface="Inter" pitchFamily="34" charset="0"/>
                <a:ea typeface="Inter" pitchFamily="34" charset="-122"/>
                <a:cs typeface="Inter" pitchFamily="34" charset="-120"/>
              </a:rPr>
              <a:t> pooled</a:t>
            </a:r>
            <a:endParaRPr lang="en-US" sz="1150" dirty="0"/>
          </a:p>
        </p:txBody>
      </p:sp>
      <p:sp>
        <p:nvSpPr>
          <p:cNvPr id="15" name="Text 12"/>
          <p:cNvSpPr txBox="1"/>
          <p:nvPr/>
        </p:nvSpPr>
        <p:spPr>
          <a:xfrm>
            <a:off x="548640" y="5989320"/>
            <a:ext cx="11091672" cy="320040"/>
          </a:xfrm>
          <a:prstGeom prst="rect">
            <a:avLst/>
          </a:prstGeom>
          <a:noFill/>
          <a:ln/>
        </p:spPr>
        <p:txBody>
          <a:bodyPr wrap="square" lIns="0" tIns="0" rIns="0" bIns="0" rtlCol="0" anchor="t"/>
          <a:lstStyle/>
          <a:p>
            <a:pPr algn="ctr" indent="0" marL="0">
              <a:lnSpc>
                <a:spcPct val="105000"/>
              </a:lnSpc>
              <a:buNone/>
            </a:pPr>
            <a:r>
              <a:rPr lang="en-US" sz="1000" i="1" dirty="0">
                <a:solidFill>
                  <a:srgbClr val="5F5C57"/>
                </a:solidFill>
                <a:latin typeface="Inter" pitchFamily="34" charset="0"/>
                <a:ea typeface="Inter" pitchFamily="34" charset="-122"/>
                <a:cs typeface="Inter" pitchFamily="34" charset="-120"/>
              </a:rPr>
              <a:t>Lazada and TikTok Shop are excluded: no matched Indonesian revenue series exists. Tokopedia’s series ends in 2023, when TikTok took control and folded its shop into it.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III. THE EVIDENCE</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11</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Scale: Large, but Not the Finding</a:t>
            </a:r>
            <a:endParaRPr lang="en-US" sz="2600" dirty="0"/>
          </a:p>
        </p:txBody>
      </p:sp>
      <p:sp>
        <p:nvSpPr>
          <p:cNvPr id="7" name="Text 4"/>
          <p:cNvSpPr txBox="1"/>
          <p:nvPr/>
        </p:nvSpPr>
        <p:spPr>
          <a:xfrm>
            <a:off x="548640" y="896112"/>
            <a:ext cx="11091672" cy="54864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“In 2023, transaction value across three platforms was about 13.7 times their revenue (V/R </a:t>
            </a:r>
            <a:r>
              <a:rPr lang="en-US" sz="1500" dirty="0">
                <a:solidFill>
                  <a:srgbClr val="3A3834"/>
                </a:solidFill>
                <a:latin typeface="Segoe UI Symbol" pitchFamily="34" charset="0"/>
                <a:ea typeface="Segoe UI Symbol" pitchFamily="34" charset="-122"/>
                <a:cs typeface="Segoe UI Symbol" pitchFamily="34" charset="-120"/>
              </a:rPr>
              <a:t>≈</a:t>
            </a:r>
            <a:r>
              <a:rPr lang="en-US" sz="1500" dirty="0">
                <a:solidFill>
                  <a:srgbClr val="3A3834"/>
                </a:solidFill>
                <a:latin typeface="Montserrat SemiBold" pitchFamily="34" charset="0"/>
                <a:ea typeface="Montserrat SemiBold" pitchFamily="34" charset="-122"/>
                <a:cs typeface="Montserrat SemiBold" pitchFamily="34" charset="-120"/>
              </a:rPr>
              <a:t> 13.7; E = W/R </a:t>
            </a:r>
            <a:r>
              <a:rPr lang="en-US" sz="1500" dirty="0">
                <a:solidFill>
                  <a:srgbClr val="3A3834"/>
                </a:solidFill>
                <a:latin typeface="Segoe UI Symbol" pitchFamily="34" charset="0"/>
                <a:ea typeface="Segoe UI Symbol" pitchFamily="34" charset="-122"/>
                <a:cs typeface="Segoe UI Symbol" pitchFamily="34" charset="-120"/>
              </a:rPr>
              <a:t>≈</a:t>
            </a:r>
            <a:r>
              <a:rPr lang="en-US" sz="1500" dirty="0">
                <a:solidFill>
                  <a:srgbClr val="3A3834"/>
                </a:solidFill>
                <a:latin typeface="Montserrat SemiBold" pitchFamily="34" charset="0"/>
                <a:ea typeface="Montserrat SemiBold" pitchFamily="34" charset="-122"/>
                <a:cs typeface="Montserrat SemiBold" pitchFamily="34" charset="-120"/>
              </a:rPr>
              <a:t> 12.7).”</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36776"/>
          <a:ext cx="9144000" cy="914400"/>
        </p:xfrm>
        <a:graphic>
          <a:graphicData uri="http://schemas.openxmlformats.org/drawingml/2006/table">
            <a:tbl>
              <a:tblPr/>
              <a:tblGrid>
                <a:gridCol w="2286000"/>
                <a:gridCol w="2103120"/>
                <a:gridCol w="1554480"/>
                <a:gridCol w="1554480"/>
                <a:gridCol w="1463040"/>
                <a:gridCol w="2130552"/>
              </a:tblGrid>
              <a:tr h="475488">
                <a:tc>
                  <a:txBody>
                    <a:bodyPr/>
                    <a:lstStyle/>
                    <a:p>
                      <a:pPr algn="l" indent="0" marL="0">
                        <a:buNone/>
                      </a:pPr>
                      <a:r>
                        <a:rPr lang="en-US" sz="1350" b="1" dirty="0">
                          <a:solidFill>
                            <a:srgbClr val="1A1A1A"/>
                          </a:solidFill>
                          <a:latin typeface="Inter" pitchFamily="34" charset="0"/>
                          <a:ea typeface="Inter" pitchFamily="34" charset="-122"/>
                          <a:cs typeface="Inter" pitchFamily="34" charset="-120"/>
                        </a:rPr>
                        <a:t>2023, US$ billions</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350" b="1" dirty="0">
                          <a:solidFill>
                            <a:srgbClr val="1A1A1A"/>
                          </a:solidFill>
                          <a:latin typeface="Inter" pitchFamily="34" charset="0"/>
                          <a:ea typeface="Inter" pitchFamily="34" charset="-122"/>
                          <a:cs typeface="Inter" pitchFamily="34" charset="-120"/>
                        </a:rPr>
                        <a:t>Transaction value (V)</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350" b="1" dirty="0">
                          <a:solidFill>
                            <a:srgbClr val="1A1A1A"/>
                          </a:solidFill>
                          <a:latin typeface="Inter" pitchFamily="34" charset="0"/>
                          <a:ea typeface="Inter" pitchFamily="34" charset="-122"/>
                          <a:cs typeface="Inter" pitchFamily="34" charset="-120"/>
                        </a:rPr>
                        <a:t>Revenue (R)</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350" b="1" dirty="0">
                          <a:solidFill>
                            <a:srgbClr val="1A1A1A"/>
                          </a:solidFill>
                          <a:latin typeface="Inter" pitchFamily="34" charset="0"/>
                          <a:ea typeface="Inter" pitchFamily="34" charset="-122"/>
                          <a:cs typeface="Inter" pitchFamily="34" charset="-120"/>
                        </a:rPr>
                        <a:t>Wedge (W)</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350" b="1" dirty="0">
                          <a:solidFill>
                            <a:srgbClr val="1A1A1A"/>
                          </a:solidFill>
                          <a:latin typeface="Inter" pitchFamily="34" charset="0"/>
                          <a:ea typeface="Inter" pitchFamily="34" charset="-122"/>
                          <a:cs typeface="Inter" pitchFamily="34" charset="-120"/>
                        </a:rPr>
                        <a:t>Ratio (E)</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350" b="1" dirty="0">
                          <a:solidFill>
                            <a:srgbClr val="1A1A1A"/>
                          </a:solidFill>
                          <a:latin typeface="Inter" pitchFamily="34" charset="0"/>
                          <a:ea typeface="Inter" pitchFamily="34" charset="-122"/>
                          <a:cs typeface="Inter" pitchFamily="34" charset="-120"/>
                        </a:rPr>
                        <a:t>Evidence</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A1A1A"/>
                          </a:solidFill>
                          <a:latin typeface="Inter" pitchFamily="34" charset="0"/>
                          <a:ea typeface="Inter" pitchFamily="34" charset="-122"/>
                          <a:cs typeface="Inter" pitchFamily="34" charset="-120"/>
                        </a:rPr>
                        <a:t>Tokopedia</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16.33</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0.41</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15.93</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39.3</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1A"/>
                          </a:solidFill>
                          <a:latin typeface="Inter" pitchFamily="34" charset="0"/>
                          <a:ea typeface="Inter" pitchFamily="34" charset="-122"/>
                          <a:cs typeface="Inter" pitchFamily="34" charset="-120"/>
                        </a:rPr>
                        <a:t>Issuer-reported</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A1A1A"/>
                          </a:solidFill>
                          <a:latin typeface="Inter" pitchFamily="34" charset="0"/>
                          <a:ea typeface="Inter" pitchFamily="34" charset="-122"/>
                          <a:cs typeface="Inter" pitchFamily="34" charset="-120"/>
                        </a:rPr>
                        <a:t>Shopee</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21.52</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2.15</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19.37</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9.0</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400" i="1" dirty="0">
                          <a:solidFill>
                            <a:srgbClr val="5F5C57"/>
                          </a:solidFill>
                          <a:latin typeface="Inter" pitchFamily="34" charset="0"/>
                          <a:ea typeface="Inter" pitchFamily="34" charset="-122"/>
                          <a:cs typeface="Inter" pitchFamily="34" charset="-120"/>
                        </a:rPr>
                        <a:t>Constructed</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A1A1A"/>
                          </a:solidFill>
                          <a:latin typeface="Inter" pitchFamily="34" charset="0"/>
                          <a:ea typeface="Inter" pitchFamily="34" charset="-122"/>
                          <a:cs typeface="Inter" pitchFamily="34" charset="-120"/>
                        </a:rPr>
                        <a:t>Grab</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5.38</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0.61</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4.78</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400" i="1" dirty="0">
                          <a:solidFill>
                            <a:srgbClr val="5F5C57"/>
                          </a:solidFill>
                          <a:latin typeface="Inter" pitchFamily="34" charset="0"/>
                          <a:ea typeface="Inter" pitchFamily="34" charset="-122"/>
                          <a:cs typeface="Inter" pitchFamily="34" charset="-120"/>
                        </a:rPr>
                        <a:t>Constructed</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1A1A1A"/>
                          </a:solidFill>
                          <a:latin typeface="Inter" pitchFamily="34" charset="0"/>
                          <a:ea typeface="Inter" pitchFamily="34" charset="-122"/>
                          <a:cs typeface="Inter" pitchFamily="34" charset="-120"/>
                        </a:rPr>
                        <a:t>Total</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A1A1A"/>
                          </a:solidFill>
                          <a:latin typeface="Inter" pitchFamily="34" charset="0"/>
                          <a:ea typeface="Inter" pitchFamily="34" charset="-122"/>
                          <a:cs typeface="Inter" pitchFamily="34" charset="-120"/>
                        </a:rPr>
                        <a:t>43.23</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A1A1A"/>
                          </a:solidFill>
                          <a:latin typeface="Inter" pitchFamily="34" charset="0"/>
                          <a:ea typeface="Inter" pitchFamily="34" charset="-122"/>
                          <a:cs typeface="Inter" pitchFamily="34" charset="-120"/>
                        </a:rPr>
                        <a:t>3.16</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4E5F"/>
                          </a:solidFill>
                          <a:latin typeface="Inter" pitchFamily="34" charset="0"/>
                          <a:ea typeface="Inter" pitchFamily="34" charset="-122"/>
                          <a:cs typeface="Inter" pitchFamily="34" charset="-120"/>
                        </a:rPr>
                        <a:t>40.07</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A1A1A"/>
                          </a:solidFill>
                          <a:latin typeface="Inter" pitchFamily="34" charset="0"/>
                          <a:ea typeface="Inter" pitchFamily="34" charset="-122"/>
                          <a:cs typeface="Inter" pitchFamily="34" charset="-120"/>
                        </a:rPr>
                        <a:t>12.7</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endParaRPr/>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4242816"/>
            <a:ext cx="11091672" cy="1828800"/>
          </a:xfrm>
          <a:prstGeom prst="rect">
            <a:avLst/>
          </a:prstGeom>
          <a:noFill/>
          <a:ln/>
        </p:spPr>
        <p:txBody>
          <a:bodyPr wrap="square" lIns="0" tIns="0" rIns="0" bIns="0" rtlCol="0" anchor="t"/>
          <a:lstStyle/>
          <a:p>
            <a:pPr indent="0" marL="0">
              <a:lnSpc>
                <a:spcPct val="105000"/>
              </a:lnSpc>
              <a:spcAft>
                <a:spcPts val="100"/>
              </a:spcAft>
              <a:buNone/>
            </a:pPr>
            <a:r>
              <a:rPr lang="en-US" sz="1400" dirty="0">
                <a:solidFill>
                  <a:srgbClr val="1A1A1A"/>
                </a:solidFill>
                <a:latin typeface="Inter" pitchFamily="34" charset="0"/>
                <a:ea typeface="Inter" pitchFamily="34" charset="-122"/>
                <a:cs typeface="Inter" pitchFamily="34" charset="-120"/>
              </a:rPr>
              <a:t>The wedge matters for anyone inferring the </a:t>
            </a:r>
            <a:r>
              <a:rPr lang="en-US" sz="1400" i="1" dirty="0">
                <a:solidFill>
                  <a:srgbClr val="1A1A1A"/>
                </a:solidFill>
                <a:latin typeface="Inter" pitchFamily="34" charset="0"/>
                <a:ea typeface="Inter" pitchFamily="34" charset="-122"/>
                <a:cs typeface="Inter" pitchFamily="34" charset="-120"/>
              </a:rPr>
              <a:t>level</a:t>
            </a:r>
            <a:r>
              <a:rPr lang="en-US" sz="1400" dirty="0">
                <a:solidFill>
                  <a:srgbClr val="1A1A1A"/>
                </a:solidFill>
                <a:latin typeface="Inter" pitchFamily="34" charset="0"/>
                <a:ea typeface="Inter" pitchFamily="34" charset="-122"/>
                <a:cs typeface="Inter" pitchFamily="34" charset="-120"/>
              </a:rPr>
              <a:t> of commerce from revenue. But a large, </a:t>
            </a:r>
            <a:r>
              <a:rPr lang="en-US" sz="1400" i="1" dirty="0">
                <a:solidFill>
                  <a:srgbClr val="1A1A1A"/>
                </a:solidFill>
                <a:latin typeface="Inter" pitchFamily="34" charset="0"/>
                <a:ea typeface="Inter" pitchFamily="34" charset="-122"/>
                <a:cs typeface="Inter" pitchFamily="34" charset="-120"/>
              </a:rPr>
              <a:t>stable</a:t>
            </a:r>
            <a:r>
              <a:rPr lang="en-US" sz="1400" dirty="0">
                <a:solidFill>
                  <a:srgbClr val="1A1A1A"/>
                </a:solidFill>
                <a:latin typeface="Inter" pitchFamily="34" charset="0"/>
                <a:ea typeface="Inter" pitchFamily="34" charset="-122"/>
                <a:cs typeface="Inter" pitchFamily="34" charset="-120"/>
              </a:rPr>
              <a:t> wedge would </a:t>
            </a:r>
            <a:r>
              <a:rPr lang="en-US" sz="1400" b="1" dirty="0">
                <a:solidFill>
                  <a:srgbClr val="1A1A1A"/>
                </a:solidFill>
                <a:latin typeface="Inter" pitchFamily="34" charset="0"/>
                <a:ea typeface="Inter" pitchFamily="34" charset="-122"/>
                <a:cs typeface="Inter" pitchFamily="34" charset="-120"/>
              </a:rPr>
              <a:t>not by itself</a:t>
            </a:r>
            <a:r>
              <a:rPr lang="en-US" sz="1400" dirty="0">
                <a:solidFill>
                  <a:srgbClr val="1A1A1A"/>
                </a:solidFill>
                <a:latin typeface="Inter" pitchFamily="34" charset="0"/>
                <a:ea typeface="Inter" pitchFamily="34" charset="-122"/>
                <a:cs typeface="Inter" pitchFamily="34" charset="-120"/>
              </a:rPr>
              <a:t> make revenue a misleading guide to </a:t>
            </a:r>
            <a:r>
              <a:rPr lang="en-US" sz="1400" i="1" dirty="0">
                <a:solidFill>
                  <a:srgbClr val="1A1A1A"/>
                </a:solidFill>
                <a:latin typeface="Inter" pitchFamily="34" charset="0"/>
                <a:ea typeface="Inter" pitchFamily="34" charset="-122"/>
                <a:cs typeface="Inter" pitchFamily="34" charset="-120"/>
              </a:rPr>
              <a:t>growth</a:t>
            </a:r>
            <a:r>
              <a:rPr lang="en-US" sz="1400" dirty="0">
                <a:solidFill>
                  <a:srgbClr val="1A1A1A"/>
                </a:solidFill>
                <a:latin typeface="Inter" pitchFamily="34" charset="0"/>
                <a:ea typeface="Inter" pitchFamily="34" charset="-122"/>
                <a:cs typeface="Inter" pitchFamily="34" charset="-120"/>
              </a:rPr>
              <a:t>.</a:t>
            </a:r>
            <a:endParaRPr lang="en-US" sz="1400" dirty="0"/>
          </a:p>
          <a:p>
            <a:pPr indent="0" marL="0">
              <a:lnSpc>
                <a:spcPct val="105000"/>
              </a:lnSpc>
              <a:spcBef>
                <a:spcPts val="200"/>
              </a:spcBef>
              <a:spcAft>
                <a:spcPts val="100"/>
              </a:spcAft>
              <a:buNone/>
            </a:pPr>
            <a:r>
              <a:rPr lang="en-US" sz="1400" dirty="0">
                <a:solidFill>
                  <a:srgbClr val="1A1A1A"/>
                </a:solidFill>
                <a:latin typeface="Inter" pitchFamily="34" charset="0"/>
                <a:ea typeface="Inter" pitchFamily="34" charset="-122"/>
                <a:cs typeface="Inter" pitchFamily="34" charset="-120"/>
              </a:rPr>
              <a:t>W and E tell us whether the levels differ. D tells us whether that difference </a:t>
            </a:r>
            <a:r>
              <a:rPr lang="en-US" sz="1400" b="1" dirty="0">
                <a:solidFill>
                  <a:srgbClr val="1A1A1A"/>
                </a:solidFill>
                <a:latin typeface="Inter" pitchFamily="34" charset="0"/>
                <a:ea typeface="Inter" pitchFamily="34" charset="-122"/>
                <a:cs typeface="Inter" pitchFamily="34" charset="-120"/>
              </a:rPr>
              <a:t>changes the growth story</a:t>
            </a:r>
            <a:r>
              <a:rPr lang="en-US" sz="1400" dirty="0">
                <a:solidFill>
                  <a:srgbClr val="1A1A1A"/>
                </a:solidFill>
                <a:latin typeface="Inter" pitchFamily="34" charset="0"/>
                <a:ea typeface="Inter" pitchFamily="34" charset="-122"/>
                <a:cs typeface="Inter" pitchFamily="34" charset="-120"/>
              </a:rPr>
              <a:t>, and that is what the next slides test.</a:t>
            </a:r>
            <a:endParaRPr lang="en-US" sz="1400" dirty="0"/>
          </a:p>
        </p:txBody>
      </p:sp>
      <p:sp>
        <p:nvSpPr>
          <p:cNvPr id="10" name="Text 6"/>
          <p:cNvSpPr txBox="1"/>
          <p:nvPr/>
        </p:nvSpPr>
        <p:spPr>
          <a:xfrm>
            <a:off x="548640" y="5897880"/>
            <a:ext cx="11091672" cy="411480"/>
          </a:xfrm>
          <a:prstGeom prst="rect">
            <a:avLst/>
          </a:prstGeom>
          <a:noFill/>
          <a:ln/>
        </p:spPr>
        <p:txBody>
          <a:bodyPr wrap="square" lIns="0" tIns="0" rIns="0" bIns="0" rtlCol="0" anchor="t"/>
          <a:lstStyle/>
          <a:p>
            <a:pPr algn="l" indent="0" marL="0">
              <a:lnSpc>
                <a:spcPct val="105000"/>
              </a:lnSpc>
              <a:buNone/>
            </a:pPr>
            <a:r>
              <a:rPr lang="en-US" sz="1000" i="1" dirty="0">
                <a:solidFill>
                  <a:srgbClr val="5F5C57"/>
                </a:solidFill>
                <a:latin typeface="Inter" pitchFamily="34" charset="0"/>
                <a:ea typeface="Inter" pitchFamily="34" charset="-122"/>
                <a:cs typeface="Inter" pitchFamily="34" charset="-120"/>
              </a:rPr>
              <a:t>Shopee’s assumed rate of 9–11% gives US$39.9–40.3B in total; dropping any one platform still leaves </a:t>
            </a:r>
            <a:r>
              <a:rPr lang="en-US" sz="1000" i="1" dirty="0">
                <a:solidFill>
                  <a:srgbClr val="5F5C57"/>
                </a:solidFill>
                <a:latin typeface="Segoe UI Symbol" pitchFamily="34" charset="0"/>
                <a:ea typeface="Segoe UI Symbol" pitchFamily="34" charset="-122"/>
                <a:cs typeface="Segoe UI Symbol" pitchFamily="34" charset="-120"/>
              </a:rPr>
              <a:t>≥</a:t>
            </a:r>
            <a:r>
              <a:rPr lang="en-US" sz="1000" i="1" dirty="0">
                <a:solidFill>
                  <a:srgbClr val="5F5C57"/>
                </a:solidFill>
                <a:latin typeface="Inter" pitchFamily="34" charset="0"/>
                <a:ea typeface="Inter" pitchFamily="34" charset="-122"/>
                <a:cs typeface="Inter" pitchFamily="34" charset="-120"/>
              </a:rPr>
              <a:t> US$20.7B. Grab’s and Shopee’s ratios reflect company-wide figures by construction.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III. THE EVIDENCE</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12</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H1: The Pattern</a:t>
            </a:r>
            <a:endParaRPr lang="en-US" sz="2600" dirty="0"/>
          </a:p>
        </p:txBody>
      </p:sp>
      <p:sp>
        <p:nvSpPr>
          <p:cNvPr id="7" name="Text 4"/>
          <p:cNvSpPr txBox="1"/>
          <p:nvPr/>
        </p:nvSpPr>
        <p:spPr>
          <a:xfrm>
            <a:off x="548640" y="896112"/>
            <a:ext cx="11091672" cy="54864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“Revenue grew faster than transaction value in 6 of 8 comparisons; in 2 of them, revenue rose while transaction value fell.”</a:t>
            </a:r>
            <a:endParaRPr lang="en-US" sz="1500" dirty="0"/>
          </a:p>
        </p:txBody>
      </p:sp>
      <p:pic>
        <p:nvPicPr>
          <p:cNvPr id="8" name="Image 0" descr="/tmp/ild/fig2_D_v2.png">    </p:cNvPr>
          <p:cNvPicPr>
            <a:picLocks noChangeAspect="1"/>
          </p:cNvPicPr>
          <p:nvPr/>
        </p:nvPicPr>
        <p:blipFill>
          <a:blip r:embed="rId2"/>
          <a:stretch>
            <a:fillRect/>
          </a:stretch>
        </p:blipFill>
        <p:spPr>
          <a:xfrm>
            <a:off x="502920" y="1636776"/>
            <a:ext cx="8138160" cy="4295140"/>
          </a:xfrm>
          <a:prstGeom prst="rect">
            <a:avLst/>
          </a:prstGeom>
        </p:spPr>
      </p:pic>
      <p:sp>
        <p:nvSpPr>
          <p:cNvPr id="9" name="Shape 5"/>
          <p:cNvSpPr/>
          <p:nvPr/>
        </p:nvSpPr>
        <p:spPr>
          <a:xfrm>
            <a:off x="8915400" y="1591056"/>
            <a:ext cx="0" cy="4297680"/>
          </a:xfrm>
          <a:prstGeom prst="line">
            <a:avLst/>
          </a:prstGeom>
          <a:noFill/>
          <a:ln w="9525">
            <a:solidFill>
              <a:srgbClr val="B9B5AE"/>
            </a:solidFill>
            <a:prstDash val="solid"/>
          </a:ln>
        </p:spPr>
      </p:sp>
      <p:sp>
        <p:nvSpPr>
          <p:cNvPr id="10" name="Text 6"/>
          <p:cNvSpPr txBox="1"/>
          <p:nvPr/>
        </p:nvSpPr>
        <p:spPr>
          <a:xfrm>
            <a:off x="9189720" y="1636776"/>
            <a:ext cx="2450592" cy="4480560"/>
          </a:xfrm>
          <a:prstGeom prst="rect">
            <a:avLst/>
          </a:prstGeom>
          <a:noFill/>
          <a:ln/>
        </p:spPr>
        <p:txBody>
          <a:bodyPr wrap="square" lIns="0" tIns="0" rIns="0" bIns="0" rtlCol="0" anchor="t"/>
          <a:lstStyle/>
          <a:p>
            <a:pPr indent="0" marL="0">
              <a:lnSpc>
                <a:spcPct val="105000"/>
              </a:lnSpc>
              <a:spcAft>
                <a:spcPts val="200"/>
              </a:spcAft>
              <a:buNone/>
            </a:pPr>
            <a:r>
              <a:rPr lang="en-US" sz="1100" b="1" spc="80" kern="0" dirty="0">
                <a:solidFill>
                  <a:srgbClr val="1A1A1A"/>
                </a:solidFill>
                <a:latin typeface="Montserrat" pitchFamily="34" charset="0"/>
                <a:ea typeface="Montserrat" pitchFamily="34" charset="-122"/>
                <a:cs typeface="Montserrat" pitchFamily="34" charset="-120"/>
              </a:rPr>
              <a:t>READING IT:</a:t>
            </a:r>
            <a:endParaRPr lang="en-US" sz="1100" dirty="0"/>
          </a:p>
          <a:p>
            <a:pPr indent="0" marL="0">
              <a:lnSpc>
                <a:spcPct val="105000"/>
              </a:lnSpc>
              <a:spcBef>
                <a:spcPts val="200"/>
              </a:spcBef>
              <a:spcAft>
                <a:spcPts val="100"/>
              </a:spcAft>
              <a:buNone/>
            </a:pPr>
            <a:r>
              <a:rPr lang="en-US" sz="1200" dirty="0">
                <a:solidFill>
                  <a:srgbClr val="1A1A1A"/>
                </a:solidFill>
                <a:latin typeface="Inter" pitchFamily="34" charset="0"/>
                <a:ea typeface="Inter" pitchFamily="34" charset="-122"/>
                <a:cs typeface="Inter" pitchFamily="34" charset="-120"/>
              </a:rPr>
              <a:t>Each bar is one platform-year comparison: revenue growth minus transaction-value growth.</a:t>
            </a:r>
            <a:endParaRPr lang="en-US" sz="1100" dirty="0"/>
          </a:p>
          <a:p>
            <a:pPr indent="0" marL="0">
              <a:lnSpc>
                <a:spcPct val="105000"/>
              </a:lnSpc>
              <a:spcBef>
                <a:spcPts val="1200"/>
              </a:spcBef>
              <a:spcAft>
                <a:spcPts val="200"/>
              </a:spcAft>
              <a:buNone/>
            </a:pPr>
            <a:r>
              <a:rPr lang="en-US" sz="1100" b="1" spc="80" kern="0" dirty="0">
                <a:solidFill>
                  <a:srgbClr val="1A1A1A"/>
                </a:solidFill>
                <a:latin typeface="Montserrat" pitchFamily="34" charset="0"/>
                <a:ea typeface="Montserrat" pitchFamily="34" charset="-122"/>
                <a:cs typeface="Montserrat" pitchFamily="34" charset="-120"/>
              </a:rPr>
              <a:t>THE PATTERN:</a:t>
            </a:r>
            <a:endParaRPr lang="en-US" sz="1100" dirty="0"/>
          </a:p>
          <a:p>
            <a:pPr indent="0" marL="0">
              <a:lnSpc>
                <a:spcPct val="105000"/>
              </a:lnSpc>
              <a:spcBef>
                <a:spcPts val="200"/>
              </a:spcBef>
              <a:spcAft>
                <a:spcPts val="100"/>
              </a:spcAft>
              <a:buNone/>
            </a:pPr>
            <a:r>
              <a:rPr lang="en-US" sz="1200" dirty="0">
                <a:solidFill>
                  <a:srgbClr val="1A1A1A"/>
                </a:solidFill>
                <a:latin typeface="Inter" pitchFamily="34" charset="0"/>
                <a:ea typeface="Inter" pitchFamily="34" charset="-122"/>
                <a:cs typeface="Inter" pitchFamily="34" charset="-120"/>
              </a:rPr>
              <a:t>Median gap </a:t>
            </a:r>
            <a:r>
              <a:rPr lang="en-US" sz="1200" b="1" dirty="0">
                <a:solidFill>
                  <a:srgbClr val="1A1A1A"/>
                </a:solidFill>
                <a:latin typeface="Inter" pitchFamily="34" charset="0"/>
                <a:ea typeface="Inter" pitchFamily="34" charset="-122"/>
                <a:cs typeface="Inter" pitchFamily="34" charset="-120"/>
              </a:rPr>
              <a:t>38.92 percentage points</a:t>
            </a:r>
            <a:r>
              <a:rPr lang="en-US" sz="1200" dirty="0">
                <a:solidFill>
                  <a:srgbClr val="1A1A1A"/>
                </a:solidFill>
                <a:latin typeface="Inter" pitchFamily="34" charset="0"/>
                <a:ea typeface="Inter" pitchFamily="34" charset="-122"/>
                <a:cs typeface="Inter" pitchFamily="34" charset="-120"/>
              </a:rPr>
              <a:t>.</a:t>
            </a:r>
            <a:endParaRPr lang="en-US" sz="1100" dirty="0"/>
          </a:p>
          <a:p>
            <a:pPr indent="0" marL="0">
              <a:lnSpc>
                <a:spcPct val="105000"/>
              </a:lnSpc>
              <a:spcBef>
                <a:spcPts val="200"/>
              </a:spcBef>
              <a:spcAft>
                <a:spcPts val="100"/>
              </a:spcAft>
              <a:buNone/>
            </a:pPr>
            <a:r>
              <a:rPr lang="en-US" sz="1200" b="1" dirty="0">
                <a:solidFill>
                  <a:srgbClr val="1A1A1A"/>
                </a:solidFill>
                <a:latin typeface="Inter" pitchFamily="34" charset="0"/>
                <a:ea typeface="Inter" pitchFamily="34" charset="-122"/>
                <a:cs typeface="Inter" pitchFamily="34" charset="-120"/>
              </a:rPr>
              <a:t>Two reversals</a:t>
            </a:r>
            <a:r>
              <a:rPr lang="en-US" sz="1200" dirty="0">
                <a:solidFill>
                  <a:srgbClr val="1A1A1A"/>
                </a:solidFill>
                <a:latin typeface="Inter" pitchFamily="34" charset="0"/>
                <a:ea typeface="Inter" pitchFamily="34" charset="-122"/>
                <a:cs typeface="Inter" pitchFamily="34" charset="-120"/>
              </a:rPr>
              <a:t>, where revenue rose while transaction value fell: Tokopedia 2022–23 and Blibli 2024–25.</a:t>
            </a:r>
            <a:endParaRPr lang="en-US" sz="1100" dirty="0"/>
          </a:p>
          <a:p>
            <a:pPr indent="0" marL="0">
              <a:lnSpc>
                <a:spcPct val="105000"/>
              </a:lnSpc>
              <a:spcBef>
                <a:spcPts val="1200"/>
              </a:spcBef>
              <a:spcAft>
                <a:spcPts val="200"/>
              </a:spcAft>
              <a:buNone/>
            </a:pPr>
            <a:r>
              <a:rPr lang="en-US" sz="1100" b="1" spc="80" kern="0" dirty="0">
                <a:solidFill>
                  <a:srgbClr val="1A1A1A"/>
                </a:solidFill>
                <a:latin typeface="Montserrat" pitchFamily="34" charset="0"/>
                <a:ea typeface="Montserrat" pitchFamily="34" charset="-122"/>
                <a:cs typeface="Montserrat" pitchFamily="34" charset="-120"/>
              </a:rPr>
              <a:t>SO:</a:t>
            </a:r>
            <a:endParaRPr lang="en-US" sz="1100" dirty="0"/>
          </a:p>
          <a:p>
            <a:pPr indent="0" marL="0">
              <a:lnSpc>
                <a:spcPct val="105000"/>
              </a:lnSpc>
              <a:spcBef>
                <a:spcPts val="200"/>
              </a:spcBef>
              <a:spcAft>
                <a:spcPts val="100"/>
              </a:spcAft>
              <a:buNone/>
            </a:pPr>
            <a:r>
              <a:rPr lang="en-US" sz="1200" dirty="0">
                <a:solidFill>
                  <a:srgbClr val="1A1A1A"/>
                </a:solidFill>
                <a:latin typeface="Inter" pitchFamily="34" charset="0"/>
                <a:ea typeface="Inter" pitchFamily="34" charset="-122"/>
                <a:cs typeface="Inter" pitchFamily="34" charset="-120"/>
              </a:rPr>
              <a:t>Tokopedia </a:t>
            </a:r>
            <a:r>
              <a:rPr lang="en-US" sz="1200" b="1" dirty="0">
                <a:solidFill>
                  <a:srgbClr val="1A1A1A"/>
                </a:solidFill>
                <a:latin typeface="Inter" pitchFamily="34" charset="0"/>
                <a:ea typeface="Inter" pitchFamily="34" charset="-122"/>
                <a:cs typeface="Inter" pitchFamily="34" charset="-120"/>
              </a:rPr>
              <a:t>wasn’t a one-off</a:t>
            </a:r>
            <a:r>
              <a:rPr lang="en-US" sz="1200" dirty="0">
                <a:solidFill>
                  <a:srgbClr val="1A1A1A"/>
                </a:solidFill>
                <a:latin typeface="Inter" pitchFamily="34" charset="0"/>
                <a:ea typeface="Inter" pitchFamily="34" charset="-122"/>
                <a:cs typeface="Inter" pitchFamily="34" charset="-120"/>
              </a:rPr>
              <a:t>. But growth rates never match exactly: </a:t>
            </a:r>
            <a:r>
              <a:rPr lang="en-US" sz="1200" b="1" dirty="0">
                <a:solidFill>
                  <a:srgbClr val="1A1A1A"/>
                </a:solidFill>
                <a:latin typeface="Inter" pitchFamily="34" charset="0"/>
                <a:ea typeface="Inter" pitchFamily="34" charset="-122"/>
                <a:cs typeface="Inter" pitchFamily="34" charset="-120"/>
              </a:rPr>
              <a:t>is this unusual?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III. THE EVIDENCE</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13</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H1: Preliminary Formal Evidence</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“Indonesia’s divergence is more than five times the benchmark, and it survives each restriction tested.”</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89888"/>
          <a:ext cx="9144000" cy="914400"/>
        </p:xfrm>
        <a:graphic>
          <a:graphicData uri="http://schemas.openxmlformats.org/drawingml/2006/table">
            <a:tbl>
              <a:tblPr/>
              <a:tblGrid>
                <a:gridCol w="2377440"/>
                <a:gridCol w="1600200"/>
                <a:gridCol w="1874520"/>
              </a:tblGrid>
              <a:tr h="457200">
                <a:tc>
                  <a:txBody>
                    <a:bodyPr/>
                    <a:lstStyle/>
                    <a:p>
                      <a:endParaRPr/>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A1A1A"/>
                          </a:solidFill>
                          <a:latin typeface="Inter" pitchFamily="34" charset="0"/>
                          <a:ea typeface="Inter" pitchFamily="34" charset="-122"/>
                          <a:cs typeface="Inter" pitchFamily="34" charset="-120"/>
                        </a:rPr>
                        <a:t>Indonesia</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A1A1A"/>
                          </a:solidFill>
                          <a:latin typeface="Inter" pitchFamily="34" charset="0"/>
                          <a:ea typeface="Inter" pitchFamily="34" charset="-122"/>
                          <a:cs typeface="Inter" pitchFamily="34" charset="-120"/>
                        </a:rPr>
                        <a:t>Abroad</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57200">
                <a:tc>
                  <a:txBody>
                    <a:bodyPr/>
                    <a:lstStyle/>
                    <a:p>
                      <a:pPr algn="l" indent="0" marL="0">
                        <a:buNone/>
                      </a:pPr>
                      <a:r>
                        <a:rPr lang="en-US" sz="1350" dirty="0">
                          <a:solidFill>
                            <a:srgbClr val="1A1A1A"/>
                          </a:solidFill>
                          <a:latin typeface="Inter" pitchFamily="34" charset="0"/>
                          <a:ea typeface="Inter" pitchFamily="34" charset="-122"/>
                          <a:cs typeface="Inter" pitchFamily="34" charset="-120"/>
                        </a:rPr>
                        <a:t>Median |D|</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1F4E5F"/>
                          </a:solidFill>
                          <a:latin typeface="Inter" pitchFamily="34" charset="0"/>
                          <a:ea typeface="Inter" pitchFamily="34" charset="-122"/>
                          <a:cs typeface="Inter" pitchFamily="34" charset="-120"/>
                        </a:rPr>
                        <a:t>38.92 pp</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A1A"/>
                          </a:solidFill>
                          <a:latin typeface="Inter" pitchFamily="34" charset="0"/>
                          <a:ea typeface="Inter" pitchFamily="34" charset="-122"/>
                          <a:cs typeface="Inter" pitchFamily="34" charset="-120"/>
                        </a:rPr>
                        <a:t>7.10 pp</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57200">
                <a:tc>
                  <a:txBody>
                    <a:bodyPr/>
                    <a:lstStyle/>
                    <a:p>
                      <a:pPr algn="l" indent="0" marL="0">
                        <a:buNone/>
                      </a:pPr>
                      <a:r>
                        <a:rPr lang="en-US" sz="1350" dirty="0">
                          <a:solidFill>
                            <a:srgbClr val="1A1A1A"/>
                          </a:solidFill>
                          <a:latin typeface="Inter" pitchFamily="34" charset="0"/>
                          <a:ea typeface="Inter" pitchFamily="34" charset="-122"/>
                          <a:cs typeface="Inter" pitchFamily="34" charset="-120"/>
                        </a:rPr>
                        <a:t>Growth correlation</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A1A"/>
                          </a:solidFill>
                          <a:latin typeface="Inter" pitchFamily="34" charset="0"/>
                          <a:ea typeface="Inter" pitchFamily="34" charset="-122"/>
                          <a:cs typeface="Inter" pitchFamily="34" charset="-120"/>
                        </a:rPr>
                        <a:t>0.10</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A1A"/>
                          </a:solidFill>
                          <a:latin typeface="Inter" pitchFamily="34" charset="0"/>
                          <a:ea typeface="Inter" pitchFamily="34" charset="-122"/>
                          <a:cs typeface="Inter" pitchFamily="34" charset="-120"/>
                        </a:rPr>
                        <a:t>0.98 (excl. Sea)</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57200">
                <a:tc>
                  <a:txBody>
                    <a:bodyPr/>
                    <a:lstStyle/>
                    <a:p>
                      <a:pPr algn="l" indent="0" marL="0">
                        <a:buNone/>
                      </a:pPr>
                      <a:r>
                        <a:rPr lang="en-US" sz="1350" dirty="0">
                          <a:solidFill>
                            <a:srgbClr val="1A1A1A"/>
                          </a:solidFill>
                          <a:latin typeface="Inter" pitchFamily="34" charset="0"/>
                          <a:ea typeface="Inter" pitchFamily="34" charset="-122"/>
                          <a:cs typeface="Inter" pitchFamily="34" charset="-120"/>
                        </a:rPr>
                        <a:t>Comparisons</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A1A"/>
                          </a:solidFill>
                          <a:latin typeface="Inter" pitchFamily="34" charset="0"/>
                          <a:ea typeface="Inter" pitchFamily="34" charset="-122"/>
                          <a:cs typeface="Inter" pitchFamily="34" charset="-120"/>
                        </a:rPr>
                        <a:t>8</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A1A"/>
                          </a:solidFill>
                          <a:latin typeface="Inter" pitchFamily="34" charset="0"/>
                          <a:ea typeface="Inter" pitchFamily="34" charset="-122"/>
                          <a:cs typeface="Inter" pitchFamily="34" charset="-120"/>
                        </a:rPr>
                        <a:t>29</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3447288"/>
            <a:ext cx="5852160" cy="2651760"/>
          </a:xfrm>
          <a:prstGeom prst="rect">
            <a:avLst/>
          </a:prstGeom>
          <a:noFill/>
          <a:ln/>
        </p:spPr>
        <p:txBody>
          <a:bodyPr wrap="square" lIns="0" tIns="0" rIns="0" bIns="0" rtlCol="0" anchor="t"/>
          <a:lstStyle/>
          <a:p>
            <a:pPr indent="0" marL="0">
              <a:lnSpc>
                <a:spcPct val="105000"/>
              </a:lnSpc>
              <a:spcAft>
                <a:spcPts val="200"/>
              </a:spcAft>
              <a:buNone/>
            </a:pPr>
            <a:r>
              <a:rPr lang="en-US" sz="1250" b="1" spc="80" kern="0" dirty="0">
                <a:solidFill>
                  <a:srgbClr val="1A1A1A"/>
                </a:solidFill>
                <a:latin typeface="Montserrat" pitchFamily="34" charset="0"/>
                <a:ea typeface="Montserrat" pitchFamily="34" charset="-122"/>
                <a:cs typeface="Montserrat" pitchFamily="34" charset="-120"/>
              </a:rPr>
              <a:t>WHAT SETS INDONESIA APART:</a:t>
            </a:r>
            <a:endParaRPr lang="en-US" sz="1250" dirty="0"/>
          </a:p>
          <a:p>
            <a:pPr indent="0" marL="0">
              <a:lnSpc>
                <a:spcPct val="105000"/>
              </a:lnSpc>
              <a:spcBef>
                <a:spcPts val="200"/>
              </a:spcBef>
              <a:spcAft>
                <a:spcPts val="100"/>
              </a:spcAft>
              <a:buNone/>
            </a:pPr>
            <a:r>
              <a:rPr lang="en-US" sz="1350" b="1" dirty="0">
                <a:solidFill>
                  <a:srgbClr val="1A1A1A"/>
                </a:solidFill>
                <a:latin typeface="Inter" pitchFamily="34" charset="0"/>
                <a:ea typeface="Inter" pitchFamily="34" charset="-122"/>
                <a:cs typeface="Inter" pitchFamily="34" charset="-120"/>
              </a:rPr>
              <a:t>Not the direction</a:t>
            </a:r>
            <a:r>
              <a:rPr lang="en-US" sz="1350" dirty="0">
                <a:solidFill>
                  <a:srgbClr val="1A1A1A"/>
                </a:solidFill>
                <a:latin typeface="Inter" pitchFamily="34" charset="0"/>
                <a:ea typeface="Inter" pitchFamily="34" charset="-122"/>
                <a:cs typeface="Inter" pitchFamily="34" charset="-120"/>
              </a:rPr>
              <a:t>: abroad, revenue also tends to grow a little faster than transactions. The difference is </a:t>
            </a:r>
            <a:r>
              <a:rPr lang="en-US" sz="1350" b="1" dirty="0">
                <a:solidFill>
                  <a:srgbClr val="1A1A1A"/>
                </a:solidFill>
                <a:latin typeface="Inter" pitchFamily="34" charset="0"/>
                <a:ea typeface="Inter" pitchFamily="34" charset="-122"/>
                <a:cs typeface="Inter" pitchFamily="34" charset="-120"/>
              </a:rPr>
              <a:t>the size of the gap</a:t>
            </a:r>
            <a:r>
              <a:rPr lang="en-US" sz="1350" dirty="0">
                <a:solidFill>
                  <a:srgbClr val="1A1A1A"/>
                </a:solidFill>
                <a:latin typeface="Inter" pitchFamily="34" charset="0"/>
                <a:ea typeface="Inter" pitchFamily="34" charset="-122"/>
                <a:cs typeface="Inter" pitchFamily="34" charset="-120"/>
              </a:rPr>
              <a:t>, and </a:t>
            </a:r>
            <a:r>
              <a:rPr lang="en-US" sz="1350" b="1" dirty="0">
                <a:solidFill>
                  <a:srgbClr val="1A1A1A"/>
                </a:solidFill>
                <a:latin typeface="Inter" pitchFamily="34" charset="0"/>
                <a:ea typeface="Inter" pitchFamily="34" charset="-122"/>
                <a:cs typeface="Inter" pitchFamily="34" charset="-120"/>
              </a:rPr>
              <a:t>how weakly the two growth rates move together</a:t>
            </a:r>
            <a:r>
              <a:rPr lang="en-US" sz="1350" dirty="0">
                <a:solidFill>
                  <a:srgbClr val="1A1A1A"/>
                </a:solidFill>
                <a:latin typeface="Inter" pitchFamily="34" charset="0"/>
                <a:ea typeface="Inter" pitchFamily="34" charset="-122"/>
                <a:cs typeface="Inter" pitchFamily="34" charset="-120"/>
              </a:rPr>
              <a:t>.</a:t>
            </a:r>
            <a:endParaRPr lang="en-US" sz="1250" dirty="0"/>
          </a:p>
        </p:txBody>
      </p:sp>
      <p:sp>
        <p:nvSpPr>
          <p:cNvPr id="10" name="Shape 6"/>
          <p:cNvSpPr/>
          <p:nvPr/>
        </p:nvSpPr>
        <p:spPr>
          <a:xfrm>
            <a:off x="6720840" y="1344168"/>
            <a:ext cx="0" cy="4572000"/>
          </a:xfrm>
          <a:prstGeom prst="line">
            <a:avLst/>
          </a:prstGeom>
          <a:noFill/>
          <a:ln w="9525">
            <a:solidFill>
              <a:srgbClr val="B9B5AE"/>
            </a:solidFill>
            <a:prstDash val="solid"/>
          </a:ln>
        </p:spPr>
      </p:sp>
      <p:sp>
        <p:nvSpPr>
          <p:cNvPr id="11" name="Text 7"/>
          <p:cNvSpPr txBox="1"/>
          <p:nvPr/>
        </p:nvSpPr>
        <p:spPr>
          <a:xfrm>
            <a:off x="7040880" y="1389888"/>
            <a:ext cx="4599432" cy="4572000"/>
          </a:xfrm>
          <a:prstGeom prst="rect">
            <a:avLst/>
          </a:prstGeom>
          <a:noFill/>
          <a:ln/>
        </p:spPr>
        <p:txBody>
          <a:bodyPr wrap="square" lIns="0" tIns="0" rIns="0" bIns="0" rtlCol="0" anchor="t"/>
          <a:lstStyle/>
          <a:p>
            <a:pPr indent="0" marL="0">
              <a:lnSpc>
                <a:spcPct val="105000"/>
              </a:lnSpc>
              <a:spcAft>
                <a:spcPts val="200"/>
              </a:spcAft>
              <a:buNone/>
            </a:pPr>
            <a:r>
              <a:rPr lang="en-US" sz="1250" b="1" spc="80" kern="0" dirty="0">
                <a:solidFill>
                  <a:srgbClr val="1A1A1A"/>
                </a:solidFill>
                <a:latin typeface="Montserrat" pitchFamily="34" charset="0"/>
                <a:ea typeface="Montserrat" pitchFamily="34" charset="-122"/>
                <a:cs typeface="Montserrat" pitchFamily="34" charset="-120"/>
              </a:rPr>
              <a:t>THE TEST:</a:t>
            </a:r>
            <a:endParaRPr lang="en-US" sz="1250" dirty="0"/>
          </a:p>
          <a:p>
            <a:pPr marL="190500" indent="-190500">
              <a:lnSpc>
                <a:spcPct val="105000"/>
              </a:lnSpc>
              <a:spcBef>
                <a:spcPts val="200"/>
              </a:spcBef>
              <a:spcAft>
                <a:spcPts val="100"/>
              </a:spcAft>
              <a:buSzPct val="100000"/>
              <a:buFont typeface="Segoe UI Symbol"/>
              <a:buChar char="→"/>
            </a:pPr>
            <a:r>
              <a:rPr lang="en-US" sz="1350" dirty="0">
                <a:solidFill>
                  <a:srgbClr val="1A1A1A"/>
                </a:solidFill>
                <a:latin typeface="Inter" pitchFamily="34" charset="0"/>
                <a:ea typeface="Inter" pitchFamily="34" charset="-122"/>
                <a:cs typeface="Inter" pitchFamily="34" charset="-120"/>
              </a:rPr>
              <a:t>One-sided Mann–Whitney on |D|: </a:t>
            </a:r>
            <a:r>
              <a:rPr lang="en-US" sz="1350" b="1" dirty="0">
                <a:solidFill>
                  <a:srgbClr val="1A1A1A"/>
                </a:solidFill>
                <a:latin typeface="Inter" pitchFamily="34" charset="0"/>
                <a:ea typeface="Inter" pitchFamily="34" charset="-122"/>
                <a:cs typeface="Inter" pitchFamily="34" charset="-120"/>
              </a:rPr>
              <a:t>p = 0.002</a:t>
            </a:r>
            <a:endParaRPr lang="en-US" sz="1250" dirty="0"/>
          </a:p>
          <a:p>
            <a:pPr indent="0" marL="0">
              <a:lnSpc>
                <a:spcPct val="105000"/>
              </a:lnSpc>
              <a:spcBef>
                <a:spcPts val="1400"/>
              </a:spcBef>
              <a:spcAft>
                <a:spcPts val="200"/>
              </a:spcAft>
              <a:buNone/>
            </a:pPr>
            <a:r>
              <a:rPr lang="en-US" sz="1250" b="1" spc="80" kern="0" dirty="0">
                <a:solidFill>
                  <a:srgbClr val="1A1A1A"/>
                </a:solidFill>
                <a:latin typeface="Montserrat" pitchFamily="34" charset="0"/>
                <a:ea typeface="Montserrat" pitchFamily="34" charset="-122"/>
                <a:cs typeface="Montserrat" pitchFamily="34" charset="-120"/>
              </a:rPr>
              <a:t>ROBUSTNESS:</a:t>
            </a:r>
            <a:endParaRPr lang="en-US" sz="1250" dirty="0"/>
          </a:p>
          <a:p>
            <a:pPr marL="190500" indent="-190500">
              <a:lnSpc>
                <a:spcPct val="105000"/>
              </a:lnSpc>
              <a:spcBef>
                <a:spcPts val="200"/>
              </a:spcBef>
              <a:spcAft>
                <a:spcPts val="100"/>
              </a:spcAft>
              <a:buSzPct val="100000"/>
              <a:buFont typeface="Segoe UI Symbol"/>
              <a:buChar char="→"/>
            </a:pPr>
            <a:r>
              <a:rPr lang="en-US" sz="1350" dirty="0">
                <a:solidFill>
                  <a:srgbClr val="1A1A1A"/>
                </a:solidFill>
                <a:latin typeface="Inter" pitchFamily="34" charset="0"/>
                <a:ea typeface="Inter" pitchFamily="34" charset="-122"/>
                <a:cs typeface="Inter" pitchFamily="34" charset="-120"/>
              </a:rPr>
              <a:t>Drop the largest case </a:t>
            </a:r>
            <a:r>
              <a:rPr lang="en-US" sz="1350" dirty="0">
                <a:solidFill>
                  <a:srgbClr val="1A1A1A"/>
                </a:solidFill>
                <a:latin typeface="Segoe UI Symbol" pitchFamily="34" charset="0"/>
                <a:ea typeface="Segoe UI Symbol" pitchFamily="34" charset="-122"/>
                <a:cs typeface="Segoe UI Symbol" pitchFamily="34" charset="-120"/>
              </a:rPr>
              <a:t>→</a:t>
            </a:r>
            <a:r>
              <a:rPr lang="en-US" sz="1350" dirty="0">
                <a:solidFill>
                  <a:srgbClr val="1A1A1A"/>
                </a:solidFill>
                <a:latin typeface="Inter" pitchFamily="34" charset="0"/>
                <a:ea typeface="Inter" pitchFamily="34" charset="-122"/>
                <a:cs typeface="Inter" pitchFamily="34" charset="-120"/>
              </a:rPr>
              <a:t> p = 0.006</a:t>
            </a:r>
            <a:endParaRPr lang="en-US" sz="1250" dirty="0"/>
          </a:p>
          <a:p>
            <a:pPr marL="190500" indent="-190500">
              <a:lnSpc>
                <a:spcPct val="105000"/>
              </a:lnSpc>
              <a:spcBef>
                <a:spcPts val="200"/>
              </a:spcBef>
              <a:spcAft>
                <a:spcPts val="100"/>
              </a:spcAft>
              <a:buSzPct val="100000"/>
              <a:buFont typeface="Segoe UI Symbol"/>
              <a:buChar char="→"/>
            </a:pPr>
            <a:r>
              <a:rPr lang="en-US" sz="1350" dirty="0">
                <a:solidFill>
                  <a:srgbClr val="1A1A1A"/>
                </a:solidFill>
                <a:latin typeface="Inter" pitchFamily="34" charset="0"/>
                <a:ea typeface="Inter" pitchFamily="34" charset="-122"/>
                <a:cs typeface="Inter" pitchFamily="34" charset="-120"/>
              </a:rPr>
              <a:t>Exclude Sea from the benchmark </a:t>
            </a:r>
            <a:r>
              <a:rPr lang="en-US" sz="1350" dirty="0">
                <a:solidFill>
                  <a:srgbClr val="1A1A1A"/>
                </a:solidFill>
                <a:latin typeface="Segoe UI Symbol" pitchFamily="34" charset="0"/>
                <a:ea typeface="Segoe UI Symbol" pitchFamily="34" charset="-122"/>
                <a:cs typeface="Segoe UI Symbol" pitchFamily="34" charset="-120"/>
              </a:rPr>
              <a:t>→</a:t>
            </a:r>
            <a:r>
              <a:rPr lang="en-US" sz="1350" dirty="0">
                <a:solidFill>
                  <a:srgbClr val="1A1A1A"/>
                </a:solidFill>
                <a:latin typeface="Inter" pitchFamily="34" charset="0"/>
                <a:ea typeface="Inter" pitchFamily="34" charset="-122"/>
                <a:cs typeface="Inter" pitchFamily="34" charset="-120"/>
              </a:rPr>
              <a:t> p &lt; 0.001</a:t>
            </a:r>
            <a:endParaRPr lang="en-US" sz="1250" dirty="0"/>
          </a:p>
          <a:p>
            <a:pPr marL="190500" indent="-190500">
              <a:lnSpc>
                <a:spcPct val="105000"/>
              </a:lnSpc>
              <a:spcBef>
                <a:spcPts val="200"/>
              </a:spcBef>
              <a:spcAft>
                <a:spcPts val="100"/>
              </a:spcAft>
              <a:buSzPct val="100000"/>
              <a:buFont typeface="Segoe UI Symbol"/>
              <a:buChar char="→"/>
            </a:pPr>
            <a:r>
              <a:rPr lang="en-US" sz="1350" dirty="0">
                <a:solidFill>
                  <a:srgbClr val="1A1A1A"/>
                </a:solidFill>
                <a:latin typeface="Inter" pitchFamily="34" charset="0"/>
                <a:ea typeface="Inter" pitchFamily="34" charset="-122"/>
                <a:cs typeface="Inter" pitchFamily="34" charset="-120"/>
              </a:rPr>
              <a:t>One median per firm </a:t>
            </a:r>
            <a:r>
              <a:rPr lang="en-US" sz="1350" dirty="0">
                <a:solidFill>
                  <a:srgbClr val="1A1A1A"/>
                </a:solidFill>
                <a:latin typeface="Segoe UI Symbol" pitchFamily="34" charset="0"/>
                <a:ea typeface="Segoe UI Symbol" pitchFamily="34" charset="-122"/>
                <a:cs typeface="Segoe UI Symbol" pitchFamily="34" charset="-120"/>
              </a:rPr>
              <a:t>→</a:t>
            </a:r>
            <a:r>
              <a:rPr lang="en-US" sz="1350" dirty="0">
                <a:solidFill>
                  <a:srgbClr val="1A1A1A"/>
                </a:solidFill>
                <a:latin typeface="Inter" pitchFamily="34" charset="0"/>
                <a:ea typeface="Inter" pitchFamily="34" charset="-122"/>
                <a:cs typeface="Inter" pitchFamily="34" charset="-120"/>
              </a:rPr>
              <a:t> p = 0.024</a:t>
            </a:r>
            <a:endParaRPr lang="en-US" sz="1250" dirty="0"/>
          </a:p>
          <a:p>
            <a:pPr indent="0" marL="0">
              <a:lnSpc>
                <a:spcPct val="105000"/>
              </a:lnSpc>
              <a:spcBef>
                <a:spcPts val="1400"/>
              </a:spcBef>
              <a:spcAft>
                <a:spcPts val="200"/>
              </a:spcAft>
              <a:buNone/>
            </a:pPr>
            <a:r>
              <a:rPr lang="en-US" sz="1250" b="1" spc="80" kern="0" dirty="0">
                <a:solidFill>
                  <a:srgbClr val="1A1A1A"/>
                </a:solidFill>
                <a:latin typeface="Montserrat" pitchFamily="34" charset="0"/>
                <a:ea typeface="Montserrat" pitchFamily="34" charset="-122"/>
                <a:cs typeface="Montserrat" pitchFamily="34" charset="-120"/>
              </a:rPr>
              <a:t>INTERPRETATION:</a:t>
            </a:r>
            <a:endParaRPr lang="en-US" sz="1250" dirty="0"/>
          </a:p>
          <a:p>
            <a:pPr marL="190500" indent="-190500">
              <a:lnSpc>
                <a:spcPct val="105000"/>
              </a:lnSpc>
              <a:spcBef>
                <a:spcPts val="200"/>
              </a:spcBef>
              <a:spcAft>
                <a:spcPts val="100"/>
              </a:spcAft>
              <a:buSzPct val="100000"/>
              <a:buFont typeface="Segoe UI Symbol"/>
              <a:buChar char="→"/>
            </a:pPr>
            <a:r>
              <a:rPr lang="en-US" sz="1350" dirty="0">
                <a:solidFill>
                  <a:srgbClr val="1A1A1A"/>
                </a:solidFill>
                <a:latin typeface="Inter" pitchFamily="34" charset="0"/>
                <a:ea typeface="Inter" pitchFamily="34" charset="-122"/>
                <a:cs typeface="Inter" pitchFamily="34" charset="-120"/>
              </a:rPr>
              <a:t>No single statistic carries it; the evidence is cumulative</a:t>
            </a:r>
            <a:endParaRPr lang="en-US" sz="1250" dirty="0"/>
          </a:p>
          <a:p>
            <a:pPr marL="190500" indent="-190500">
              <a:lnSpc>
                <a:spcPct val="105000"/>
              </a:lnSpc>
              <a:spcBef>
                <a:spcPts val="200"/>
              </a:spcBef>
              <a:spcAft>
                <a:spcPts val="100"/>
              </a:spcAft>
              <a:buSzPct val="100000"/>
              <a:buFont typeface="Segoe UI Symbol"/>
              <a:buChar char="→"/>
            </a:pPr>
            <a:r>
              <a:rPr lang="en-US" sz="1350" b="1" dirty="0">
                <a:solidFill>
                  <a:srgbClr val="1A1A1A"/>
                </a:solidFill>
                <a:latin typeface="Inter" pitchFamily="34" charset="0"/>
                <a:ea typeface="Inter" pitchFamily="34" charset="-122"/>
                <a:cs typeface="Inter" pitchFamily="34" charset="-120"/>
              </a:rPr>
              <a:t>Evidence inconsistent with H1</a:t>
            </a:r>
            <a:endParaRPr lang="en-US" sz="1250" dirty="0"/>
          </a:p>
        </p:txBody>
      </p:sp>
      <p:sp>
        <p:nvSpPr>
          <p:cNvPr id="12" name="Text 8"/>
          <p:cNvSpPr txBox="1"/>
          <p:nvPr/>
        </p:nvSpPr>
        <p:spPr>
          <a:xfrm>
            <a:off x="548640" y="5943600"/>
            <a:ext cx="11091672" cy="365760"/>
          </a:xfrm>
          <a:prstGeom prst="rect">
            <a:avLst/>
          </a:prstGeom>
          <a:noFill/>
          <a:ln/>
        </p:spPr>
        <p:txBody>
          <a:bodyPr wrap="square" lIns="0" tIns="0" rIns="0" bIns="0" rtlCol="0" anchor="t"/>
          <a:lstStyle/>
          <a:p>
            <a:pPr algn="l" indent="0" marL="0">
              <a:lnSpc>
                <a:spcPct val="105000"/>
              </a:lnSpc>
              <a:buNone/>
            </a:pPr>
            <a:r>
              <a:rPr lang="en-US" sz="1000" i="1" dirty="0">
                <a:solidFill>
                  <a:srgbClr val="5F5C57"/>
                </a:solidFill>
                <a:latin typeface="Inter" pitchFamily="34" charset="0"/>
                <a:ea typeface="Inter" pitchFamily="34" charset="-122"/>
                <a:cs typeface="Inter" pitchFamily="34" charset="-120"/>
              </a:rPr>
              <a:t>Benchmark: 29 clean comparisons from 8 listed platforms outside Indonesia (issuer filings, 2017–2025). Sea excluded where noted because its Shopee business also operates in Indonesia.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III. THE EVIDENCE</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14</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H2: Preliminary National Evidence</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“National growth came mainly from more participating businesses, not higher sales per business.”</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89888"/>
          <a:ext cx="9144000" cy="914400"/>
        </p:xfrm>
        <a:graphic>
          <a:graphicData uri="http://schemas.openxmlformats.org/drawingml/2006/table">
            <a:tbl>
              <a:tblPr/>
              <a:tblGrid>
                <a:gridCol w="2834640"/>
                <a:gridCol w="1463040"/>
                <a:gridCol w="1463040"/>
              </a:tblGrid>
              <a:tr h="402336">
                <a:tc>
                  <a:txBody>
                    <a:bodyPr/>
                    <a:lstStyle/>
                    <a:p>
                      <a:pPr algn="l" indent="0" marL="0">
                        <a:buNone/>
                      </a:pPr>
                      <a:r>
                        <a:rPr lang="en-US" sz="1250" b="1" dirty="0">
                          <a:solidFill>
                            <a:srgbClr val="1A1A1A"/>
                          </a:solidFill>
                          <a:latin typeface="Inter" pitchFamily="34" charset="0"/>
                          <a:ea typeface="Inter" pitchFamily="34" charset="-122"/>
                          <a:cs typeface="Inter" pitchFamily="34" charset="-120"/>
                        </a:rPr>
                        <a:t>BPS e-commerce survey</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1A1A"/>
                          </a:solidFill>
                          <a:latin typeface="Inter" pitchFamily="34" charset="0"/>
                          <a:ea typeface="Inter" pitchFamily="34" charset="-122"/>
                          <a:cs typeface="Inter" pitchFamily="34" charset="-120"/>
                        </a:rPr>
                        <a:t>2022–23</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1A1A"/>
                          </a:solidFill>
                          <a:latin typeface="Inter" pitchFamily="34" charset="0"/>
                          <a:ea typeface="Inter" pitchFamily="34" charset="-122"/>
                          <a:cs typeface="Inter" pitchFamily="34" charset="-120"/>
                        </a:rPr>
                        <a:t>2023–24</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A1A1A"/>
                          </a:solidFill>
                          <a:latin typeface="Inter" pitchFamily="34" charset="0"/>
                          <a:ea typeface="Inter" pitchFamily="34" charset="-122"/>
                          <a:cs typeface="Inter" pitchFamily="34" charset="-120"/>
                        </a:rPr>
                        <a:t>E-commerce value</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Inter" pitchFamily="34" charset="0"/>
                          <a:ea typeface="Inter" pitchFamily="34" charset="-122"/>
                          <a:cs typeface="Inter" pitchFamily="34" charset="-120"/>
                        </a:rPr>
                        <a:t>+40.60%</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Inter" pitchFamily="34" charset="0"/>
                          <a:ea typeface="Inter" pitchFamily="34" charset="-122"/>
                          <a:cs typeface="Inter" pitchFamily="34" charset="-120"/>
                        </a:rPr>
                        <a:t>+17.08%</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A1A1A"/>
                          </a:solidFill>
                          <a:latin typeface="Inter" pitchFamily="34" charset="0"/>
                          <a:ea typeface="Inter" pitchFamily="34" charset="-122"/>
                          <a:cs typeface="Inter" pitchFamily="34" charset="-120"/>
                        </a:rPr>
                        <a:t>Businesses</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Inter" pitchFamily="34" charset="0"/>
                          <a:ea typeface="Inter" pitchFamily="34" charset="-122"/>
                          <a:cs typeface="Inter" pitchFamily="34" charset="-120"/>
                        </a:rPr>
                        <a:t>+27.40%</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Inter" pitchFamily="34" charset="0"/>
                          <a:ea typeface="Inter" pitchFamily="34" charset="-122"/>
                          <a:cs typeface="Inter" pitchFamily="34" charset="-120"/>
                        </a:rPr>
                        <a:t>+15.31%</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A1A1A"/>
                          </a:solidFill>
                          <a:latin typeface="Inter" pitchFamily="34" charset="0"/>
                          <a:ea typeface="Inter" pitchFamily="34" charset="-122"/>
                          <a:cs typeface="Inter" pitchFamily="34" charset="-120"/>
                        </a:rPr>
                        <a:t>Sales per business</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Inter" pitchFamily="34" charset="0"/>
                          <a:ea typeface="Inter" pitchFamily="34" charset="-122"/>
                          <a:cs typeface="Inter" pitchFamily="34" charset="-120"/>
                        </a:rPr>
                        <a:t>+10.36%</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Inter" pitchFamily="34" charset="0"/>
                          <a:ea typeface="Inter" pitchFamily="34" charset="-122"/>
                          <a:cs typeface="Inter" pitchFamily="34" charset="-120"/>
                        </a:rPr>
                        <a:t>+1.54%</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402336">
                <a:tc>
                  <a:txBody>
                    <a:bodyPr/>
                    <a:lstStyle/>
                    <a:p>
                      <a:pPr algn="l" indent="0" marL="0">
                        <a:buNone/>
                      </a:pPr>
                      <a:r>
                        <a:rPr lang="en-US" sz="1300" b="1" dirty="0">
                          <a:solidFill>
                            <a:srgbClr val="1A1A1A"/>
                          </a:solidFill>
                          <a:latin typeface="Inter" pitchFamily="34" charset="0"/>
                          <a:ea typeface="Inter" pitchFamily="34" charset="-122"/>
                          <a:cs typeface="Inter" pitchFamily="34" charset="-120"/>
                        </a:rPr>
                        <a:t>Share from more businesses</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4E5F"/>
                          </a:solidFill>
                          <a:latin typeface="Segoe UI Symbol" pitchFamily="34" charset="0"/>
                          <a:ea typeface="Segoe UI Symbol" pitchFamily="34" charset="-122"/>
                          <a:cs typeface="Segoe UI Symbol" pitchFamily="34" charset="-120"/>
                        </a:rPr>
                        <a:t>≈</a:t>
                      </a:r>
                      <a:r>
                        <a:rPr lang="en-US" sz="1300" b="1" dirty="0">
                          <a:solidFill>
                            <a:srgbClr val="1F4E5F"/>
                          </a:solidFill>
                          <a:latin typeface="Inter" pitchFamily="34" charset="0"/>
                          <a:ea typeface="Inter" pitchFamily="34" charset="-122"/>
                          <a:cs typeface="Inter" pitchFamily="34" charset="-120"/>
                        </a:rPr>
                        <a:t>71%</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4E5F"/>
                          </a:solidFill>
                          <a:latin typeface="Segoe UI Symbol" pitchFamily="34" charset="0"/>
                          <a:ea typeface="Segoe UI Symbol" pitchFamily="34" charset="-122"/>
                          <a:cs typeface="Segoe UI Symbol" pitchFamily="34" charset="-120"/>
                        </a:rPr>
                        <a:t>≈</a:t>
                      </a:r>
                      <a:r>
                        <a:rPr lang="en-US" sz="1300" b="1" dirty="0">
                          <a:solidFill>
                            <a:srgbClr val="1F4E5F"/>
                          </a:solidFill>
                          <a:latin typeface="Inter" pitchFamily="34" charset="0"/>
                          <a:ea typeface="Inter" pitchFamily="34" charset="-122"/>
                          <a:cs typeface="Inter" pitchFamily="34" charset="-120"/>
                        </a:rPr>
                        <a:t>90%</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bl>
          </a:graphicData>
        </a:graphic>
      </p:graphicFrame>
      <p:sp>
        <p:nvSpPr>
          <p:cNvPr id="9" name="Shape 5"/>
          <p:cNvSpPr/>
          <p:nvPr/>
        </p:nvSpPr>
        <p:spPr>
          <a:xfrm>
            <a:off x="6629400" y="1344168"/>
            <a:ext cx="0" cy="2651760"/>
          </a:xfrm>
          <a:prstGeom prst="line">
            <a:avLst/>
          </a:prstGeom>
          <a:noFill/>
          <a:ln w="9525">
            <a:solidFill>
              <a:srgbClr val="B9B5AE"/>
            </a:solidFill>
            <a:prstDash val="solid"/>
          </a:ln>
        </p:spPr>
      </p:sp>
      <p:sp>
        <p:nvSpPr>
          <p:cNvPr id="10" name="Text 6"/>
          <p:cNvSpPr txBox="1"/>
          <p:nvPr/>
        </p:nvSpPr>
        <p:spPr>
          <a:xfrm>
            <a:off x="6949440" y="1362456"/>
            <a:ext cx="4690872" cy="274320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HOW IT IS SPLIT:</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National e-commerce can grow because </a:t>
            </a:r>
            <a:r>
              <a:rPr lang="en-US" sz="1250" b="1" dirty="0">
                <a:solidFill>
                  <a:srgbClr val="1A1A1A"/>
                </a:solidFill>
                <a:latin typeface="Inter" pitchFamily="34" charset="0"/>
                <a:ea typeface="Inter" pitchFamily="34" charset="-122"/>
                <a:cs typeface="Inter" pitchFamily="34" charset="-120"/>
              </a:rPr>
              <a:t>more businesses sell online</a:t>
            </a:r>
            <a:r>
              <a:rPr lang="en-US" sz="1250" dirty="0">
                <a:solidFill>
                  <a:srgbClr val="1A1A1A"/>
                </a:solidFill>
                <a:latin typeface="Inter" pitchFamily="34" charset="0"/>
                <a:ea typeface="Inter" pitchFamily="34" charset="-122"/>
                <a:cs typeface="Inter" pitchFamily="34" charset="-120"/>
              </a:rPr>
              <a:t>, or because </a:t>
            </a:r>
            <a:r>
              <a:rPr lang="en-US" sz="1250" b="1" dirty="0">
                <a:solidFill>
                  <a:srgbClr val="1A1A1A"/>
                </a:solidFill>
                <a:latin typeface="Inter" pitchFamily="34" charset="0"/>
                <a:ea typeface="Inter" pitchFamily="34" charset="-122"/>
                <a:cs typeface="Inter" pitchFamily="34" charset="-120"/>
              </a:rPr>
              <a:t>each business sells more</a:t>
            </a:r>
            <a:r>
              <a:rPr lang="en-US" sz="1250" dirty="0">
                <a:solidFill>
                  <a:srgbClr val="1A1A1A"/>
                </a:solidFill>
                <a:latin typeface="Inter" pitchFamily="34" charset="0"/>
                <a:ea typeface="Inter" pitchFamily="34" charset="-122"/>
                <a:cs typeface="Inter" pitchFamily="34" charset="-120"/>
              </a:rPr>
              <a:t>. BPS reports both, so growth can be divided between the two.</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FINDING:</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Growth came mainly from an increase in participating businesses, </a:t>
            </a:r>
            <a:r>
              <a:rPr lang="en-US" sz="1250" b="1" dirty="0">
                <a:solidFill>
                  <a:srgbClr val="1A1A1A"/>
                </a:solidFill>
                <a:latin typeface="Inter" pitchFamily="34" charset="0"/>
                <a:ea typeface="Inter" pitchFamily="34" charset="-122"/>
                <a:cs typeface="Inter" pitchFamily="34" charset="-120"/>
              </a:rPr>
              <a:t>in both years</a:t>
            </a:r>
            <a:r>
              <a:rPr lang="en-US" sz="1250" dirty="0">
                <a:solidFill>
                  <a:srgbClr val="1A1A1A"/>
                </a:solidFill>
                <a:latin typeface="Inter" pitchFamily="34" charset="0"/>
                <a:ea typeface="Inter" pitchFamily="34" charset="-122"/>
                <a:cs typeface="Inter" pitchFamily="34" charset="-120"/>
              </a:rPr>
              <a:t>. BPS’s alternative 2023 count changes the </a:t>
            </a:r>
            <a:r>
              <a:rPr lang="en-US" sz="1250" b="1" dirty="0">
                <a:solidFill>
                  <a:srgbClr val="1A1A1A"/>
                </a:solidFill>
                <a:latin typeface="Inter" pitchFamily="34" charset="0"/>
                <a:ea typeface="Inter" pitchFamily="34" charset="-122"/>
                <a:cs typeface="Inter" pitchFamily="34" charset="-120"/>
              </a:rPr>
              <a:t>size, not the conclusion</a:t>
            </a:r>
            <a:r>
              <a:rPr lang="en-US" sz="1250" dirty="0">
                <a:solidFill>
                  <a:srgbClr val="1A1A1A"/>
                </a:solidFill>
                <a:latin typeface="Inter" pitchFamily="34" charset="0"/>
                <a:ea typeface="Inter" pitchFamily="34" charset="-122"/>
                <a:cs typeface="Inter" pitchFamily="34" charset="-120"/>
              </a:rPr>
              <a:t>.</a:t>
            </a:r>
            <a:endParaRPr lang="en-US" sz="1150" dirty="0"/>
          </a:p>
          <a:p>
            <a:pPr indent="0" marL="0">
              <a:lnSpc>
                <a:spcPct val="105000"/>
              </a:lnSpc>
              <a:spcBef>
                <a:spcPts val="9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INTERPRETATION:</a:t>
            </a:r>
            <a:endParaRPr lang="en-US" sz="1150" dirty="0"/>
          </a:p>
          <a:p>
            <a:pPr indent="0" marL="0">
              <a:lnSpc>
                <a:spcPct val="105000"/>
              </a:lnSpc>
              <a:spcBef>
                <a:spcPts val="200"/>
              </a:spcBef>
              <a:spcAft>
                <a:spcPts val="100"/>
              </a:spcAft>
              <a:buNone/>
            </a:pPr>
            <a:r>
              <a:rPr lang="en-US" sz="1250" b="1" dirty="0">
                <a:solidFill>
                  <a:srgbClr val="1A1A1A"/>
                </a:solidFill>
                <a:latin typeface="Inter" pitchFamily="34" charset="0"/>
                <a:ea typeface="Inter" pitchFamily="34" charset="-122"/>
                <a:cs typeface="Inter" pitchFamily="34" charset="-120"/>
              </a:rPr>
              <a:t>Evidence consistent with H2</a:t>
            </a:r>
            <a:r>
              <a:rPr lang="en-US" sz="1250" dirty="0">
                <a:solidFill>
                  <a:srgbClr val="1A1A1A"/>
                </a:solidFill>
                <a:latin typeface="Inter" pitchFamily="34" charset="0"/>
                <a:ea typeface="Inter" pitchFamily="34" charset="-122"/>
                <a:cs typeface="Inter" pitchFamily="34" charset="-120"/>
              </a:rPr>
              <a:t> (an arithmetic decomposition, not entry dynamics).</a:t>
            </a:r>
            <a:endParaRPr lang="en-US" sz="1150" dirty="0"/>
          </a:p>
        </p:txBody>
      </p:sp>
      <p:sp>
        <p:nvSpPr>
          <p:cNvPr id="11" name="Shape 7"/>
          <p:cNvSpPr/>
          <p:nvPr/>
        </p:nvSpPr>
        <p:spPr>
          <a:xfrm>
            <a:off x="548640" y="4087368"/>
            <a:ext cx="11091672" cy="1234440"/>
          </a:xfrm>
          <a:prstGeom prst="rect">
            <a:avLst/>
          </a:prstGeom>
          <a:solidFill>
            <a:srgbClr val="FFFFFF"/>
          </a:solidFill>
          <a:ln w="9525">
            <a:solidFill>
              <a:srgbClr val="1A1A1A"/>
            </a:solidFill>
            <a:prstDash val="solid"/>
          </a:ln>
        </p:spPr>
      </p:sp>
      <p:sp>
        <p:nvSpPr>
          <p:cNvPr id="12" name="Text 8"/>
          <p:cNvSpPr txBox="1"/>
          <p:nvPr/>
        </p:nvSpPr>
        <p:spPr>
          <a:xfrm>
            <a:off x="749808" y="4215384"/>
            <a:ext cx="5486400" cy="201168"/>
          </a:xfrm>
          <a:prstGeom prst="rect">
            <a:avLst/>
          </a:prstGeom>
          <a:noFill/>
          <a:ln/>
        </p:spPr>
        <p:txBody>
          <a:bodyPr wrap="square" lIns="0" tIns="0" rIns="0" bIns="0" rtlCol="0" anchor="t"/>
          <a:lstStyle/>
          <a:p>
            <a:pPr algn="l" indent="0" marL="0">
              <a:lnSpc>
                <a:spcPct val="105000"/>
              </a:lnSpc>
              <a:buNone/>
            </a:pPr>
            <a:r>
              <a:rPr lang="en-US" sz="1100" b="1" spc="80" kern="0" dirty="0">
                <a:solidFill>
                  <a:srgbClr val="1A1A1A"/>
                </a:solidFill>
                <a:latin typeface="Montserrat" pitchFamily="34" charset="0"/>
                <a:ea typeface="Montserrat" pitchFamily="34" charset="-122"/>
                <a:cs typeface="Montserrat" pitchFamily="34" charset="-120"/>
              </a:rPr>
              <a:t>SUPPORTING CHANNEL RESULT, 2023–24</a:t>
            </a:r>
            <a:endParaRPr lang="en-US" sz="1100" dirty="0"/>
          </a:p>
        </p:txBody>
      </p:sp>
      <p:sp>
        <p:nvSpPr>
          <p:cNvPr id="13" name="Text 9"/>
          <p:cNvSpPr txBox="1"/>
          <p:nvPr/>
        </p:nvSpPr>
        <p:spPr>
          <a:xfrm>
            <a:off x="749808" y="4498848"/>
            <a:ext cx="10689336" cy="274320"/>
          </a:xfrm>
          <a:prstGeom prst="rect">
            <a:avLst/>
          </a:prstGeom>
          <a:noFill/>
          <a:ln/>
        </p:spPr>
        <p:txBody>
          <a:bodyPr wrap="square" lIns="0" tIns="0" rIns="0" bIns="0" rtlCol="0" anchor="t"/>
          <a:lstStyle/>
          <a:p>
            <a:pPr algn="l" indent="0" marL="0">
              <a:lnSpc>
                <a:spcPct val="105000"/>
              </a:lnSpc>
              <a:buNone/>
            </a:pPr>
            <a:r>
              <a:rPr lang="en-US" sz="1300" dirty="0">
                <a:solidFill>
                  <a:srgbClr val="1A1A1A"/>
                </a:solidFill>
                <a:latin typeface="Inter" pitchFamily="34" charset="0"/>
                <a:ea typeface="Inter" pitchFamily="34" charset="-122"/>
                <a:cs typeface="Inter" pitchFamily="34" charset="-120"/>
              </a:rPr>
              <a:t>Marketplace category +1.45%  ·  other channels +20.57%  </a:t>
            </a:r>
            <a:r>
              <a:rPr lang="en-US" sz="1300" dirty="0">
                <a:solidFill>
                  <a:srgbClr val="1A1A1A"/>
                </a:solidFill>
                <a:latin typeface="Segoe UI Symbol" pitchFamily="34" charset="0"/>
                <a:ea typeface="Segoe UI Symbol" pitchFamily="34" charset="-122"/>
                <a:cs typeface="Segoe UI Symbol" pitchFamily="34" charset="-120"/>
              </a:rPr>
              <a:t>→</a:t>
            </a:r>
            <a:r>
              <a:rPr lang="en-US" sz="1300" dirty="0">
                <a:solidFill>
                  <a:srgbClr val="1A1A1A"/>
                </a:solidFill>
                <a:latin typeface="Inter" pitchFamily="34" charset="0"/>
                <a:ea typeface="Inter" pitchFamily="34" charset="-122"/>
                <a:cs typeface="Inter" pitchFamily="34" charset="-120"/>
              </a:rPr>
              <a:t>  </a:t>
            </a:r>
            <a:r>
              <a:rPr lang="en-US" sz="1300" b="1" dirty="0">
                <a:solidFill>
                  <a:srgbClr val="1A1A1A"/>
                </a:solidFill>
                <a:latin typeface="Inter" pitchFamily="34" charset="0"/>
                <a:ea typeface="Inter" pitchFamily="34" charset="-122"/>
                <a:cs typeface="Inter" pitchFamily="34" charset="-120"/>
              </a:rPr>
              <a:t>98.46% of measured growth outside BPS’s marketplace category</a:t>
            </a:r>
            <a:endParaRPr lang="en-US" sz="1300" dirty="0"/>
          </a:p>
        </p:txBody>
      </p:sp>
      <p:sp>
        <p:nvSpPr>
          <p:cNvPr id="14" name="Text 10"/>
          <p:cNvSpPr txBox="1"/>
          <p:nvPr/>
        </p:nvSpPr>
        <p:spPr>
          <a:xfrm>
            <a:off x="749808" y="4818888"/>
            <a:ext cx="10689336" cy="411480"/>
          </a:xfrm>
          <a:prstGeom prst="rect">
            <a:avLst/>
          </a:prstGeom>
          <a:noFill/>
          <a:ln/>
        </p:spPr>
        <p:txBody>
          <a:bodyPr wrap="square" lIns="0" tIns="0" rIns="0" bIns="0" rtlCol="0" anchor="t"/>
          <a:lstStyle/>
          <a:p>
            <a:pPr algn="l" indent="0" marL="0">
              <a:lnSpc>
                <a:spcPct val="105000"/>
              </a:lnSpc>
              <a:buNone/>
            </a:pPr>
            <a:r>
              <a:rPr lang="en-US" sz="1150" i="1" dirty="0">
                <a:solidFill>
                  <a:srgbClr val="5F5C57"/>
                </a:solidFill>
                <a:latin typeface="Inter" pitchFamily="34" charset="0"/>
                <a:ea typeface="Inter" pitchFamily="34" charset="-122"/>
                <a:cs typeface="Inter" pitchFamily="34" charset="-120"/>
              </a:rPr>
              <a:t>Why it matters: growth through more sellers can take place in channels platform accounts do not cover, the kind of channels the Tanah Abang case involved, so platform figures can miss it even when </a:t>
            </a:r>
            <a:r>
              <a:rPr lang="en-US" sz="1150" b="1" i="1" dirty="0">
                <a:solidFill>
                  <a:srgbClr val="5F5C57"/>
                </a:solidFill>
                <a:latin typeface="Inter" pitchFamily="34" charset="0"/>
                <a:ea typeface="Inter" pitchFamily="34" charset="-122"/>
                <a:cs typeface="Inter" pitchFamily="34" charset="-120"/>
              </a:rPr>
              <a:t>every platform reports accurately</a:t>
            </a:r>
            <a:r>
              <a:rPr lang="en-US" sz="1150" i="1" dirty="0">
                <a:solidFill>
                  <a:srgbClr val="5F5C57"/>
                </a:solidFill>
                <a:latin typeface="Inter" pitchFamily="34" charset="0"/>
                <a:ea typeface="Inter" pitchFamily="34" charset="-122"/>
                <a:cs typeface="Inter" pitchFamily="34" charset="-120"/>
              </a:rPr>
              <a:t>.</a:t>
            </a:r>
            <a:endParaRPr lang="en-US" sz="1150" dirty="0"/>
          </a:p>
        </p:txBody>
      </p:sp>
      <p:sp>
        <p:nvSpPr>
          <p:cNvPr id="15" name="Text 11"/>
          <p:cNvSpPr txBox="1"/>
          <p:nvPr/>
        </p:nvSpPr>
        <p:spPr>
          <a:xfrm>
            <a:off x="548640" y="5458968"/>
            <a:ext cx="11091672" cy="365760"/>
          </a:xfrm>
          <a:prstGeom prst="rect">
            <a:avLst/>
          </a:prstGeom>
          <a:noFill/>
          <a:ln/>
        </p:spPr>
        <p:txBody>
          <a:bodyPr wrap="square" lIns="0" tIns="0" rIns="0" bIns="0" rtlCol="0" anchor="t"/>
          <a:lstStyle/>
          <a:p>
            <a:pPr algn="l" indent="0" marL="0">
              <a:lnSpc>
                <a:spcPct val="105000"/>
              </a:lnSpc>
              <a:buNone/>
            </a:pPr>
            <a:r>
              <a:rPr lang="en-US" sz="1050" i="1" dirty="0">
                <a:solidFill>
                  <a:srgbClr val="5F5C57"/>
                </a:solidFill>
                <a:latin typeface="Inter" pitchFamily="34" charset="0"/>
                <a:ea typeface="Inter" pitchFamily="34" charset="-122"/>
                <a:cs typeface="Inter" pitchFamily="34" charset="-120"/>
              </a:rPr>
              <a:t>2023: 95.33% of e-commerce businesses used instant messaging · complete financial statements: 28.63% of marketplace users vs 12.25% of non-users (association, not cause).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III. THE EVIDENCE</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15</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Platform and National Measures Are Not Yet Reconcilable</a:t>
            </a:r>
            <a:endParaRPr lang="en-US" sz="2600" dirty="0"/>
          </a:p>
        </p:txBody>
      </p:sp>
      <p:sp>
        <p:nvSpPr>
          <p:cNvPr id="7" name="Text 4"/>
          <p:cNvSpPr txBox="1"/>
          <p:nvPr/>
        </p:nvSpPr>
        <p:spPr>
          <a:xfrm>
            <a:off x="548640" y="896112"/>
            <a:ext cx="11091672" cy="54864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“Their levels differ sharply, and they classify economic activity differently; reconciling those definitions is part of the thesis.”</a:t>
            </a:r>
            <a:endParaRPr lang="en-US" sz="1500" dirty="0"/>
          </a:p>
        </p:txBody>
      </p:sp>
      <p:sp>
        <p:nvSpPr>
          <p:cNvPr id="8" name="Text 5"/>
          <p:cNvSpPr txBox="1"/>
          <p:nvPr/>
        </p:nvSpPr>
        <p:spPr>
          <a:xfrm>
            <a:off x="548640" y="1591056"/>
            <a:ext cx="6035040"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Levels, 2023</a:t>
            </a:r>
            <a:endParaRPr lang="en-US" sz="1450" dirty="0"/>
          </a:p>
        </p:txBody>
      </p:sp>
      <p:sp>
        <p:nvSpPr>
          <p:cNvPr id="9" name="Shape 6"/>
          <p:cNvSpPr/>
          <p:nvPr/>
        </p:nvSpPr>
        <p:spPr>
          <a:xfrm>
            <a:off x="548640" y="1892808"/>
            <a:ext cx="6035040" cy="0"/>
          </a:xfrm>
          <a:prstGeom prst="line">
            <a:avLst/>
          </a:prstGeom>
          <a:noFill/>
          <a:ln w="9525">
            <a:solidFill>
              <a:srgbClr val="B9B5AE"/>
            </a:solidFill>
            <a:prstDash val="solid"/>
          </a:ln>
        </p:spPr>
      </p:sp>
      <p:sp>
        <p:nvSpPr>
          <p:cNvPr id="10" name="Text 7"/>
          <p:cNvSpPr txBox="1"/>
          <p:nvPr/>
        </p:nvSpPr>
        <p:spPr>
          <a:xfrm>
            <a:off x="548640" y="2002536"/>
            <a:ext cx="6035040" cy="448056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BPS MARKETPLACE CATEGORY:</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About US$13.2B (Rp200.68T), </a:t>
            </a:r>
            <a:r>
              <a:rPr lang="en-US" sz="1250" b="1" dirty="0">
                <a:solidFill>
                  <a:srgbClr val="1A1A1A"/>
                </a:solidFill>
                <a:latin typeface="Inter" pitchFamily="34" charset="0"/>
                <a:ea typeface="Inter" pitchFamily="34" charset="-122"/>
                <a:cs typeface="Inter" pitchFamily="34" charset="-120"/>
              </a:rPr>
              <a:t>18.2%</a:t>
            </a:r>
            <a:r>
              <a:rPr lang="en-US" sz="1250" dirty="0">
                <a:solidFill>
                  <a:srgbClr val="1A1A1A"/>
                </a:solidFill>
                <a:latin typeface="Inter" pitchFamily="34" charset="0"/>
                <a:ea typeface="Inter" pitchFamily="34" charset="-122"/>
                <a:cs typeface="Inter" pitchFamily="34" charset="-120"/>
              </a:rPr>
              <a:t> of national e-commerce value.</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PLATFORMS’ OWN FIGURES:</a:t>
            </a:r>
            <a:endParaRPr lang="en-US" sz="1150" dirty="0"/>
          </a:p>
          <a:p>
            <a:pPr indent="0" marL="0">
              <a:lnSpc>
                <a:spcPct val="105000"/>
              </a:lnSpc>
              <a:spcBef>
                <a:spcPts val="200"/>
              </a:spcBef>
              <a:spcAft>
                <a:spcPts val="100"/>
              </a:spcAft>
              <a:buNone/>
            </a:pPr>
            <a:r>
              <a:rPr lang="en-US" sz="1250" dirty="0">
                <a:solidFill>
                  <a:srgbClr val="1A1A1A"/>
                </a:solidFill>
                <a:latin typeface="Inter" pitchFamily="34" charset="0"/>
                <a:ea typeface="Inter" pitchFamily="34" charset="-122"/>
                <a:cs typeface="Inter" pitchFamily="34" charset="-120"/>
              </a:rPr>
              <a:t>Tokopedia’s transaction value plus Shopee’s estimate: about US$37.9B. </a:t>
            </a:r>
            <a:r>
              <a:rPr lang="en-US" sz="1250" b="1" dirty="0">
                <a:solidFill>
                  <a:srgbClr val="1A1A1A"/>
                </a:solidFill>
                <a:latin typeface="Inter" pitchFamily="34" charset="0"/>
                <a:ea typeface="Inter" pitchFamily="34" charset="-122"/>
                <a:cs typeface="Inter" pitchFamily="34" charset="-120"/>
              </a:rPr>
              <a:t>Either one alone is larger</a:t>
            </a:r>
            <a:r>
              <a:rPr lang="en-US" sz="1250" dirty="0">
                <a:solidFill>
                  <a:srgbClr val="1A1A1A"/>
                </a:solidFill>
                <a:latin typeface="Inter" pitchFamily="34" charset="0"/>
                <a:ea typeface="Inter" pitchFamily="34" charset="-122"/>
                <a:cs typeface="Inter" pitchFamily="34" charset="-120"/>
              </a:rPr>
              <a:t> than the BPS marketplace category.</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WHY THEY ARE NOT YET LIKE-FOR-LIKE:</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BPS assigns surveyed online sales to statistical channels</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Platform disclosures aggregate transaction activity under each platform’s </a:t>
            </a:r>
            <a:r>
              <a:rPr lang="en-US" sz="1250" b="1" dirty="0">
                <a:solidFill>
                  <a:srgbClr val="1A1A1A"/>
                </a:solidFill>
                <a:latin typeface="Inter" pitchFamily="34" charset="0"/>
                <a:ea typeface="Inter" pitchFamily="34" charset="-122"/>
                <a:cs typeface="Inter" pitchFamily="34" charset="-120"/>
              </a:rPr>
              <a:t>own scope and definitions</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Coverage, attribution and reporting scope therefore require reconciliation</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WHAT THE THESIS DOES FIRST:</a:t>
            </a:r>
            <a:endParaRPr lang="en-US" sz="1150" dirty="0"/>
          </a:p>
          <a:p>
            <a:pPr indent="0" marL="0">
              <a:lnSpc>
                <a:spcPct val="105000"/>
              </a:lnSpc>
              <a:spcBef>
                <a:spcPts val="200"/>
              </a:spcBef>
              <a:spcAft>
                <a:spcPts val="100"/>
              </a:spcAft>
              <a:buNone/>
            </a:pPr>
            <a:r>
              <a:rPr lang="en-US" sz="1250" b="1" dirty="0">
                <a:solidFill>
                  <a:srgbClr val="1A1A1A"/>
                </a:solidFill>
                <a:latin typeface="Inter" pitchFamily="34" charset="0"/>
                <a:ea typeface="Inter" pitchFamily="34" charset="-122"/>
                <a:cs typeface="Inter" pitchFamily="34" charset="-120"/>
              </a:rPr>
              <a:t>Reconcile the definitions</a:t>
            </a:r>
            <a:r>
              <a:rPr lang="en-US" sz="1250" dirty="0">
                <a:solidFill>
                  <a:srgbClr val="1A1A1A"/>
                </a:solidFill>
                <a:latin typeface="Inter" pitchFamily="34" charset="0"/>
                <a:ea typeface="Inter" pitchFamily="34" charset="-122"/>
                <a:cs typeface="Inter" pitchFamily="34" charset="-120"/>
              </a:rPr>
              <a:t> before attributing any part of the difference to coverage.</a:t>
            </a:r>
            <a:endParaRPr lang="en-US" sz="1150" dirty="0"/>
          </a:p>
        </p:txBody>
      </p:sp>
      <p:sp>
        <p:nvSpPr>
          <p:cNvPr id="11" name="Shape 8"/>
          <p:cNvSpPr/>
          <p:nvPr/>
        </p:nvSpPr>
        <p:spPr>
          <a:xfrm>
            <a:off x="6903720" y="1591056"/>
            <a:ext cx="0" cy="4754880"/>
          </a:xfrm>
          <a:prstGeom prst="line">
            <a:avLst/>
          </a:prstGeom>
          <a:noFill/>
          <a:ln w="9525">
            <a:solidFill>
              <a:srgbClr val="B9B5AE"/>
            </a:solidFill>
            <a:prstDash val="solid"/>
          </a:ln>
        </p:spPr>
      </p:sp>
      <p:sp>
        <p:nvSpPr>
          <p:cNvPr id="12" name="Text 9"/>
          <p:cNvSpPr txBox="1"/>
          <p:nvPr/>
        </p:nvSpPr>
        <p:spPr>
          <a:xfrm>
            <a:off x="7223760" y="1591056"/>
            <a:ext cx="4416552"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Growth, 2023 </a:t>
            </a:r>
            <a:r>
              <a:rPr lang="en-US" sz="1450" dirty="0">
                <a:solidFill>
                  <a:srgbClr val="1A1A1A"/>
                </a:solidFill>
                <a:latin typeface="Segoe UI Symbol" pitchFamily="34" charset="0"/>
                <a:ea typeface="Segoe UI Symbol" pitchFamily="34" charset="-122"/>
                <a:cs typeface="Segoe UI Symbol" pitchFamily="34" charset="-120"/>
              </a:rPr>
              <a:t>→</a:t>
            </a:r>
            <a:r>
              <a:rPr lang="en-US" sz="1450" dirty="0">
                <a:solidFill>
                  <a:srgbClr val="1A1A1A"/>
                </a:solidFill>
                <a:latin typeface="Montserrat SemiBold" pitchFamily="34" charset="0"/>
                <a:ea typeface="Montserrat SemiBold" pitchFamily="34" charset="-122"/>
                <a:cs typeface="Montserrat SemiBold" pitchFamily="34" charset="-120"/>
              </a:rPr>
              <a:t> 2024</a:t>
            </a:r>
            <a:endParaRPr lang="en-US" sz="1450" dirty="0"/>
          </a:p>
        </p:txBody>
      </p:sp>
      <p:sp>
        <p:nvSpPr>
          <p:cNvPr id="13" name="Shape 10"/>
          <p:cNvSpPr/>
          <p:nvPr/>
        </p:nvSpPr>
        <p:spPr>
          <a:xfrm>
            <a:off x="7223760" y="1892808"/>
            <a:ext cx="4416552" cy="0"/>
          </a:xfrm>
          <a:prstGeom prst="line">
            <a:avLst/>
          </a:prstGeom>
          <a:noFill/>
          <a:ln w="9525">
            <a:solidFill>
              <a:srgbClr val="B9B5AE"/>
            </a:solidFill>
            <a:prstDash val="solid"/>
          </a:ln>
        </p:spPr>
      </p:sp>
      <p:sp>
        <p:nvSpPr>
          <p:cNvPr id="14" name="Text 11"/>
          <p:cNvSpPr txBox="1"/>
          <p:nvPr/>
        </p:nvSpPr>
        <p:spPr>
          <a:xfrm>
            <a:off x="7223760" y="2002536"/>
            <a:ext cx="4416552" cy="4480560"/>
          </a:xfrm>
          <a:prstGeom prst="rect">
            <a:avLst/>
          </a:prstGeom>
          <a:noFill/>
          <a:ln/>
        </p:spPr>
        <p:txBody>
          <a:bodyPr wrap="square" lIns="0" tIns="0" rIns="0" bIns="0" rtlCol="0" anchor="t"/>
          <a:lstStyle/>
          <a:p>
            <a:pPr indent="0" marL="0">
              <a:lnSpc>
                <a:spcPct val="105000"/>
              </a:lnSpc>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E-COMMERCE (BPS):</a:t>
            </a:r>
            <a:r>
              <a:rPr lang="en-US" sz="1250" dirty="0">
                <a:solidFill>
                  <a:srgbClr val="1A1A1A"/>
                </a:solidFill>
                <a:latin typeface="Inter" pitchFamily="34" charset="0"/>
                <a:ea typeface="Inter" pitchFamily="34" charset="-122"/>
                <a:cs typeface="Inter" pitchFamily="34" charset="-120"/>
              </a:rPr>
              <a:t> +17.08%</a:t>
            </a:r>
            <a:endParaRPr lang="en-US" sz="1150" dirty="0"/>
          </a:p>
          <a:p>
            <a:pPr indent="0" marL="0">
              <a:lnSpc>
                <a:spcPct val="105000"/>
              </a:lnSpc>
              <a:spcBef>
                <a:spcPts val="1000"/>
              </a:spcBef>
              <a:spcAft>
                <a:spcPts val="200"/>
              </a:spcAft>
              <a:buNone/>
            </a:pPr>
            <a:r>
              <a:rPr lang="en-US" sz="1150" b="1" spc="80" kern="0" dirty="0">
                <a:solidFill>
                  <a:srgbClr val="1A1A1A"/>
                </a:solidFill>
                <a:latin typeface="Montserrat" pitchFamily="34" charset="0"/>
                <a:ea typeface="Montserrat" pitchFamily="34" charset="-122"/>
                <a:cs typeface="Montserrat" pitchFamily="34" charset="-120"/>
              </a:rPr>
              <a:t>PAYMENTS (BANK INDONESIA):</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E-money shopping +30.47%</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Mobile banking +82.84%</a:t>
            </a:r>
            <a:endParaRPr lang="en-US" sz="1150" dirty="0"/>
          </a:p>
          <a:p>
            <a:pPr marL="190500" indent="-190500">
              <a:lnSpc>
                <a:spcPct val="105000"/>
              </a:lnSpc>
              <a:spcBef>
                <a:spcPts val="200"/>
              </a:spcBef>
              <a:spcAft>
                <a:spcPts val="100"/>
              </a:spcAft>
              <a:buSzPct val="100000"/>
              <a:buFont typeface="Segoe UI Symbol"/>
              <a:buChar char="→"/>
            </a:pPr>
            <a:r>
              <a:rPr lang="en-US" sz="1250" dirty="0">
                <a:solidFill>
                  <a:srgbClr val="1A1A1A"/>
                </a:solidFill>
                <a:latin typeface="Inter" pitchFamily="34" charset="0"/>
                <a:ea typeface="Inter" pitchFamily="34" charset="-122"/>
                <a:cs typeface="Inter" pitchFamily="34" charset="-120"/>
              </a:rPr>
              <a:t>QRIS +186.98%</a:t>
            </a:r>
            <a:endParaRPr lang="en-US" sz="1150" dirty="0"/>
          </a:p>
          <a:p>
            <a:pPr indent="0" marL="0">
              <a:lnSpc>
                <a:spcPct val="105000"/>
              </a:lnSpc>
              <a:spcBef>
                <a:spcPts val="1000"/>
              </a:spcBef>
              <a:spcAft>
                <a:spcPts val="100"/>
              </a:spcAft>
              <a:buNone/>
            </a:pPr>
            <a:r>
              <a:rPr lang="en-US" sz="1250" dirty="0">
                <a:solidFill>
                  <a:srgbClr val="1A1A1A"/>
                </a:solidFill>
                <a:latin typeface="Inter" pitchFamily="34" charset="0"/>
                <a:ea typeface="Inter" pitchFamily="34" charset="-122"/>
                <a:cs typeface="Inter" pitchFamily="34" charset="-120"/>
              </a:rPr>
              <a:t>Each measurement system tells </a:t>
            </a:r>
            <a:r>
              <a:rPr lang="en-US" sz="1250" b="1" dirty="0">
                <a:solidFill>
                  <a:srgbClr val="1A1A1A"/>
                </a:solidFill>
                <a:latin typeface="Inter" pitchFamily="34" charset="0"/>
                <a:ea typeface="Inter" pitchFamily="34" charset="-122"/>
                <a:cs typeface="Inter" pitchFamily="34" charset="-120"/>
              </a:rPr>
              <a:t>its own growth story</a:t>
            </a:r>
            <a:r>
              <a:rPr lang="en-US" sz="1250" dirty="0">
                <a:solidFill>
                  <a:srgbClr val="1A1A1A"/>
                </a:solidFill>
                <a:latin typeface="Inter" pitchFamily="34" charset="0"/>
                <a:ea typeface="Inter" pitchFamily="34" charset="-122"/>
                <a:cs typeface="Inter" pitchFamily="34" charset="-120"/>
              </a:rPr>
              <a:t>. Payments also reflect adoption and non-commerce use, so they are context, </a:t>
            </a:r>
            <a:r>
              <a:rPr lang="en-US" sz="1250" b="1" dirty="0">
                <a:solidFill>
                  <a:srgbClr val="1A1A1A"/>
                </a:solidFill>
                <a:latin typeface="Inter" pitchFamily="34" charset="0"/>
                <a:ea typeface="Inter" pitchFamily="34" charset="-122"/>
                <a:cs typeface="Inter" pitchFamily="34" charset="-120"/>
              </a:rPr>
              <a:t>not sales estimates</a:t>
            </a:r>
            <a:r>
              <a:rPr lang="en-US" sz="1250" dirty="0">
                <a:solidFill>
                  <a:srgbClr val="1A1A1A"/>
                </a:solidFill>
                <a:latin typeface="Inter" pitchFamily="34" charset="0"/>
                <a:ea typeface="Inter" pitchFamily="34" charset="-122"/>
                <a:cs typeface="Inter" pitchFamily="34" charset="-120"/>
              </a:rPr>
              <a: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IV. WHAT IT MEANS</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16</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Robustness and Boundaries</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“Strong conclusions, drawn inside clear limits.”</a:t>
            </a:r>
            <a:endParaRPr lang="en-US" sz="1500" dirty="0"/>
          </a:p>
        </p:txBody>
      </p:sp>
      <p:sp>
        <p:nvSpPr>
          <p:cNvPr id="8" name="Text 5"/>
          <p:cNvSpPr txBox="1"/>
          <p:nvPr/>
        </p:nvSpPr>
        <p:spPr>
          <a:xfrm>
            <a:off x="548640" y="1344168"/>
            <a:ext cx="6172200"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Questions we expect</a:t>
            </a:r>
            <a:endParaRPr lang="en-US" sz="1450" dirty="0"/>
          </a:p>
        </p:txBody>
      </p:sp>
      <p:sp>
        <p:nvSpPr>
          <p:cNvPr id="9" name="Shape 6"/>
          <p:cNvSpPr/>
          <p:nvPr/>
        </p:nvSpPr>
        <p:spPr>
          <a:xfrm>
            <a:off x="548640" y="1645920"/>
            <a:ext cx="6172200" cy="0"/>
          </a:xfrm>
          <a:prstGeom prst="line">
            <a:avLst/>
          </a:prstGeom>
          <a:noFill/>
          <a:ln w="9525">
            <a:solidFill>
              <a:srgbClr val="B9B5AE"/>
            </a:solidFill>
            <a:prstDash val="solid"/>
          </a:ln>
        </p:spPr>
      </p:sp>
      <p:sp>
        <p:nvSpPr>
          <p:cNvPr id="10" name="Text 7"/>
          <p:cNvSpPr txBox="1"/>
          <p:nvPr/>
        </p:nvSpPr>
        <p:spPr>
          <a:xfrm>
            <a:off x="548640" y="1755648"/>
            <a:ext cx="6172200" cy="4572000"/>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Inter" pitchFamily="34" charset="0"/>
                <a:ea typeface="Inter" pitchFamily="34" charset="-122"/>
                <a:cs typeface="Inter" pitchFamily="34" charset="-120"/>
              </a:rPr>
              <a:t>Q: Is it one outlier?</a:t>
            </a:r>
            <a:endParaRPr lang="en-US" sz="1300" dirty="0"/>
          </a:p>
          <a:p>
            <a:pPr indent="0" marL="0">
              <a:lnSpc>
                <a:spcPct val="105000"/>
              </a:lnSpc>
              <a:spcBef>
                <a:spcPts val="200"/>
              </a:spcBef>
              <a:buNone/>
            </a:pPr>
            <a:r>
              <a:rPr lang="en-US" sz="1300" dirty="0">
                <a:solidFill>
                  <a:srgbClr val="1A1A1A"/>
                </a:solidFill>
                <a:latin typeface="Inter" pitchFamily="34" charset="0"/>
                <a:ea typeface="Inter" pitchFamily="34" charset="-122"/>
                <a:cs typeface="Inter" pitchFamily="34" charset="-120"/>
              </a:rPr>
              <a:t>A: No. Without the largest case (Blibli 2022–23, +430.61 pp), the test still gives </a:t>
            </a:r>
            <a:r>
              <a:rPr lang="en-US" sz="1300" b="1" dirty="0">
                <a:solidFill>
                  <a:srgbClr val="1A1A1A"/>
                </a:solidFill>
                <a:latin typeface="Inter" pitchFamily="34" charset="0"/>
                <a:ea typeface="Inter" pitchFamily="34" charset="-122"/>
                <a:cs typeface="Inter" pitchFamily="34" charset="-120"/>
              </a:rPr>
              <a:t>p = 0.006</a:t>
            </a:r>
            <a:r>
              <a:rPr lang="en-US" sz="1300" dirty="0">
                <a:solidFill>
                  <a:srgbClr val="1A1A1A"/>
                </a:solidFill>
                <a:latin typeface="Inter" pitchFamily="34" charset="0"/>
                <a:ea typeface="Inter" pitchFamily="34" charset="-122"/>
                <a:cs typeface="Inter" pitchFamily="34" charset="-120"/>
              </a:rPr>
              <a:t>.</a:t>
            </a:r>
            <a:endParaRPr lang="en-US" sz="1300" dirty="0"/>
          </a:p>
          <a:p>
            <a:pPr indent="0" marL="0">
              <a:lnSpc>
                <a:spcPct val="105000"/>
              </a:lnSpc>
              <a:spcBef>
                <a:spcPts val="1100"/>
              </a:spcBef>
              <a:buNone/>
            </a:pPr>
            <a:r>
              <a:rPr lang="en-US" sz="1300" b="1" dirty="0">
                <a:solidFill>
                  <a:srgbClr val="1A1A1A"/>
                </a:solidFill>
                <a:latin typeface="Inter" pitchFamily="34" charset="0"/>
                <a:ea typeface="Inter" pitchFamily="34" charset="-122"/>
                <a:cs typeface="Inter" pitchFamily="34" charset="-120"/>
              </a:rPr>
              <a:t>Q: Aren’t a firm’s years dependent?</a:t>
            </a:r>
            <a:endParaRPr lang="en-US" sz="1300" dirty="0"/>
          </a:p>
          <a:p>
            <a:pPr indent="0" marL="0">
              <a:lnSpc>
                <a:spcPct val="105000"/>
              </a:lnSpc>
              <a:spcBef>
                <a:spcPts val="200"/>
              </a:spcBef>
              <a:buNone/>
            </a:pPr>
            <a:r>
              <a:rPr lang="en-US" sz="1300" dirty="0">
                <a:solidFill>
                  <a:srgbClr val="1A1A1A"/>
                </a:solidFill>
                <a:latin typeface="Inter" pitchFamily="34" charset="0"/>
                <a:ea typeface="Inter" pitchFamily="34" charset="-122"/>
                <a:cs typeface="Inter" pitchFamily="34" charset="-120"/>
              </a:rPr>
              <a:t>A: Yes, so the test is repeated with </a:t>
            </a:r>
            <a:r>
              <a:rPr lang="en-US" sz="1300" b="1" dirty="0">
                <a:solidFill>
                  <a:srgbClr val="1A1A1A"/>
                </a:solidFill>
                <a:latin typeface="Inter" pitchFamily="34" charset="0"/>
                <a:ea typeface="Inter" pitchFamily="34" charset="-122"/>
                <a:cs typeface="Inter" pitchFamily="34" charset="-120"/>
              </a:rPr>
              <a:t>one median per firm</a:t>
            </a:r>
            <a:r>
              <a:rPr lang="en-US" sz="1300" dirty="0">
                <a:solidFill>
                  <a:srgbClr val="1A1A1A"/>
                </a:solidFill>
                <a:latin typeface="Inter" pitchFamily="34" charset="0"/>
                <a:ea typeface="Inter" pitchFamily="34" charset="-122"/>
                <a:cs typeface="Inter" pitchFamily="34" charset="-120"/>
              </a:rPr>
              <a:t> (p = 0.024).</a:t>
            </a:r>
            <a:endParaRPr lang="en-US" sz="1300" dirty="0"/>
          </a:p>
          <a:p>
            <a:pPr indent="0" marL="0">
              <a:lnSpc>
                <a:spcPct val="105000"/>
              </a:lnSpc>
              <a:spcBef>
                <a:spcPts val="1100"/>
              </a:spcBef>
              <a:buNone/>
            </a:pPr>
            <a:r>
              <a:rPr lang="en-US" sz="1300" b="1" dirty="0">
                <a:solidFill>
                  <a:srgbClr val="1A1A1A"/>
                </a:solidFill>
                <a:latin typeface="Inter" pitchFamily="34" charset="0"/>
                <a:ea typeface="Inter" pitchFamily="34" charset="-122"/>
                <a:cs typeface="Inter" pitchFamily="34" charset="-120"/>
              </a:rPr>
              <a:t>Q: Do the constructed figures drive it?</a:t>
            </a:r>
            <a:endParaRPr lang="en-US" sz="1300" dirty="0"/>
          </a:p>
          <a:p>
            <a:pPr indent="0" marL="0">
              <a:lnSpc>
                <a:spcPct val="105000"/>
              </a:lnSpc>
              <a:spcBef>
                <a:spcPts val="200"/>
              </a:spcBef>
              <a:buNone/>
            </a:pPr>
            <a:r>
              <a:rPr lang="en-US" sz="1300" dirty="0">
                <a:solidFill>
                  <a:srgbClr val="1A1A1A"/>
                </a:solidFill>
                <a:latin typeface="Inter" pitchFamily="34" charset="0"/>
                <a:ea typeface="Inter" pitchFamily="34" charset="-122"/>
                <a:cs typeface="Inter" pitchFamily="34" charset="-120"/>
              </a:rPr>
              <a:t>A: No. Grab and Shopee are </a:t>
            </a:r>
            <a:r>
              <a:rPr lang="en-US" sz="1300" b="1" dirty="0">
                <a:solidFill>
                  <a:srgbClr val="1A1A1A"/>
                </a:solidFill>
                <a:latin typeface="Inter" pitchFamily="34" charset="0"/>
                <a:ea typeface="Inter" pitchFamily="34" charset="-122"/>
                <a:cs typeface="Inter" pitchFamily="34" charset="-120"/>
              </a:rPr>
              <a:t>excluded from H1</a:t>
            </a:r>
            <a:r>
              <a:rPr lang="en-US" sz="1300" dirty="0">
                <a:solidFill>
                  <a:srgbClr val="1A1A1A"/>
                </a:solidFill>
                <a:latin typeface="Inter" pitchFamily="34" charset="0"/>
                <a:ea typeface="Inter" pitchFamily="34" charset="-122"/>
                <a:cs typeface="Inter" pitchFamily="34" charset="-120"/>
              </a:rPr>
              <a:t>.</a:t>
            </a:r>
            <a:endParaRPr lang="en-US" sz="1300" dirty="0"/>
          </a:p>
          <a:p>
            <a:pPr indent="0" marL="0">
              <a:lnSpc>
                <a:spcPct val="105000"/>
              </a:lnSpc>
              <a:spcBef>
                <a:spcPts val="1100"/>
              </a:spcBef>
              <a:buNone/>
            </a:pPr>
            <a:r>
              <a:rPr lang="en-US" sz="1300" b="1" dirty="0">
                <a:solidFill>
                  <a:srgbClr val="1A1A1A"/>
                </a:solidFill>
                <a:latin typeface="Inter" pitchFamily="34" charset="0"/>
                <a:ea typeface="Inter" pitchFamily="34" charset="-122"/>
                <a:cs typeface="Inter" pitchFamily="34" charset="-120"/>
              </a:rPr>
              <a:t>Q: Aren’t these just different business models?</a:t>
            </a:r>
            <a:endParaRPr lang="en-US" sz="1300" dirty="0"/>
          </a:p>
          <a:p>
            <a:pPr indent="0" marL="0">
              <a:lnSpc>
                <a:spcPct val="105000"/>
              </a:lnSpc>
              <a:spcBef>
                <a:spcPts val="200"/>
              </a:spcBef>
              <a:buNone/>
            </a:pPr>
            <a:r>
              <a:rPr lang="en-US" sz="1300" dirty="0">
                <a:solidFill>
                  <a:srgbClr val="1A1A1A"/>
                </a:solidFill>
                <a:latin typeface="Inter" pitchFamily="34" charset="0"/>
                <a:ea typeface="Inter" pitchFamily="34" charset="-122"/>
                <a:cs typeface="Inter" pitchFamily="34" charset="-120"/>
              </a:rPr>
              <a:t>A: The benchmark deliberately spans very different platform models. Despite that, its median |D| is </a:t>
            </a:r>
            <a:r>
              <a:rPr lang="en-US" sz="1300" b="1" dirty="0">
                <a:solidFill>
                  <a:srgbClr val="1A1A1A"/>
                </a:solidFill>
                <a:latin typeface="Inter" pitchFamily="34" charset="0"/>
                <a:ea typeface="Inter" pitchFamily="34" charset="-122"/>
                <a:cs typeface="Inter" pitchFamily="34" charset="-120"/>
              </a:rPr>
              <a:t>7.1 pp against 38.9 pp</a:t>
            </a:r>
            <a:r>
              <a:rPr lang="en-US" sz="1300" dirty="0">
                <a:solidFill>
                  <a:srgbClr val="1A1A1A"/>
                </a:solidFill>
                <a:latin typeface="Inter" pitchFamily="34" charset="0"/>
                <a:ea typeface="Inter" pitchFamily="34" charset="-122"/>
                <a:cs typeface="Inter" pitchFamily="34" charset="-120"/>
              </a:rPr>
              <a:t> in Indonesia; using growth rather than levels also limits level-comparability concerns.</a:t>
            </a:r>
            <a:endParaRPr lang="en-US" sz="1300" dirty="0"/>
          </a:p>
          <a:p>
            <a:pPr indent="0" marL="0">
              <a:lnSpc>
                <a:spcPct val="105000"/>
              </a:lnSpc>
              <a:spcBef>
                <a:spcPts val="1100"/>
              </a:spcBef>
              <a:buNone/>
            </a:pPr>
            <a:r>
              <a:rPr lang="en-US" sz="1300" b="1" dirty="0">
                <a:solidFill>
                  <a:srgbClr val="1A1A1A"/>
                </a:solidFill>
                <a:latin typeface="Inter" pitchFamily="34" charset="0"/>
                <a:ea typeface="Inter" pitchFamily="34" charset="-122"/>
                <a:cs typeface="Inter" pitchFamily="34" charset="-120"/>
              </a:rPr>
              <a:t>Q: Is it causal?</a:t>
            </a:r>
            <a:endParaRPr lang="en-US" sz="1300" dirty="0"/>
          </a:p>
          <a:p>
            <a:pPr indent="0" marL="0">
              <a:lnSpc>
                <a:spcPct val="105000"/>
              </a:lnSpc>
              <a:spcBef>
                <a:spcPts val="200"/>
              </a:spcBef>
              <a:buNone/>
            </a:pPr>
            <a:r>
              <a:rPr lang="en-US" sz="1300" dirty="0">
                <a:solidFill>
                  <a:srgbClr val="1A1A1A"/>
                </a:solidFill>
                <a:latin typeface="Inter" pitchFamily="34" charset="0"/>
                <a:ea typeface="Inter" pitchFamily="34" charset="-122"/>
                <a:cs typeface="Inter" pitchFamily="34" charset="-120"/>
              </a:rPr>
              <a:t>A: No. This is a </a:t>
            </a:r>
            <a:r>
              <a:rPr lang="en-US" sz="1300" b="1" dirty="0">
                <a:solidFill>
                  <a:srgbClr val="1A1A1A"/>
                </a:solidFill>
                <a:latin typeface="Inter" pitchFamily="34" charset="0"/>
                <a:ea typeface="Inter" pitchFamily="34" charset="-122"/>
                <a:cs typeface="Inter" pitchFamily="34" charset="-120"/>
              </a:rPr>
              <a:t>measurement and comparability study</a:t>
            </a:r>
            <a:r>
              <a:rPr lang="en-US" sz="1300" dirty="0">
                <a:solidFill>
                  <a:srgbClr val="1A1A1A"/>
                </a:solidFill>
                <a:latin typeface="Inter" pitchFamily="34" charset="0"/>
                <a:ea typeface="Inter" pitchFamily="34" charset="-122"/>
                <a:cs typeface="Inter" pitchFamily="34" charset="-120"/>
              </a:rPr>
              <a:t>.</a:t>
            </a:r>
            <a:endParaRPr lang="en-US" sz="1300" dirty="0"/>
          </a:p>
        </p:txBody>
      </p:sp>
      <p:sp>
        <p:nvSpPr>
          <p:cNvPr id="11" name="Shape 8"/>
          <p:cNvSpPr/>
          <p:nvPr/>
        </p:nvSpPr>
        <p:spPr>
          <a:xfrm>
            <a:off x="7040880" y="1344168"/>
            <a:ext cx="0" cy="4846320"/>
          </a:xfrm>
          <a:prstGeom prst="line">
            <a:avLst/>
          </a:prstGeom>
          <a:noFill/>
          <a:ln w="9525">
            <a:solidFill>
              <a:srgbClr val="B9B5AE"/>
            </a:solidFill>
            <a:prstDash val="solid"/>
          </a:ln>
        </p:spPr>
      </p:sp>
      <p:sp>
        <p:nvSpPr>
          <p:cNvPr id="12" name="Text 9"/>
          <p:cNvSpPr txBox="1"/>
          <p:nvPr/>
        </p:nvSpPr>
        <p:spPr>
          <a:xfrm>
            <a:off x="7360920" y="1344168"/>
            <a:ext cx="4279392"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Boundaries</a:t>
            </a:r>
            <a:endParaRPr lang="en-US" sz="1450" dirty="0"/>
          </a:p>
        </p:txBody>
      </p:sp>
      <p:sp>
        <p:nvSpPr>
          <p:cNvPr id="13" name="Shape 10"/>
          <p:cNvSpPr/>
          <p:nvPr/>
        </p:nvSpPr>
        <p:spPr>
          <a:xfrm>
            <a:off x="7360920" y="1645920"/>
            <a:ext cx="4279392" cy="0"/>
          </a:xfrm>
          <a:prstGeom prst="line">
            <a:avLst/>
          </a:prstGeom>
          <a:noFill/>
          <a:ln w="9525">
            <a:solidFill>
              <a:srgbClr val="B9B5AE"/>
            </a:solidFill>
            <a:prstDash val="solid"/>
          </a:ln>
        </p:spPr>
      </p:sp>
      <p:sp>
        <p:nvSpPr>
          <p:cNvPr id="14" name="Text 11"/>
          <p:cNvSpPr txBox="1"/>
          <p:nvPr/>
        </p:nvSpPr>
        <p:spPr>
          <a:xfrm>
            <a:off x="7360920" y="1755648"/>
            <a:ext cx="4279392" cy="4480560"/>
          </a:xfrm>
          <a:prstGeom prst="rect">
            <a:avLst/>
          </a:prstGeom>
          <a:noFill/>
          <a:ln/>
        </p:spPr>
        <p:txBody>
          <a:bodyPr wrap="square" lIns="0" tIns="0" rIns="0" bIns="0" rtlCol="0" anchor="t"/>
          <a:lstStyle/>
          <a:p>
            <a:pPr indent="0" marL="0">
              <a:lnSpc>
                <a:spcPct val="105000"/>
              </a:lnSpc>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DOES NOT IMPLY:</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Hidden GDP</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Unpaid tax</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Investor mispricing</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Error in any one indicator</a:t>
            </a:r>
            <a:endParaRPr lang="en-US" sz="1200" dirty="0"/>
          </a:p>
          <a:p>
            <a:pPr indent="0" marL="0">
              <a:lnSpc>
                <a:spcPct val="105000"/>
              </a:lnSpc>
              <a:spcBef>
                <a:spcPts val="1400"/>
              </a:spcBef>
              <a:spcAft>
                <a:spcPts val="200"/>
              </a:spcAft>
              <a:buNone/>
            </a:pPr>
            <a:r>
              <a:rPr lang="en-US" sz="1200" b="1" spc="80" kern="0" dirty="0">
                <a:solidFill>
                  <a:srgbClr val="1A1A1A"/>
                </a:solidFill>
                <a:latin typeface="Montserrat" pitchFamily="34" charset="0"/>
                <a:ea typeface="Montserrat" pitchFamily="34" charset="-122"/>
                <a:cs typeface="Montserrat" pitchFamily="34" charset="-120"/>
              </a:rPr>
              <a:t>LIMITS:</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Three firms disclose both numbers</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A purposive benchmark, not a random sample</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Two BPS transitions (one for the channel split)</a:t>
            </a:r>
            <a:endParaRPr lang="en-US" sz="1200" dirty="0"/>
          </a:p>
          <a:p>
            <a:pPr marL="190500" indent="-190500">
              <a:lnSpc>
                <a:spcPct val="105000"/>
              </a:lnSpc>
              <a:spcBef>
                <a:spcPts val="200"/>
              </a:spcBef>
              <a:spcAft>
                <a:spcPts val="100"/>
              </a:spcAft>
              <a:buSzPct val="100000"/>
              <a:buFont typeface="Segoe UI Symbol"/>
              <a:buChar char="→"/>
            </a:pPr>
            <a:r>
              <a:rPr lang="en-US" sz="1300" dirty="0">
                <a:solidFill>
                  <a:srgbClr val="1A1A1A"/>
                </a:solidFill>
                <a:latin typeface="Inter" pitchFamily="34" charset="0"/>
                <a:ea typeface="Inter" pitchFamily="34" charset="-122"/>
                <a:cs typeface="Inter" pitchFamily="34" charset="-120"/>
              </a:rPr>
              <a:t>Levels across systems not yet reconciled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IV. WHAT IT MEANS</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17</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The Complete Chain</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“Each link from the reported number to the economy can lose information.”</a:t>
            </a:r>
            <a:endParaRPr lang="en-US" sz="1500" dirty="0"/>
          </a:p>
        </p:txBody>
      </p:sp>
      <p:sp>
        <p:nvSpPr>
          <p:cNvPr id="8" name="Shape 5"/>
          <p:cNvSpPr/>
          <p:nvPr/>
        </p:nvSpPr>
        <p:spPr>
          <a:xfrm>
            <a:off x="731520" y="1481328"/>
            <a:ext cx="3657600" cy="603504"/>
          </a:xfrm>
          <a:prstGeom prst="rect">
            <a:avLst/>
          </a:prstGeom>
          <a:solidFill>
            <a:srgbClr val="FFFFFF"/>
          </a:solidFill>
          <a:ln w="19050">
            <a:solidFill>
              <a:srgbClr val="C58A2E"/>
            </a:solidFill>
            <a:prstDash val="solid"/>
          </a:ln>
        </p:spPr>
      </p:sp>
      <p:sp>
        <p:nvSpPr>
          <p:cNvPr id="9" name="Text 6"/>
          <p:cNvSpPr txBox="1"/>
          <p:nvPr/>
        </p:nvSpPr>
        <p:spPr>
          <a:xfrm>
            <a:off x="731520" y="1481328"/>
            <a:ext cx="3657600" cy="603504"/>
          </a:xfrm>
          <a:prstGeom prst="rect">
            <a:avLst/>
          </a:prstGeom>
          <a:noFill/>
          <a:ln/>
        </p:spPr>
        <p:txBody>
          <a:bodyPr wrap="square" lIns="0" tIns="0" rIns="0" bIns="0" rtlCol="0" anchor="ctr"/>
          <a:lstStyle/>
          <a:p>
            <a:pPr algn="ctr" indent="0" marL="0">
              <a:lnSpc>
                <a:spcPct val="105000"/>
              </a:lnSpc>
              <a:buNone/>
            </a:pPr>
            <a:r>
              <a:rPr lang="en-US" sz="1300" b="1" spc="120" kern="0" dirty="0">
                <a:solidFill>
                  <a:srgbClr val="7A5A1E"/>
                </a:solidFill>
                <a:latin typeface="Montserrat" pitchFamily="34" charset="0"/>
                <a:ea typeface="Montserrat" pitchFamily="34" charset="-122"/>
                <a:cs typeface="Montserrat" pitchFamily="34" charset="-120"/>
              </a:rPr>
              <a:t>REVENUE</a:t>
            </a:r>
            <a:endParaRPr lang="en-US" sz="1300" dirty="0"/>
          </a:p>
        </p:txBody>
      </p:sp>
      <p:sp>
        <p:nvSpPr>
          <p:cNvPr id="10" name="Shape 7"/>
          <p:cNvSpPr/>
          <p:nvPr/>
        </p:nvSpPr>
        <p:spPr>
          <a:xfrm>
            <a:off x="731520" y="3264408"/>
            <a:ext cx="3657600" cy="603504"/>
          </a:xfrm>
          <a:prstGeom prst="rect">
            <a:avLst/>
          </a:prstGeom>
          <a:solidFill>
            <a:srgbClr val="FFFFFF"/>
          </a:solidFill>
          <a:ln w="19050">
            <a:solidFill>
              <a:srgbClr val="1F4E5F"/>
            </a:solidFill>
            <a:prstDash val="solid"/>
          </a:ln>
        </p:spPr>
      </p:sp>
      <p:sp>
        <p:nvSpPr>
          <p:cNvPr id="11" name="Text 8"/>
          <p:cNvSpPr txBox="1"/>
          <p:nvPr/>
        </p:nvSpPr>
        <p:spPr>
          <a:xfrm>
            <a:off x="731520" y="3264408"/>
            <a:ext cx="3657600" cy="603504"/>
          </a:xfrm>
          <a:prstGeom prst="rect">
            <a:avLst/>
          </a:prstGeom>
          <a:noFill/>
          <a:ln/>
        </p:spPr>
        <p:txBody>
          <a:bodyPr wrap="square" lIns="0" tIns="0" rIns="0" bIns="0" rtlCol="0" anchor="ctr"/>
          <a:lstStyle/>
          <a:p>
            <a:pPr algn="ctr" indent="0" marL="0">
              <a:lnSpc>
                <a:spcPct val="105000"/>
              </a:lnSpc>
              <a:buNone/>
            </a:pPr>
            <a:r>
              <a:rPr lang="en-US" sz="1300" b="1" spc="120" kern="0" dirty="0">
                <a:solidFill>
                  <a:srgbClr val="1F4E5F"/>
                </a:solidFill>
                <a:latin typeface="Montserrat" pitchFamily="34" charset="0"/>
                <a:ea typeface="Montserrat" pitchFamily="34" charset="-122"/>
                <a:cs typeface="Montserrat" pitchFamily="34" charset="-120"/>
              </a:rPr>
              <a:t>PLATFORM COMMERCE</a:t>
            </a:r>
            <a:endParaRPr lang="en-US" sz="1300" dirty="0"/>
          </a:p>
        </p:txBody>
      </p:sp>
      <p:sp>
        <p:nvSpPr>
          <p:cNvPr id="12" name="Shape 9"/>
          <p:cNvSpPr/>
          <p:nvPr/>
        </p:nvSpPr>
        <p:spPr>
          <a:xfrm>
            <a:off x="731520" y="5047488"/>
            <a:ext cx="3657600" cy="603504"/>
          </a:xfrm>
          <a:prstGeom prst="rect">
            <a:avLst/>
          </a:prstGeom>
          <a:solidFill>
            <a:srgbClr val="FFFFFF"/>
          </a:solidFill>
          <a:ln w="19050">
            <a:solidFill>
              <a:srgbClr val="1A1A1A"/>
            </a:solidFill>
            <a:prstDash val="solid"/>
          </a:ln>
        </p:spPr>
      </p:sp>
      <p:sp>
        <p:nvSpPr>
          <p:cNvPr id="13" name="Text 10"/>
          <p:cNvSpPr txBox="1"/>
          <p:nvPr/>
        </p:nvSpPr>
        <p:spPr>
          <a:xfrm>
            <a:off x="731520" y="5047488"/>
            <a:ext cx="3657600" cy="603504"/>
          </a:xfrm>
          <a:prstGeom prst="rect">
            <a:avLst/>
          </a:prstGeom>
          <a:noFill/>
          <a:ln/>
        </p:spPr>
        <p:txBody>
          <a:bodyPr wrap="square" lIns="0" tIns="0" rIns="0" bIns="0" rtlCol="0" anchor="ctr"/>
          <a:lstStyle/>
          <a:p>
            <a:pPr algn="ctr" indent="0" marL="0">
              <a:lnSpc>
                <a:spcPct val="105000"/>
              </a:lnSpc>
              <a:buNone/>
            </a:pPr>
            <a:r>
              <a:rPr lang="en-US" sz="1300" b="1" spc="120" kern="0" dirty="0">
                <a:solidFill>
                  <a:srgbClr val="1A1A1A"/>
                </a:solidFill>
                <a:latin typeface="Montserrat" pitchFamily="34" charset="0"/>
                <a:ea typeface="Montserrat" pitchFamily="34" charset="-122"/>
                <a:cs typeface="Montserrat" pitchFamily="34" charset="-120"/>
              </a:rPr>
              <a:t>NATIONAL ONLINE COMMERCE</a:t>
            </a:r>
            <a:endParaRPr lang="en-US" sz="1300" dirty="0"/>
          </a:p>
        </p:txBody>
      </p:sp>
      <p:sp>
        <p:nvSpPr>
          <p:cNvPr id="14" name="Shape 11"/>
          <p:cNvSpPr/>
          <p:nvPr/>
        </p:nvSpPr>
        <p:spPr>
          <a:xfrm>
            <a:off x="2560320" y="2084832"/>
            <a:ext cx="0" cy="1179576"/>
          </a:xfrm>
          <a:prstGeom prst="line">
            <a:avLst/>
          </a:prstGeom>
          <a:noFill/>
          <a:ln w="19050">
            <a:solidFill>
              <a:srgbClr val="1A1A1A"/>
            </a:solidFill>
            <a:prstDash val="solid"/>
            <a:tailEnd type="triangle"/>
          </a:ln>
        </p:spPr>
      </p:sp>
      <p:sp>
        <p:nvSpPr>
          <p:cNvPr id="15" name="Shape 12"/>
          <p:cNvSpPr/>
          <p:nvPr/>
        </p:nvSpPr>
        <p:spPr>
          <a:xfrm>
            <a:off x="2560320" y="3867912"/>
            <a:ext cx="0" cy="1179576"/>
          </a:xfrm>
          <a:prstGeom prst="line">
            <a:avLst/>
          </a:prstGeom>
          <a:noFill/>
          <a:ln w="19050">
            <a:solidFill>
              <a:srgbClr val="1A1A1A"/>
            </a:solidFill>
            <a:prstDash val="solid"/>
            <a:tailEnd type="triangle"/>
          </a:ln>
        </p:spPr>
      </p:sp>
      <p:sp>
        <p:nvSpPr>
          <p:cNvPr id="16" name="Text 13"/>
          <p:cNvSpPr txBox="1"/>
          <p:nvPr/>
        </p:nvSpPr>
        <p:spPr>
          <a:xfrm>
            <a:off x="2834640" y="2267712"/>
            <a:ext cx="3931920" cy="640080"/>
          </a:xfrm>
          <a:prstGeom prst="rect">
            <a:avLst/>
          </a:prstGeom>
          <a:noFill/>
          <a:ln/>
        </p:spPr>
        <p:txBody>
          <a:bodyPr wrap="square" lIns="0" tIns="0" rIns="0" bIns="0" rtlCol="0" anchor="t"/>
          <a:lstStyle/>
          <a:p>
            <a:pPr algn="l" indent="0" marL="0">
              <a:lnSpc>
                <a:spcPct val="105000"/>
              </a:lnSpc>
              <a:buNone/>
            </a:pPr>
            <a:r>
              <a:rPr lang="en-US" sz="1250" b="1" dirty="0">
                <a:solidFill>
                  <a:srgbClr val="1A1A1A"/>
                </a:solidFill>
                <a:latin typeface="Inter" pitchFamily="34" charset="0"/>
                <a:ea typeface="Inter" pitchFamily="34" charset="-122"/>
                <a:cs typeface="Inter" pitchFamily="34" charset="-120"/>
              </a:rPr>
              <a:t>H1:</a:t>
            </a:r>
            <a:r>
              <a:rPr lang="en-US" sz="1250" dirty="0">
                <a:solidFill>
                  <a:srgbClr val="1A1A1A"/>
                </a:solidFill>
                <a:latin typeface="Inter" pitchFamily="34" charset="0"/>
                <a:ea typeface="Inter" pitchFamily="34" charset="-122"/>
                <a:cs typeface="Inter" pitchFamily="34" charset="-120"/>
              </a:rPr>
              <a:t> revenue and transaction growth did not stay proportional</a:t>
            </a:r>
            <a:endParaRPr lang="en-US" sz="1250" dirty="0"/>
          </a:p>
          <a:p>
            <a:pPr algn="l" indent="0" marL="0">
              <a:lnSpc>
                <a:spcPct val="105000"/>
              </a:lnSpc>
              <a:buNone/>
            </a:pPr>
            <a:r>
              <a:rPr lang="en-US" sz="1250" i="1" dirty="0">
                <a:solidFill>
                  <a:srgbClr val="1A1A1A"/>
                </a:solidFill>
                <a:latin typeface="Inter" pitchFamily="34" charset="0"/>
                <a:ea typeface="Inter" pitchFamily="34" charset="-122"/>
                <a:cs typeface="Inter" pitchFamily="34" charset="-120"/>
              </a:rPr>
              <a:t>Evidence inconsistent with H1</a:t>
            </a:r>
            <a:endParaRPr lang="en-US" sz="1250" dirty="0"/>
          </a:p>
        </p:txBody>
      </p:sp>
      <p:sp>
        <p:nvSpPr>
          <p:cNvPr id="17" name="Text 14"/>
          <p:cNvSpPr txBox="1"/>
          <p:nvPr/>
        </p:nvSpPr>
        <p:spPr>
          <a:xfrm>
            <a:off x="2834640" y="4050792"/>
            <a:ext cx="3931920" cy="640080"/>
          </a:xfrm>
          <a:prstGeom prst="rect">
            <a:avLst/>
          </a:prstGeom>
          <a:noFill/>
          <a:ln/>
        </p:spPr>
        <p:txBody>
          <a:bodyPr wrap="square" lIns="0" tIns="0" rIns="0" bIns="0" rtlCol="0" anchor="t"/>
          <a:lstStyle/>
          <a:p>
            <a:pPr algn="l" indent="0" marL="0">
              <a:lnSpc>
                <a:spcPct val="105000"/>
              </a:lnSpc>
              <a:buNone/>
            </a:pPr>
            <a:r>
              <a:rPr lang="en-US" sz="1250" b="1" dirty="0">
                <a:solidFill>
                  <a:srgbClr val="1A1A1A"/>
                </a:solidFill>
                <a:latin typeface="Inter" pitchFamily="34" charset="0"/>
                <a:ea typeface="Inter" pitchFamily="34" charset="-122"/>
                <a:cs typeface="Inter" pitchFamily="34" charset="-120"/>
              </a:rPr>
              <a:t>H2:</a:t>
            </a:r>
            <a:r>
              <a:rPr lang="en-US" sz="1250" dirty="0">
                <a:solidFill>
                  <a:srgbClr val="1A1A1A"/>
                </a:solidFill>
                <a:latin typeface="Inter" pitchFamily="34" charset="0"/>
                <a:ea typeface="Inter" pitchFamily="34" charset="-122"/>
                <a:cs typeface="Inter" pitchFamily="34" charset="-120"/>
              </a:rPr>
              <a:t> national growth mainly associated with more participating businesses</a:t>
            </a:r>
            <a:endParaRPr lang="en-US" sz="1250" dirty="0"/>
          </a:p>
          <a:p>
            <a:pPr algn="l" indent="0" marL="0">
              <a:lnSpc>
                <a:spcPct val="105000"/>
              </a:lnSpc>
              <a:buNone/>
            </a:pPr>
            <a:r>
              <a:rPr lang="en-US" sz="1250" i="1" dirty="0">
                <a:solidFill>
                  <a:srgbClr val="1A1A1A"/>
                </a:solidFill>
                <a:latin typeface="Inter" pitchFamily="34" charset="0"/>
                <a:ea typeface="Inter" pitchFamily="34" charset="-122"/>
                <a:cs typeface="Inter" pitchFamily="34" charset="-120"/>
              </a:rPr>
              <a:t>Evidence consistent with H2</a:t>
            </a:r>
            <a:endParaRPr lang="en-US" sz="1250" dirty="0"/>
          </a:p>
        </p:txBody>
      </p:sp>
      <p:sp>
        <p:nvSpPr>
          <p:cNvPr id="18" name="Shape 15"/>
          <p:cNvSpPr/>
          <p:nvPr/>
        </p:nvSpPr>
        <p:spPr>
          <a:xfrm>
            <a:off x="6720840" y="4050792"/>
            <a:ext cx="0" cy="914400"/>
          </a:xfrm>
          <a:prstGeom prst="line">
            <a:avLst/>
          </a:prstGeom>
          <a:noFill/>
          <a:ln w="9525">
            <a:solidFill>
              <a:srgbClr val="B9B5AE"/>
            </a:solidFill>
            <a:prstDash val="solid"/>
          </a:ln>
        </p:spPr>
      </p:sp>
      <p:sp>
        <p:nvSpPr>
          <p:cNvPr id="19" name="Text 16"/>
          <p:cNvSpPr txBox="1"/>
          <p:nvPr/>
        </p:nvSpPr>
        <p:spPr>
          <a:xfrm>
            <a:off x="6858000" y="4032504"/>
            <a:ext cx="2057400" cy="1005840"/>
          </a:xfrm>
          <a:prstGeom prst="rect">
            <a:avLst/>
          </a:prstGeom>
          <a:noFill/>
          <a:ln/>
        </p:spPr>
        <p:txBody>
          <a:bodyPr wrap="square" lIns="0" tIns="0" rIns="0" bIns="0" rtlCol="0" anchor="t"/>
          <a:lstStyle/>
          <a:p>
            <a:pPr algn="l" indent="0" marL="0">
              <a:lnSpc>
                <a:spcPct val="105000"/>
              </a:lnSpc>
              <a:buNone/>
            </a:pPr>
            <a:r>
              <a:rPr lang="en-US" sz="1050" b="1" dirty="0">
                <a:solidFill>
                  <a:srgbClr val="5F5C57"/>
                </a:solidFill>
                <a:latin typeface="Inter" pitchFamily="34" charset="0"/>
                <a:ea typeface="Inter" pitchFamily="34" charset="-122"/>
                <a:cs typeface="Inter" pitchFamily="34" charset="-120"/>
              </a:rPr>
              <a:t>SUPPORTING CHANNEL RESULT</a:t>
            </a:r>
            <a:endParaRPr lang="en-US" sz="1050" dirty="0"/>
          </a:p>
          <a:p>
            <a:pPr algn="l" indent="0" marL="0">
              <a:lnSpc>
                <a:spcPct val="105000"/>
              </a:lnSpc>
              <a:buNone/>
            </a:pPr>
            <a:r>
              <a:rPr lang="en-US" sz="1050" dirty="0">
                <a:solidFill>
                  <a:srgbClr val="5F5C57"/>
                </a:solidFill>
                <a:latin typeface="Inter" pitchFamily="34" charset="0"/>
                <a:ea typeface="Inter" pitchFamily="34" charset="-122"/>
                <a:cs typeface="Inter" pitchFamily="34" charset="-120"/>
              </a:rPr>
              <a:t>98.46% of measured 2023–24 growth occurred outside BPS’s marketplace category</a:t>
            </a:r>
            <a:endParaRPr lang="en-US" sz="1050" dirty="0"/>
          </a:p>
        </p:txBody>
      </p:sp>
      <p:sp>
        <p:nvSpPr>
          <p:cNvPr id="20" name="Shape 17"/>
          <p:cNvSpPr/>
          <p:nvPr/>
        </p:nvSpPr>
        <p:spPr>
          <a:xfrm>
            <a:off x="9098280" y="1344168"/>
            <a:ext cx="0" cy="4389120"/>
          </a:xfrm>
          <a:prstGeom prst="line">
            <a:avLst/>
          </a:prstGeom>
          <a:noFill/>
          <a:ln w="9525">
            <a:solidFill>
              <a:srgbClr val="B9B5AE"/>
            </a:solidFill>
            <a:prstDash val="solid"/>
          </a:ln>
        </p:spPr>
      </p:sp>
      <p:sp>
        <p:nvSpPr>
          <p:cNvPr id="21" name="Text 18"/>
          <p:cNvSpPr txBox="1"/>
          <p:nvPr/>
        </p:nvSpPr>
        <p:spPr>
          <a:xfrm>
            <a:off x="9326880" y="1389888"/>
            <a:ext cx="2286000" cy="228600"/>
          </a:xfrm>
          <a:prstGeom prst="rect">
            <a:avLst/>
          </a:prstGeom>
          <a:noFill/>
          <a:ln/>
        </p:spPr>
        <p:txBody>
          <a:bodyPr wrap="square" lIns="0" tIns="0" rIns="0" bIns="0" rtlCol="0" anchor="t"/>
          <a:lstStyle/>
          <a:p>
            <a:pPr algn="l" indent="0" marL="0">
              <a:lnSpc>
                <a:spcPct val="105000"/>
              </a:lnSpc>
              <a:buNone/>
            </a:pPr>
            <a:r>
              <a:rPr lang="en-US" sz="1100" b="1" spc="80" kern="0" dirty="0">
                <a:solidFill>
                  <a:srgbClr val="1A1A1A"/>
                </a:solidFill>
                <a:latin typeface="Montserrat" pitchFamily="34" charset="0"/>
                <a:ea typeface="Montserrat" pitchFamily="34" charset="-122"/>
                <a:cs typeface="Montserrat" pitchFamily="34" charset="-120"/>
              </a:rPr>
              <a:t>EVIDENCE SO FAR</a:t>
            </a:r>
            <a:endParaRPr lang="en-US" sz="1100" dirty="0"/>
          </a:p>
        </p:txBody>
      </p:sp>
      <p:sp>
        <p:nvSpPr>
          <p:cNvPr id="22" name="Text 19"/>
          <p:cNvSpPr txBox="1"/>
          <p:nvPr/>
        </p:nvSpPr>
        <p:spPr>
          <a:xfrm>
            <a:off x="9326880" y="1801368"/>
            <a:ext cx="2377440" cy="2743200"/>
          </a:xfrm>
          <a:prstGeom prst="rect">
            <a:avLst/>
          </a:prstGeom>
          <a:noFill/>
          <a:ln/>
        </p:spPr>
        <p:txBody>
          <a:bodyPr wrap="square" lIns="0" tIns="0" rIns="0" bIns="0" rtlCol="0" anchor="t"/>
          <a:lstStyle/>
          <a:p>
            <a:pPr algn="l" indent="0" marL="0">
              <a:lnSpc>
                <a:spcPct val="105000"/>
              </a:lnSpc>
              <a:spcAft>
                <a:spcPts val="1200"/>
              </a:spcAft>
              <a:buNone/>
            </a:pP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Within-platform divergence</a:t>
            </a:r>
            <a:endParaRPr lang="en-US" sz="1250" dirty="0"/>
          </a:p>
          <a:p>
            <a:pPr algn="l" indent="0" marL="0">
              <a:lnSpc>
                <a:spcPct val="105000"/>
              </a:lnSpc>
              <a:spcAft>
                <a:spcPts val="1200"/>
              </a:spcAft>
              <a:buNone/>
            </a:pP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Benchmark test</a:t>
            </a:r>
            <a:endParaRPr lang="en-US" sz="1250" dirty="0"/>
          </a:p>
          <a:p>
            <a:pPr algn="l" indent="0" marL="0">
              <a:lnSpc>
                <a:spcPct val="105000"/>
              </a:lnSpc>
              <a:spcAft>
                <a:spcPts val="1200"/>
              </a:spcAft>
              <a:buNone/>
            </a:pP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National decomposition</a:t>
            </a:r>
            <a:endParaRPr lang="en-US" sz="1250" dirty="0"/>
          </a:p>
          <a:p>
            <a:pPr algn="l" indent="0" marL="0">
              <a:lnSpc>
                <a:spcPct val="105000"/>
              </a:lnSpc>
              <a:spcAft>
                <a:spcPts val="1200"/>
              </a:spcAft>
              <a:buNone/>
            </a:pP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Channel split</a:t>
            </a:r>
            <a:endParaRPr lang="en-US" sz="1250" dirty="0"/>
          </a:p>
          <a:p>
            <a:pPr algn="l" indent="0" marL="0">
              <a:lnSpc>
                <a:spcPct val="105000"/>
              </a:lnSpc>
              <a:spcAft>
                <a:spcPts val="1200"/>
              </a:spcAft>
              <a:buNone/>
            </a:pPr>
            <a:r>
              <a:rPr lang="en-US" sz="1250" dirty="0">
                <a:solidFill>
                  <a:srgbClr val="1A1A1A"/>
                </a:solidFill>
                <a:latin typeface="Segoe UI Symbol" pitchFamily="34" charset="0"/>
                <a:ea typeface="Segoe UI Symbol" pitchFamily="34" charset="-122"/>
                <a:cs typeface="Segoe UI Symbol" pitchFamily="34" charset="-120"/>
              </a:rPr>
              <a:t>○</a:t>
            </a:r>
            <a:r>
              <a:rPr lang="en-US" sz="1250" dirty="0">
                <a:solidFill>
                  <a:srgbClr val="1A1A1A"/>
                </a:solidFill>
                <a:latin typeface="Inter" pitchFamily="34" charset="0"/>
                <a:ea typeface="Inter" pitchFamily="34" charset="-122"/>
                <a:cs typeface="Inter" pitchFamily="34" charset="-120"/>
              </a:rPr>
              <a:t>  Level reconciliation (thesis)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55664"/>
            <a:ext cx="6400800" cy="182880"/>
          </a:xfrm>
          <a:prstGeom prst="rect">
            <a:avLst/>
          </a:prstGeom>
          <a:noFill/>
          <a:ln/>
        </p:spPr>
        <p:txBody>
          <a:bodyPr wrap="square" lIns="0" tIns="0" rIns="0" bIns="0" rtlCol="0" anchor="t"/>
          <a:lstStyle/>
          <a:p>
            <a:pPr algn="l" indent="0" marL="0">
              <a:lnSpc>
                <a:spcPct val="105000"/>
              </a:lnSpc>
              <a:buNone/>
            </a:pPr>
            <a:r>
              <a:rPr lang="en-US" sz="800" spc="150" kern="0" dirty="0">
                <a:solidFill>
                  <a:srgbClr val="8A8782"/>
                </a:solidFill>
                <a:latin typeface="Montserrat" pitchFamily="34" charset="0"/>
                <a:ea typeface="Montserrat" pitchFamily="34" charset="-122"/>
                <a:cs typeface="Montserrat" pitchFamily="34" charset="-120"/>
              </a:rPr>
              <a:t>THE INVISIBLE LEDGER  ·  IV. WHAT IT MEANS</a:t>
            </a:r>
            <a:endParaRPr lang="en-US" sz="800" dirty="0"/>
          </a:p>
        </p:txBody>
      </p:sp>
      <p:sp>
        <p:nvSpPr>
          <p:cNvPr id="3" name="Text 1"/>
          <p:cNvSpPr txBox="1"/>
          <p:nvPr/>
        </p:nvSpPr>
        <p:spPr>
          <a:xfrm>
            <a:off x="11094415" y="6455664"/>
            <a:ext cx="548640" cy="182880"/>
          </a:xfrm>
          <a:prstGeom prst="rect">
            <a:avLst/>
          </a:prstGeom>
          <a:noFill/>
          <a:ln/>
        </p:spPr>
        <p:txBody>
          <a:bodyPr wrap="square" lIns="0" tIns="0" rIns="0" bIns="0" rtlCol="0" anchor="t"/>
          <a:lstStyle/>
          <a:p>
            <a:pPr algn="r" indent="0" marL="0">
              <a:lnSpc>
                <a:spcPct val="105000"/>
              </a:lnSpc>
              <a:buNone/>
            </a:pPr>
            <a:r>
              <a:rPr lang="en-US" sz="800" dirty="0">
                <a:solidFill>
                  <a:srgbClr val="8A8782"/>
                </a:solidFill>
                <a:latin typeface="Montserrat" pitchFamily="34" charset="0"/>
                <a:ea typeface="Montserrat" pitchFamily="34" charset="-122"/>
                <a:cs typeface="Montserrat" pitchFamily="34" charset="-120"/>
              </a:rPr>
              <a:t>18</a:t>
            </a:r>
            <a:endParaRPr lang="en-US" sz="800" dirty="0"/>
          </a:p>
        </p:txBody>
      </p:sp>
      <p:sp>
        <p:nvSpPr>
          <p:cNvPr id="5" name="Shape 2"/>
          <p:cNvSpPr/>
          <p:nvPr/>
        </p:nvSpPr>
        <p:spPr>
          <a:xfrm>
            <a:off x="548640" y="329184"/>
            <a:ext cx="365760" cy="45720"/>
          </a:xfrm>
          <a:prstGeom prst="rect">
            <a:avLst/>
          </a:prstGeom>
          <a:solidFill>
            <a:srgbClr val="1A1A1A"/>
          </a:solidFill>
          <a:ln w="12700">
            <a:solidFill>
              <a:srgbClr val="1A1A1A"/>
            </a:solidFill>
            <a:prstDash val="solid"/>
          </a:ln>
        </p:spPr>
      </p:sp>
      <p:sp>
        <p:nvSpPr>
          <p:cNvPr id="6" name="Text 3"/>
          <p:cNvSpPr txBox="1"/>
          <p:nvPr/>
        </p:nvSpPr>
        <p:spPr>
          <a:xfrm>
            <a:off x="548640" y="420624"/>
            <a:ext cx="11091672" cy="457200"/>
          </a:xfrm>
          <a:prstGeom prst="rect">
            <a:avLst/>
          </a:prstGeom>
          <a:noFill/>
          <a:ln/>
        </p:spPr>
        <p:txBody>
          <a:bodyPr wrap="square" lIns="0" tIns="0" rIns="0" bIns="0" rtlCol="0" anchor="t"/>
          <a:lstStyle/>
          <a:p>
            <a:pPr algn="l" indent="0" marL="0">
              <a:lnSpc>
                <a:spcPct val="100000"/>
              </a:lnSpc>
              <a:buNone/>
            </a:pPr>
            <a:r>
              <a:rPr lang="en-US" sz="2600" b="1" dirty="0">
                <a:solidFill>
                  <a:srgbClr val="1A1A1A"/>
                </a:solidFill>
                <a:latin typeface="Montserrat" pitchFamily="34" charset="0"/>
                <a:ea typeface="Montserrat" pitchFamily="34" charset="-122"/>
                <a:cs typeface="Montserrat" pitchFamily="34" charset="-120"/>
              </a:rPr>
              <a:t>Contribution</a:t>
            </a:r>
            <a:endParaRPr lang="en-US" sz="2600" dirty="0"/>
          </a:p>
        </p:txBody>
      </p:sp>
      <p:sp>
        <p:nvSpPr>
          <p:cNvPr id="7" name="Text 4"/>
          <p:cNvSpPr txBox="1"/>
          <p:nvPr/>
        </p:nvSpPr>
        <p:spPr>
          <a:xfrm>
            <a:off x="548640" y="896112"/>
            <a:ext cx="11091672" cy="274320"/>
          </a:xfrm>
          <a:prstGeom prst="rect">
            <a:avLst/>
          </a:prstGeom>
          <a:noFill/>
          <a:ln/>
        </p:spPr>
        <p:txBody>
          <a:bodyPr wrap="square" lIns="0" tIns="0" rIns="0" bIns="0" rtlCol="0" anchor="t"/>
          <a:lstStyle/>
          <a:p>
            <a:pPr algn="l" indent="0" marL="0">
              <a:lnSpc>
                <a:spcPct val="100000"/>
              </a:lnSpc>
              <a:buNone/>
            </a:pPr>
            <a:r>
              <a:rPr lang="en-US" sz="1500" dirty="0">
                <a:solidFill>
                  <a:srgbClr val="3A3834"/>
                </a:solidFill>
                <a:latin typeface="Montserrat SemiBold" pitchFamily="34" charset="0"/>
                <a:ea typeface="Montserrat SemiBold" pitchFamily="34" charset="-122"/>
                <a:cs typeface="Montserrat SemiBold" pitchFamily="34" charset="-120"/>
              </a:rPr>
              <a:t>“What this study adds so far, and a check to run before one number stands in for another.”</a:t>
            </a:r>
            <a:endParaRPr lang="en-US" sz="1500" dirty="0"/>
          </a:p>
        </p:txBody>
      </p:sp>
      <p:sp>
        <p:nvSpPr>
          <p:cNvPr id="8" name="Text 5"/>
          <p:cNvSpPr txBox="1"/>
          <p:nvPr/>
        </p:nvSpPr>
        <p:spPr>
          <a:xfrm>
            <a:off x="548640" y="1344168"/>
            <a:ext cx="5806440"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What this study adds so far</a:t>
            </a:r>
            <a:endParaRPr lang="en-US" sz="1450" dirty="0"/>
          </a:p>
        </p:txBody>
      </p:sp>
      <p:sp>
        <p:nvSpPr>
          <p:cNvPr id="9" name="Shape 6"/>
          <p:cNvSpPr/>
          <p:nvPr/>
        </p:nvSpPr>
        <p:spPr>
          <a:xfrm>
            <a:off x="548640" y="1645920"/>
            <a:ext cx="5806440" cy="0"/>
          </a:xfrm>
          <a:prstGeom prst="line">
            <a:avLst/>
          </a:prstGeom>
          <a:noFill/>
          <a:ln w="9525">
            <a:solidFill>
              <a:srgbClr val="B9B5AE"/>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55648"/>
          <a:ext cx="9144000" cy="914400"/>
        </p:xfrm>
        <a:graphic>
          <a:graphicData uri="http://schemas.openxmlformats.org/drawingml/2006/table">
            <a:tbl>
              <a:tblPr/>
              <a:tblGrid>
                <a:gridCol w="2057400"/>
                <a:gridCol w="3749040"/>
              </a:tblGrid>
              <a:tr h="310896">
                <a:tc>
                  <a:txBody>
                    <a:bodyPr/>
                    <a:lstStyle/>
                    <a:p>
                      <a:pPr algn="l" indent="0" marL="0">
                        <a:buNone/>
                      </a:pPr>
                      <a:r>
                        <a:rPr lang="en-US" sz="1050" b="1" dirty="0">
                          <a:solidFill>
                            <a:srgbClr val="1A1A1A"/>
                          </a:solidFill>
                          <a:latin typeface="Inter" pitchFamily="34" charset="0"/>
                          <a:ea typeface="Inter" pitchFamily="34" charset="-122"/>
                          <a:cs typeface="Inter" pitchFamily="34" charset="-120"/>
                        </a:rPr>
                        <a:t>Open question</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A1A1A"/>
                          </a:solidFill>
                          <a:latin typeface="Inter" pitchFamily="34" charset="0"/>
                          <a:ea typeface="Inter" pitchFamily="34" charset="-122"/>
                          <a:cs typeface="Inter" pitchFamily="34" charset="-120"/>
                        </a:rPr>
                        <a:t>What this study adds so far</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658368">
                <a:tc>
                  <a:txBody>
                    <a:bodyPr/>
                    <a:lstStyle/>
                    <a:p>
                      <a:pPr algn="l" indent="0" marL="0">
                        <a:buNone/>
                      </a:pPr>
                      <a:r>
                        <a:rPr lang="en-US" sz="1100" dirty="0">
                          <a:solidFill>
                            <a:srgbClr val="1A1A1A"/>
                          </a:solidFill>
                          <a:latin typeface="Inter" pitchFamily="34" charset="0"/>
                          <a:ea typeface="Inter" pitchFamily="34" charset="-122"/>
                          <a:cs typeface="Inter" pitchFamily="34" charset="-120"/>
                        </a:rPr>
                        <a:t>When does revenue stop representing platform commerce?</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Inter" pitchFamily="34" charset="0"/>
                          <a:ea typeface="Inter" pitchFamily="34" charset="-122"/>
                          <a:cs typeface="Inter" pitchFamily="34" charset="-120"/>
                        </a:rPr>
                        <a:t>A tracked measure (D), benchmarked abroad: in Indonesia, revenue and transaction growth diverge far more than abroad</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658368">
                <a:tc>
                  <a:txBody>
                    <a:bodyPr/>
                    <a:lstStyle/>
                    <a:p>
                      <a:pPr algn="l" indent="0" marL="0">
                        <a:buNone/>
                      </a:pPr>
                      <a:r>
                        <a:rPr lang="en-US" sz="1100" dirty="0">
                          <a:solidFill>
                            <a:srgbClr val="1A1A1A"/>
                          </a:solidFill>
                          <a:latin typeface="Inter" pitchFamily="34" charset="0"/>
                          <a:ea typeface="Inter" pitchFamily="34" charset="-122"/>
                          <a:cs typeface="Inter" pitchFamily="34" charset="-120"/>
                        </a:rPr>
                        <a:t>How large are the differences, and do they persist?</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Inter" pitchFamily="34" charset="0"/>
                          <a:ea typeface="Inter" pitchFamily="34" charset="-122"/>
                          <a:cs typeface="Inter" pitchFamily="34" charset="-120"/>
                        </a:rPr>
                        <a:t>Large in level and moving over time; at least one major divergence reconciles to disclosed components (Tokopedia: incentives); the thesis will diagnose the others</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r h="658368">
                <a:tc>
                  <a:txBody>
                    <a:bodyPr/>
                    <a:lstStyle/>
                    <a:p>
                      <a:pPr algn="l" indent="0" marL="0">
                        <a:buNone/>
                      </a:pPr>
                      <a:r>
                        <a:rPr lang="en-US" sz="1100" dirty="0">
                          <a:solidFill>
                            <a:srgbClr val="1A1A1A"/>
                          </a:solidFill>
                          <a:latin typeface="Inter" pitchFamily="34" charset="0"/>
                          <a:ea typeface="Inter" pitchFamily="34" charset="-122"/>
                          <a:cs typeface="Inter" pitchFamily="34" charset="-120"/>
                        </a:rPr>
                        <a:t>Does platform data represent national growth?</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Inter" pitchFamily="34" charset="0"/>
                          <a:ea typeface="Inter" pitchFamily="34" charset="-122"/>
                          <a:cs typeface="Inter" pitchFamily="34" charset="-120"/>
                        </a:rPr>
                        <a:t>National growth came mainly from more selling businesses, largely outside BPS’s marketplace category</a:t>
                      </a:r>
                      <a:endParaRPr lang="en-US" sz="1200" dirty="0"/>
                    </a:p>
                  </a:txBody>
                  <a:tcPr marL="88900" marR="88900" marT="38100" marB="3810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548640" y="4425696"/>
            <a:ext cx="5806440" cy="1005840"/>
          </a:xfrm>
          <a:prstGeom prst="rect">
            <a:avLst/>
          </a:prstGeom>
          <a:noFill/>
          <a:ln/>
        </p:spPr>
        <p:txBody>
          <a:bodyPr wrap="square" lIns="0" tIns="0" rIns="0" bIns="0" rtlCol="0" anchor="t"/>
          <a:lstStyle/>
          <a:p>
            <a:pPr indent="0" marL="0">
              <a:lnSpc>
                <a:spcPct val="105000"/>
              </a:lnSpc>
              <a:spcAft>
                <a:spcPts val="200"/>
              </a:spcAft>
              <a:buNone/>
            </a:pPr>
            <a:r>
              <a:rPr lang="en-US" sz="1100" b="1" spc="80" kern="0" dirty="0">
                <a:solidFill>
                  <a:srgbClr val="1A1A1A"/>
                </a:solidFill>
                <a:latin typeface="Montserrat" pitchFamily="34" charset="0"/>
                <a:ea typeface="Montserrat" pitchFamily="34" charset="-122"/>
                <a:cs typeface="Montserrat" pitchFamily="34" charset="-120"/>
              </a:rPr>
              <a:t>FOR FINANCE:</a:t>
            </a:r>
            <a:endParaRPr lang="en-US" sz="1100" dirty="0"/>
          </a:p>
          <a:p>
            <a:pPr indent="0" marL="0">
              <a:lnSpc>
                <a:spcPct val="105000"/>
              </a:lnSpc>
              <a:spcBef>
                <a:spcPts val="200"/>
              </a:spcBef>
              <a:spcAft>
                <a:spcPts val="100"/>
              </a:spcAft>
              <a:buNone/>
            </a:pPr>
            <a:r>
              <a:rPr lang="en-US" sz="1200" dirty="0">
                <a:solidFill>
                  <a:srgbClr val="1A1A1A"/>
                </a:solidFill>
                <a:latin typeface="Inter" pitchFamily="34" charset="0"/>
                <a:ea typeface="Inter" pitchFamily="34" charset="-122"/>
                <a:cs typeface="Inter" pitchFamily="34" charset="-120"/>
              </a:rPr>
              <a:t>Revenue growth can come from </a:t>
            </a:r>
            <a:r>
              <a:rPr lang="en-US" sz="1200" b="1" dirty="0">
                <a:solidFill>
                  <a:srgbClr val="1A1A1A"/>
                </a:solidFill>
                <a:latin typeface="Inter" pitchFamily="34" charset="0"/>
                <a:ea typeface="Inter" pitchFamily="34" charset="-122"/>
                <a:cs typeface="Inter" pitchFamily="34" charset="-120"/>
              </a:rPr>
              <a:t>more commerce</a:t>
            </a:r>
            <a:r>
              <a:rPr lang="en-US" sz="1200" dirty="0">
                <a:solidFill>
                  <a:srgbClr val="1A1A1A"/>
                </a:solidFill>
                <a:latin typeface="Inter" pitchFamily="34" charset="0"/>
                <a:ea typeface="Inter" pitchFamily="34" charset="-122"/>
                <a:cs typeface="Inter" pitchFamily="34" charset="-120"/>
              </a:rPr>
              <a:t> or from </a:t>
            </a:r>
            <a:r>
              <a:rPr lang="en-US" sz="1200" b="1" dirty="0">
                <a:solidFill>
                  <a:srgbClr val="1A1A1A"/>
                </a:solidFill>
                <a:latin typeface="Inter" pitchFamily="34" charset="0"/>
                <a:ea typeface="Inter" pitchFamily="34" charset="-122"/>
                <a:cs typeface="Inter" pitchFamily="34" charset="-120"/>
              </a:rPr>
              <a:t>keeping a bigger share</a:t>
            </a:r>
            <a:r>
              <a:rPr lang="en-US" sz="1200" dirty="0">
                <a:solidFill>
                  <a:srgbClr val="1A1A1A"/>
                </a:solidFill>
                <a:latin typeface="Inter" pitchFamily="34" charset="0"/>
                <a:ea typeface="Inter" pitchFamily="34" charset="-122"/>
                <a:cs typeface="Inter" pitchFamily="34" charset="-120"/>
              </a:rPr>
              <a:t> of each sale. In revenue they look identical; </a:t>
            </a:r>
            <a:r>
              <a:rPr lang="en-US" sz="1200" b="1" dirty="0">
                <a:solidFill>
                  <a:srgbClr val="1A1A1A"/>
                </a:solidFill>
                <a:latin typeface="Inter" pitchFamily="34" charset="0"/>
                <a:ea typeface="Inter" pitchFamily="34" charset="-122"/>
                <a:cs typeface="Inter" pitchFamily="34" charset="-120"/>
              </a:rPr>
              <a:t>they need not carry the same information</a:t>
            </a:r>
            <a:r>
              <a:rPr lang="en-US" sz="1200" dirty="0">
                <a:solidFill>
                  <a:srgbClr val="1A1A1A"/>
                </a:solidFill>
                <a:latin typeface="Inter" pitchFamily="34" charset="0"/>
                <a:ea typeface="Inter" pitchFamily="34" charset="-122"/>
                <a:cs typeface="Inter" pitchFamily="34" charset="-120"/>
              </a:rPr>
              <a:t>.</a:t>
            </a:r>
            <a:endParaRPr lang="en-US" sz="1100" dirty="0"/>
          </a:p>
        </p:txBody>
      </p:sp>
      <p:sp>
        <p:nvSpPr>
          <p:cNvPr id="12" name="Shape 8"/>
          <p:cNvSpPr/>
          <p:nvPr/>
        </p:nvSpPr>
        <p:spPr>
          <a:xfrm>
            <a:off x="6675120" y="1344168"/>
            <a:ext cx="0" cy="4160520"/>
          </a:xfrm>
          <a:prstGeom prst="line">
            <a:avLst/>
          </a:prstGeom>
          <a:noFill/>
          <a:ln w="9525">
            <a:solidFill>
              <a:srgbClr val="B9B5AE"/>
            </a:solidFill>
            <a:prstDash val="solid"/>
          </a:ln>
        </p:spPr>
      </p:sp>
      <p:sp>
        <p:nvSpPr>
          <p:cNvPr id="13" name="Text 9"/>
          <p:cNvSpPr txBox="1"/>
          <p:nvPr/>
        </p:nvSpPr>
        <p:spPr>
          <a:xfrm>
            <a:off x="6995160" y="1344168"/>
            <a:ext cx="4645152" cy="274320"/>
          </a:xfrm>
          <a:prstGeom prst="rect">
            <a:avLst/>
          </a:prstGeom>
          <a:noFill/>
          <a:ln/>
        </p:spPr>
        <p:txBody>
          <a:bodyPr wrap="square" lIns="0" tIns="0" rIns="0" bIns="0" rtlCol="0" anchor="t"/>
          <a:lstStyle/>
          <a:p>
            <a:pPr algn="l" indent="0" marL="0">
              <a:lnSpc>
                <a:spcPct val="100000"/>
              </a:lnSpc>
              <a:buNone/>
            </a:pPr>
            <a:r>
              <a:rPr lang="en-US" sz="1450" dirty="0">
                <a:solidFill>
                  <a:srgbClr val="1A1A1A"/>
                </a:solidFill>
                <a:latin typeface="Montserrat SemiBold" pitchFamily="34" charset="0"/>
                <a:ea typeface="Montserrat SemiBold" pitchFamily="34" charset="-122"/>
                <a:cs typeface="Montserrat SemiBold" pitchFamily="34" charset="-120"/>
              </a:rPr>
              <a:t>The framework: a check before substituting</a:t>
            </a:r>
            <a:endParaRPr lang="en-US" sz="1450" dirty="0"/>
          </a:p>
        </p:txBody>
      </p:sp>
      <p:sp>
        <p:nvSpPr>
          <p:cNvPr id="14" name="Shape 10"/>
          <p:cNvSpPr/>
          <p:nvPr/>
        </p:nvSpPr>
        <p:spPr>
          <a:xfrm>
            <a:off x="6995160" y="1645920"/>
            <a:ext cx="4645152" cy="0"/>
          </a:xfrm>
          <a:prstGeom prst="line">
            <a:avLst/>
          </a:prstGeom>
          <a:noFill/>
          <a:ln w="9525">
            <a:solidFill>
              <a:srgbClr val="B9B5AE"/>
            </a:solidFill>
            <a:prstDash val="solid"/>
          </a:ln>
        </p:spPr>
      </p:sp>
      <p:sp>
        <p:nvSpPr>
          <p:cNvPr id="15" name="Shape 11"/>
          <p:cNvSpPr/>
          <p:nvPr/>
        </p:nvSpPr>
        <p:spPr>
          <a:xfrm>
            <a:off x="6995160" y="1783080"/>
            <a:ext cx="274320" cy="274320"/>
          </a:xfrm>
          <a:prstGeom prst="ellipse">
            <a:avLst/>
          </a:prstGeom>
          <a:solidFill>
            <a:srgbClr val="1F4E5F"/>
          </a:solidFill>
          <a:ln w="12700">
            <a:solidFill>
              <a:srgbClr val="1F4E5F"/>
            </a:solidFill>
            <a:prstDash val="solid"/>
          </a:ln>
        </p:spPr>
      </p:sp>
      <p:sp>
        <p:nvSpPr>
          <p:cNvPr id="16" name="Text 12"/>
          <p:cNvSpPr txBox="1"/>
          <p:nvPr/>
        </p:nvSpPr>
        <p:spPr>
          <a:xfrm>
            <a:off x="6995160" y="1783080"/>
            <a:ext cx="274320" cy="2743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Montserrat" pitchFamily="34" charset="0"/>
                <a:ea typeface="Montserrat" pitchFamily="34" charset="-122"/>
                <a:cs typeface="Montserrat" pitchFamily="34" charset="-120"/>
              </a:rPr>
              <a:t>1</a:t>
            </a:r>
            <a:endParaRPr lang="en-US" sz="1050" dirty="0"/>
          </a:p>
        </p:txBody>
      </p:sp>
      <p:sp>
        <p:nvSpPr>
          <p:cNvPr id="17" name="Text 13"/>
          <p:cNvSpPr txBox="1"/>
          <p:nvPr/>
        </p:nvSpPr>
        <p:spPr>
          <a:xfrm>
            <a:off x="7406640" y="1773936"/>
            <a:ext cx="4233672" cy="868680"/>
          </a:xfrm>
          <a:prstGeom prst="rect">
            <a:avLst/>
          </a:prstGeom>
          <a:noFill/>
          <a:ln/>
        </p:spPr>
        <p:txBody>
          <a:bodyPr wrap="square" lIns="0" tIns="0" rIns="0" bIns="0" rtlCol="0" anchor="t"/>
          <a:lstStyle/>
          <a:p>
            <a:pPr indent="0" marL="0">
              <a:lnSpc>
                <a:spcPct val="105000"/>
              </a:lnSpc>
              <a:spcAft>
                <a:spcPts val="200"/>
              </a:spcAft>
              <a:buNone/>
            </a:pPr>
            <a:r>
              <a:rPr lang="en-US" sz="1050" b="1" spc="80" kern="0" dirty="0">
                <a:solidFill>
                  <a:srgbClr val="1A1A1A"/>
                </a:solidFill>
                <a:latin typeface="Montserrat" pitchFamily="34" charset="0"/>
                <a:ea typeface="Montserrat" pitchFamily="34" charset="-122"/>
                <a:cs typeface="Montserrat" pitchFamily="34" charset="-120"/>
              </a:rPr>
              <a:t>MATCH</a:t>
            </a:r>
            <a:endParaRPr lang="en-US" sz="1050" dirty="0"/>
          </a:p>
          <a:p>
            <a:pPr indent="0" marL="0">
              <a:lnSpc>
                <a:spcPct val="105000"/>
              </a:lnSpc>
              <a:spcBef>
                <a:spcPts val="200"/>
              </a:spcBef>
              <a:spcAft>
                <a:spcPts val="100"/>
              </a:spcAft>
              <a:buNone/>
            </a:pPr>
            <a:r>
              <a:rPr lang="en-US" sz="1150" dirty="0">
                <a:solidFill>
                  <a:srgbClr val="1A1A1A"/>
                </a:solidFill>
                <a:latin typeface="Inter" pitchFamily="34" charset="0"/>
                <a:ea typeface="Inter" pitchFamily="34" charset="-122"/>
                <a:cs typeface="Inter" pitchFamily="34" charset="-120"/>
              </a:rPr>
              <a:t>Pair transaction value (V) and revenue (R) for the same period and the same business activity.</a:t>
            </a:r>
            <a:endParaRPr lang="en-US" sz="1050" dirty="0"/>
          </a:p>
        </p:txBody>
      </p:sp>
      <p:sp>
        <p:nvSpPr>
          <p:cNvPr id="18" name="Shape 14"/>
          <p:cNvSpPr/>
          <p:nvPr/>
        </p:nvSpPr>
        <p:spPr>
          <a:xfrm>
            <a:off x="6995160" y="2688336"/>
            <a:ext cx="274320" cy="274320"/>
          </a:xfrm>
          <a:prstGeom prst="ellipse">
            <a:avLst/>
          </a:prstGeom>
          <a:solidFill>
            <a:srgbClr val="1F4E5F"/>
          </a:solidFill>
          <a:ln w="12700">
            <a:solidFill>
              <a:srgbClr val="1F4E5F"/>
            </a:solidFill>
            <a:prstDash val="solid"/>
          </a:ln>
        </p:spPr>
      </p:sp>
      <p:sp>
        <p:nvSpPr>
          <p:cNvPr id="19" name="Text 15"/>
          <p:cNvSpPr txBox="1"/>
          <p:nvPr/>
        </p:nvSpPr>
        <p:spPr>
          <a:xfrm>
            <a:off x="6995160" y="2688336"/>
            <a:ext cx="274320" cy="2743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Montserrat" pitchFamily="34" charset="0"/>
                <a:ea typeface="Montserrat" pitchFamily="34" charset="-122"/>
                <a:cs typeface="Montserrat" pitchFamily="34" charset="-120"/>
              </a:rPr>
              <a:t>2</a:t>
            </a:r>
            <a:endParaRPr lang="en-US" sz="1050" dirty="0"/>
          </a:p>
        </p:txBody>
      </p:sp>
      <p:sp>
        <p:nvSpPr>
          <p:cNvPr id="20" name="Text 16"/>
          <p:cNvSpPr txBox="1"/>
          <p:nvPr/>
        </p:nvSpPr>
        <p:spPr>
          <a:xfrm>
            <a:off x="7406640" y="2679192"/>
            <a:ext cx="4233672" cy="868680"/>
          </a:xfrm>
          <a:prstGeom prst="rect">
            <a:avLst/>
          </a:prstGeom>
          <a:noFill/>
          <a:ln/>
        </p:spPr>
        <p:txBody>
          <a:bodyPr wrap="square" lIns="0" tIns="0" rIns="0" bIns="0" rtlCol="0" anchor="t"/>
          <a:lstStyle/>
          <a:p>
            <a:pPr indent="0" marL="0">
              <a:lnSpc>
                <a:spcPct val="105000"/>
              </a:lnSpc>
              <a:spcAft>
                <a:spcPts val="200"/>
              </a:spcAft>
              <a:buNone/>
            </a:pPr>
            <a:r>
              <a:rPr lang="en-US" sz="1050" b="1" spc="80" kern="0" dirty="0">
                <a:solidFill>
                  <a:srgbClr val="1A1A1A"/>
                </a:solidFill>
                <a:latin typeface="Montserrat" pitchFamily="34" charset="0"/>
                <a:ea typeface="Montserrat" pitchFamily="34" charset="-122"/>
                <a:cs typeface="Montserrat" pitchFamily="34" charset="-120"/>
              </a:rPr>
              <a:t>SIZE THE GAP</a:t>
            </a:r>
            <a:endParaRPr lang="en-US" sz="1050" dirty="0"/>
          </a:p>
          <a:p>
            <a:pPr indent="0" marL="0">
              <a:lnSpc>
                <a:spcPct val="105000"/>
              </a:lnSpc>
              <a:spcBef>
                <a:spcPts val="200"/>
              </a:spcBef>
              <a:spcAft>
                <a:spcPts val="100"/>
              </a:spcAft>
              <a:buNone/>
            </a:pPr>
            <a:r>
              <a:rPr lang="en-US" sz="1150" dirty="0">
                <a:solidFill>
                  <a:srgbClr val="1A1A1A"/>
                </a:solidFill>
                <a:latin typeface="Inter" pitchFamily="34" charset="0"/>
                <a:ea typeface="Inter" pitchFamily="34" charset="-122"/>
                <a:cs typeface="Inter" pitchFamily="34" charset="-120"/>
              </a:rPr>
              <a:t>W = V − R and E = W / R: how much sits outside revenue. Levels differ by business model.</a:t>
            </a:r>
            <a:endParaRPr lang="en-US" sz="1050" dirty="0"/>
          </a:p>
        </p:txBody>
      </p:sp>
      <p:sp>
        <p:nvSpPr>
          <p:cNvPr id="21" name="Shape 17"/>
          <p:cNvSpPr/>
          <p:nvPr/>
        </p:nvSpPr>
        <p:spPr>
          <a:xfrm>
            <a:off x="6995160" y="3593592"/>
            <a:ext cx="274320" cy="274320"/>
          </a:xfrm>
          <a:prstGeom prst="ellipse">
            <a:avLst/>
          </a:prstGeom>
          <a:solidFill>
            <a:srgbClr val="1F4E5F"/>
          </a:solidFill>
          <a:ln w="12700">
            <a:solidFill>
              <a:srgbClr val="1F4E5F"/>
            </a:solidFill>
            <a:prstDash val="solid"/>
          </a:ln>
        </p:spPr>
      </p:sp>
      <p:sp>
        <p:nvSpPr>
          <p:cNvPr id="22" name="Text 18"/>
          <p:cNvSpPr txBox="1"/>
          <p:nvPr/>
        </p:nvSpPr>
        <p:spPr>
          <a:xfrm>
            <a:off x="6995160" y="3593592"/>
            <a:ext cx="274320" cy="2743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Montserrat" pitchFamily="34" charset="0"/>
                <a:ea typeface="Montserrat" pitchFamily="34" charset="-122"/>
                <a:cs typeface="Montserrat" pitchFamily="34" charset="-120"/>
              </a:rPr>
              <a:t>3</a:t>
            </a:r>
            <a:endParaRPr lang="en-US" sz="1050" dirty="0"/>
          </a:p>
        </p:txBody>
      </p:sp>
      <p:sp>
        <p:nvSpPr>
          <p:cNvPr id="23" name="Text 19"/>
          <p:cNvSpPr txBox="1"/>
          <p:nvPr/>
        </p:nvSpPr>
        <p:spPr>
          <a:xfrm>
            <a:off x="7406640" y="3584448"/>
            <a:ext cx="4233672" cy="868680"/>
          </a:xfrm>
          <a:prstGeom prst="rect">
            <a:avLst/>
          </a:prstGeom>
          <a:noFill/>
          <a:ln/>
        </p:spPr>
        <p:txBody>
          <a:bodyPr wrap="square" lIns="0" tIns="0" rIns="0" bIns="0" rtlCol="0" anchor="t"/>
          <a:lstStyle/>
          <a:p>
            <a:pPr indent="0" marL="0">
              <a:lnSpc>
                <a:spcPct val="105000"/>
              </a:lnSpc>
              <a:spcAft>
                <a:spcPts val="200"/>
              </a:spcAft>
              <a:buNone/>
            </a:pPr>
            <a:r>
              <a:rPr lang="en-US" sz="1050" b="1" spc="80" kern="0" dirty="0">
                <a:solidFill>
                  <a:srgbClr val="1A1A1A"/>
                </a:solidFill>
                <a:latin typeface="Montserrat" pitchFamily="34" charset="0"/>
                <a:ea typeface="Montserrat" pitchFamily="34" charset="-122"/>
                <a:cs typeface="Montserrat" pitchFamily="34" charset="-120"/>
              </a:rPr>
              <a:t>TEST STABILITY</a:t>
            </a:r>
            <a:endParaRPr lang="en-US" sz="1050" dirty="0"/>
          </a:p>
          <a:p>
            <a:pPr indent="0" marL="0">
              <a:lnSpc>
                <a:spcPct val="105000"/>
              </a:lnSpc>
              <a:spcBef>
                <a:spcPts val="200"/>
              </a:spcBef>
              <a:spcAft>
                <a:spcPts val="100"/>
              </a:spcAft>
              <a:buNone/>
            </a:pPr>
            <a:r>
              <a:rPr lang="en-US" sz="1150" dirty="0">
                <a:solidFill>
                  <a:srgbClr val="1A1A1A"/>
                </a:solidFill>
                <a:latin typeface="Inter" pitchFamily="34" charset="0"/>
                <a:ea typeface="Inter" pitchFamily="34" charset="-122"/>
                <a:cs typeface="Inter" pitchFamily="34" charset="-120"/>
              </a:rPr>
              <a:t>D = g(R) − g(V). Near zero: revenue approximately preserves the growth signal. Large |D|: growth materially diverges, consistent with a change in monetization.</a:t>
            </a:r>
            <a:endParaRPr lang="en-US" sz="1050" dirty="0"/>
          </a:p>
        </p:txBody>
      </p:sp>
      <p:sp>
        <p:nvSpPr>
          <p:cNvPr id="24" name="Shape 20"/>
          <p:cNvSpPr/>
          <p:nvPr/>
        </p:nvSpPr>
        <p:spPr>
          <a:xfrm>
            <a:off x="6995160" y="4498848"/>
            <a:ext cx="274320" cy="274320"/>
          </a:xfrm>
          <a:prstGeom prst="ellipse">
            <a:avLst/>
          </a:prstGeom>
          <a:solidFill>
            <a:srgbClr val="1F4E5F"/>
          </a:solidFill>
          <a:ln w="12700">
            <a:solidFill>
              <a:srgbClr val="1F4E5F"/>
            </a:solidFill>
            <a:prstDash val="solid"/>
          </a:ln>
        </p:spPr>
      </p:sp>
      <p:sp>
        <p:nvSpPr>
          <p:cNvPr id="25" name="Text 21"/>
          <p:cNvSpPr txBox="1"/>
          <p:nvPr/>
        </p:nvSpPr>
        <p:spPr>
          <a:xfrm>
            <a:off x="6995160" y="4498848"/>
            <a:ext cx="274320" cy="2743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Montserrat" pitchFamily="34" charset="0"/>
                <a:ea typeface="Montserrat" pitchFamily="34" charset="-122"/>
                <a:cs typeface="Montserrat" pitchFamily="34" charset="-120"/>
              </a:rPr>
              <a:t>4</a:t>
            </a:r>
            <a:endParaRPr lang="en-US" sz="1050" dirty="0"/>
          </a:p>
        </p:txBody>
      </p:sp>
      <p:sp>
        <p:nvSpPr>
          <p:cNvPr id="26" name="Text 22"/>
          <p:cNvSpPr txBox="1"/>
          <p:nvPr/>
        </p:nvSpPr>
        <p:spPr>
          <a:xfrm>
            <a:off x="7406640" y="4489704"/>
            <a:ext cx="4233672" cy="868680"/>
          </a:xfrm>
          <a:prstGeom prst="rect">
            <a:avLst/>
          </a:prstGeom>
          <a:noFill/>
          <a:ln/>
        </p:spPr>
        <p:txBody>
          <a:bodyPr wrap="square" lIns="0" tIns="0" rIns="0" bIns="0" rtlCol="0" anchor="t"/>
          <a:lstStyle/>
          <a:p>
            <a:pPr indent="0" marL="0">
              <a:lnSpc>
                <a:spcPct val="105000"/>
              </a:lnSpc>
              <a:spcAft>
                <a:spcPts val="200"/>
              </a:spcAft>
              <a:buNone/>
            </a:pPr>
            <a:r>
              <a:rPr lang="en-US" sz="1050" b="1" spc="80" kern="0" dirty="0">
                <a:solidFill>
                  <a:srgbClr val="1A1A1A"/>
                </a:solidFill>
                <a:latin typeface="Montserrat" pitchFamily="34" charset="0"/>
                <a:ea typeface="Montserrat" pitchFamily="34" charset="-122"/>
                <a:cs typeface="Montserrat" pitchFamily="34" charset="-120"/>
              </a:rPr>
              <a:t>BENCHMARK AND DIAGNOSE</a:t>
            </a:r>
            <a:endParaRPr lang="en-US" sz="1050" dirty="0"/>
          </a:p>
          <a:p>
            <a:pPr indent="0" marL="0">
              <a:lnSpc>
                <a:spcPct val="105000"/>
              </a:lnSpc>
              <a:spcBef>
                <a:spcPts val="200"/>
              </a:spcBef>
              <a:spcAft>
                <a:spcPts val="100"/>
              </a:spcAft>
              <a:buNone/>
            </a:pPr>
            <a:r>
              <a:rPr lang="en-US" sz="1150" dirty="0">
                <a:solidFill>
                  <a:srgbClr val="1A1A1A"/>
                </a:solidFill>
                <a:latin typeface="Inter" pitchFamily="34" charset="0"/>
                <a:ea typeface="Inter" pitchFamily="34" charset="-122"/>
                <a:cs typeface="Inter" pitchFamily="34" charset="-120"/>
              </a:rPr>
              <a:t>Compare |D| with comparable platforms; diagnose large divergences using disclosed incentives, fees and scope.</a:t>
            </a:r>
            <a:endParaRPr lang="en-US" sz="1050" dirty="0"/>
          </a:p>
        </p:txBody>
      </p:sp>
      <p:sp>
        <p:nvSpPr>
          <p:cNvPr id="27" name="Shape 23"/>
          <p:cNvSpPr/>
          <p:nvPr/>
        </p:nvSpPr>
        <p:spPr>
          <a:xfrm>
            <a:off x="548640" y="5559552"/>
            <a:ext cx="11091672" cy="0"/>
          </a:xfrm>
          <a:prstGeom prst="line">
            <a:avLst/>
          </a:prstGeom>
          <a:noFill/>
          <a:ln w="9525">
            <a:solidFill>
              <a:srgbClr val="B9B5AE"/>
            </a:solidFill>
            <a:prstDash val="solid"/>
          </a:ln>
        </p:spPr>
      </p:sp>
      <p:sp>
        <p:nvSpPr>
          <p:cNvPr id="28" name="Text 24"/>
          <p:cNvSpPr txBox="1"/>
          <p:nvPr/>
        </p:nvSpPr>
        <p:spPr>
          <a:xfrm>
            <a:off x="548640" y="5687568"/>
            <a:ext cx="11091672" cy="640080"/>
          </a:xfrm>
          <a:prstGeom prst="rect">
            <a:avLst/>
          </a:prstGeom>
          <a:noFill/>
          <a:ln/>
        </p:spPr>
        <p:txBody>
          <a:bodyPr wrap="square" lIns="0" tIns="0" rIns="0" bIns="0" rtlCol="0" anchor="t"/>
          <a:lstStyle/>
          <a:p>
            <a:pPr indent="0" marL="0">
              <a:lnSpc>
                <a:spcPct val="105000"/>
              </a:lnSpc>
              <a:spcAft>
                <a:spcPts val="200"/>
              </a:spcAft>
              <a:buNone/>
            </a:pPr>
            <a:r>
              <a:rPr lang="en-US" sz="1050" b="1" spc="80" kern="0" dirty="0">
                <a:solidFill>
                  <a:srgbClr val="1A1A1A"/>
                </a:solidFill>
                <a:latin typeface="Montserrat" pitchFamily="34" charset="0"/>
                <a:ea typeface="Montserrat" pitchFamily="34" charset="-122"/>
                <a:cs typeface="Montserrat" pitchFamily="34" charset="-120"/>
              </a:rPr>
              <a:t>WHAT THE THESIS WILL COMPLETE:</a:t>
            </a:r>
            <a:r>
              <a:rPr lang="en-US" sz="1150" dirty="0">
                <a:solidFill>
                  <a:srgbClr val="1A1A1A"/>
                </a:solidFill>
                <a:latin typeface="Inter" pitchFamily="34" charset="0"/>
                <a:ea typeface="Inter" pitchFamily="34" charset="-122"/>
                <a:cs typeface="Inter" pitchFamily="34" charset="-120"/>
              </a:rPr>
              <a:t> thicken H1 with quarterly pairs and a longer benchmark · diagnose each large divergence · reconcile platform and BPS definitions · </a:t>
            </a:r>
            <a:r>
              <a:rPr lang="en-US" sz="1150" i="1" dirty="0">
                <a:solidFill>
                  <a:srgbClr val="1A1A1A"/>
                </a:solidFill>
                <a:latin typeface="Inter" pitchFamily="34" charset="0"/>
                <a:ea typeface="Inter" pitchFamily="34" charset="-122"/>
                <a:cs typeface="Inter" pitchFamily="34" charset="-120"/>
              </a:rPr>
              <a:t>market test: does the stock market tell the two kinds of revenue growth apart?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Invisible Ledger — Proposal Oral Examination</dc:title>
  <dc:subject>PptxGenJS Presentation</dc:subject>
  <dc:creator>Christopher Ongko</dc:creator>
  <cp:lastModifiedBy>Christopher Ongko</cp:lastModifiedBy>
  <cp:revision>1</cp:revision>
  <dcterms:created xsi:type="dcterms:W3CDTF">2026-09-30T11:49:31Z</dcterms:created>
  <dcterms:modified xsi:type="dcterms:W3CDTF">2026-09-30T11:49:31Z</dcterms:modified>
</cp:coreProperties>
</file>
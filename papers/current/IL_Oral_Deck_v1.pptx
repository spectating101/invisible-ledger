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4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1F4E5F"/>
            </a:solidFill>
            <a:effectLst/>
          </c:spPr>
          <c:invertIfNegative val="0"/>
          <c:dLbls>
            <c:numFmt formatCode="+0.0&quot;%&quot;;−0.0&quot;%&quot;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3A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Revenue</c:v>
                  </c:pt>
                  <c:pt idx="1">
                    <c:v>Transaction value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53.2</c:v>
                </c:pt>
                <c:pt idx="1">
                  <c:v>-8.9</c:v>
                </c:pt>
              </c:numCache>
            </c:numRef>
          </c:val>
        </c:ser>
        <c:dLbls>
          <c:numFmt formatCode="+0.0&quot;%&quot;;−0.0&quot;%&quot;" sourceLinked="0"/>
          <c:txPr>
            <a:bodyPr/>
            <a:lstStyle/>
            <a:p>
              <a:pPr>
                <a:defRPr b="1" i="0" strike="noStrike" sz="18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A7A7A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-2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A63A2B"/>
            </a:solidFill>
            <a:effectLst/>
          </c:spPr>
          <c:invertIfNegative val="0"/>
          <c:dLbls>
            <c:numFmt formatCode="0.0#&quot; pp&quot;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63A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B8B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Indonesia (3 platforms)</c:v>
                  </c:pt>
                  <c:pt idx="1">
                    <c:v>8 listed platforms elsewhere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38.92</c:v>
                </c:pt>
                <c:pt idx="1">
                  <c:v>7.1</c:v>
                </c:pt>
              </c:numCache>
            </c:numRef>
          </c:val>
        </c:ser>
        <c:dLbls>
          <c:numFmt formatCode="0.0#&quot; pp&quot;" sourceLinked="0"/>
          <c:txPr>
            <a:bodyPr/>
            <a:lstStyle/>
            <a:p>
              <a:pPr>
                <a:defRPr b="1" i="0" strike="noStrike" sz="18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A7A7A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3A3A3A"/>
            </a:solidFill>
            <a:effectLst/>
          </c:spPr>
          <c:invertIfNegative val="0"/>
          <c:dLbls>
            <c:numFmt formatCode="+0.00&quot;%&quot;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3A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3A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5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All e-commerce</c:v>
                  </c:pt>
                  <c:pt idx="1">
                    <c:v>Marketplace channel</c:v>
                  </c:pt>
                  <c:pt idx="2">
                    <c:v>Other channels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17.08</c:v>
                </c:pt>
                <c:pt idx="1">
                  <c:v>1.45</c:v>
                </c:pt>
                <c:pt idx="2">
                  <c:v>20.57</c:v>
                </c:pt>
              </c:numCache>
            </c:numRef>
          </c:val>
        </c:ser>
        <c:dLbls>
          <c:numFmt formatCode="+0.00&quot;%&quot;" sourceLinked="0"/>
          <c:txPr>
            <a:bodyPr/>
            <a:lstStyle/>
            <a:p>
              <a:pPr>
                <a:defRPr b="1" i="0" strike="noStrike" sz="18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A7A7A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3A3A3A"/>
            </a:solidFill>
            <a:effectLst/>
          </c:spPr>
          <c:invertIfNegative val="0"/>
          <c:dLbls>
            <c:numFmt formatCode="+0.00&quot;%&quot;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3A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B8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B8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4E5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BPS e-commerce</c:v>
                  </c:pt>
                  <c:pt idx="1">
                    <c:v>E-money shopping</c:v>
                  </c:pt>
                  <c:pt idx="2">
                    <c:v>Mobile-banking payments</c:v>
                  </c:pt>
                  <c:pt idx="3">
                    <c:v>QRIS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17.08</c:v>
                </c:pt>
                <c:pt idx="1">
                  <c:v>30.47</c:v>
                </c:pt>
                <c:pt idx="2">
                  <c:v>82.84</c:v>
                </c:pt>
                <c:pt idx="3">
                  <c:v>186.98</c:v>
                </c:pt>
              </c:numCache>
            </c:numRef>
          </c:val>
        </c:ser>
        <c:dLbls>
          <c:numFmt formatCode="+0.00&quot;%&quot;" sourceLinked="0"/>
          <c:txPr>
            <a:bodyPr/>
            <a:lstStyle/>
            <a:p>
              <a:pPr>
                <a:defRPr b="1" i="0" strike="noStrike" sz="18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A7A7A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when a digital platform reports that it is growing, is the commerce on that platform actually growing? In Indonesia the answer is often no — and sometimes the two point in opposite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Tokopedia, Indonesia's largest domestic marketplace. Revenue +53%; value of everything bought and sold fell ~9%. Both from the company's own disclosures. The question is not which number is wrong, but how both can be right — and what happens when people use one in place of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GoTo reports gross revenue before partner incentives and end-user promotions, then deducts them to reach net revenue. 60.6% of the net-revenue increase reconciles to lower incentives; 39.4% to higher gross revenue. (If asked: incentives fell from about Rp4.1T to Rp2.8T.) Arithmetic, not causation.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objectives: measure the relationship over time, explain the big movements using what platforms disclose, check whether national statistics tell the same story. Not the one correct number — when one record can stand in for another.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= the gap. E = the gap relative to revenue — say plainly it is 1/t − 1, a convenient description, not the contribution. D is the test: near zero, revenue is a workable stand-in; if it moves or flips sign, revenue tells a different story from the commerce.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 kept apart. Main sample: the three that report both measures themselves — 11 platform-years, 8 comparisons. Grab and Shopee are constructed from company-wide ratios: scale only, no movement. National, payment and external data are comparisons, never pooled.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Bars right = revenue grew faster. Six of eight; two full reversals (Tokopedia 2022–23, Blibli 2024–25). Typical gap ~39 points. Blibli 2022–23 is extreme; without it, 5 of 7 and ~16 points. Every leave-one-out sample keeps a majority and at least one reversal.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this just how platforms work? Partly: abroad, revenue also outgrew transactions in 22 of 29. But the size differs: ~7 points abroad vs ~39 in Indonesia. Same phenomenon, around five times larger.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pattern, measured a completely different way. Total e-commerce +17%; marketplace channel +1.45%; ~98% of the increase outside marketplaces. One year — not a trend.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Mostly more businesses selling online, not existing sellers selling more — ~90% (71% under BPS's other count). Marketplace sellers are more than twice as likely to keep complete financial statements; association, not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PMK 37/2025: designated marketplaces withhold 0.5% of sellers' gross turnover. Postponed once — designations cancelled, refunds. Collection scheduled 1 Nov 2026. Not predicting success or failure; the pairing is only visible when you compare records instead of substituting one for another. CHECK STATUS OF 1 OCT RE-DESIGNATION ON THE MORNING OF THE 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Finance angle: is reported revenue a reliable signal of underlying growth? Commerce-driven and incentive-driven revenue growth look identical in the accounts but differ economically. Stock-return test is a later extension; listed sample small, Tokopedia a segment inside GoTo.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about boundaries: not hidden income, unpaid tax or missing GDP; reconciliations are arithmetic; no indicator is "wrong".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and framework assembled; remaining work is reconciliation, robustness and the full manuscript.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takeaway.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STUDY PROPOSAL   碩士論文計畫書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Invisible Ledger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Quantifying the Invisible Wedge in Indonesia's Platform Economy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8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隱形帳簿：量化印尼平台經濟中的隱形缺口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Ongko 王新福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83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Prof. De-Rong Kong 孔德蓉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303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Ze University · Master of Science in Finance · 1 October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PUZZLE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said growth. Transactions said contraction.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帳面成長，交易萎縮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+53.2%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— what the accounts record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6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−8.9%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 — what the platform carried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377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Tokopedia, 2022 → 2023. Same company, same year, both correct.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212080" y="1645920"/>
          <a:ext cx="6400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GoTo annual report, e-commerce segment. Issuer-reported pair; Indonesia-aligned segment, not a literal country line.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PUZZLE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revenue rose while transactions fell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營收為何在交易下滑時仍成長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721553" cy="1051560"/>
          </a:xfrm>
          <a:prstGeom prst="rect">
            <a:avLst/>
          </a:prstGeom>
          <a:solidFill>
            <a:srgbClr val="C88A2E"/>
          </a:solidFill>
          <a:ln w="12700">
            <a:solidFill>
              <a:srgbClr val="C8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70193" y="1783080"/>
            <a:ext cx="4370119" cy="105156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67215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60.6%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270193" y="1783080"/>
            <a:ext cx="43701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39.4%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44368"/>
            <a:ext cx="67215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customer incentives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270193" y="2944368"/>
            <a:ext cx="4370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gross revenue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375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the 2022–2023 increase in Tokopedia net revenue (+53.2%)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6812280" cy="2057400"/>
          </a:xfrm>
          <a:prstGeom prst="rect">
            <a:avLst/>
          </a:prstGeom>
          <a:solidFill>
            <a:srgbClr val="F7EEDD"/>
          </a:solidFill>
          <a:ln w="12700">
            <a:solidFill>
              <a:srgbClr val="F7EE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776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customer incentives?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8912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 incentives and end-user promotions — discounts, vouchers, shipping subsidies — that GoTo deducts from gross revenue to arrive at net revenue.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80960" y="3794760"/>
            <a:ext cx="3959352" cy="2057400"/>
          </a:xfrm>
          <a:prstGeom prst="rect">
            <a:avLst/>
          </a:prstGeom>
          <a:solidFill>
            <a:srgbClr val="E8EFF1"/>
          </a:solidFill>
          <a:ln w="12700">
            <a:solidFill>
              <a:srgbClr val="E8EF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0" y="397764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earned more mainly by spending less to attract transactions — not by carrying more of them.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reconciliation of issuer-disclosed components (GoTo 2024; GoTo annual report 2023, segment note), not a causal decomposition.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研究問題與目標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1463040"/>
          </a:xfrm>
          <a:prstGeom prst="rect">
            <a:avLst/>
          </a:prstGeom>
          <a:solidFill>
            <a:srgbClr val="E8EFF1"/>
          </a:solidFill>
          <a:ln w="12700">
            <a:solidFill>
              <a:srgbClr val="E8EF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10451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economic activity remains invisible when digital platforms are measured through their reported revenue — and when does that choice change the conclusion about growth?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3529584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348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transaction–revenue relationship across Indonesian platforms, 2020–2025, using W, E and 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29684" y="3520440"/>
            <a:ext cx="3529584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4004" y="3749040"/>
            <a:ext cx="502920" cy="502920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04004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244084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604004" y="44348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divergences to disclosed components: incentives, monetization, revenue recognition, scope.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10728" y="3520440"/>
            <a:ext cx="3529584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5048" y="3749040"/>
            <a:ext cx="502920" cy="502920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85048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025128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385048" y="44348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evidence against national e-commerce (BPS) and payment (Bank Indonesia) indicators.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does not seek one universally correct measure; it evaluates when an observable indicator is sufficient for the question being asked.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measures — and D is the test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三個衡量指標：D 是核心檢定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carries 100 and keeps 10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443984" cy="822960"/>
          </a:xfrm>
          <a:prstGeom prst="rect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2624" y="2331720"/>
            <a:ext cx="493776" cy="82296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317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· outside recognized revenue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100 (transaction value)    R = 10 (revenue)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11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90      E = 90 / 10 = 9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434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 but stable gap still preserves the growth story. A moving gap does not.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52160" y="1783080"/>
            <a:ext cx="5788152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89280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V − R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35000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the gap 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154680"/>
            <a:ext cx="5788152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326440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(V − R) / R = 1/t − 1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72160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relative to revenue — a transformation of the take rate, not the contribution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4526280"/>
            <a:ext cx="5788152" cy="118872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463600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g(R) − g(V)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509320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relationship holds over time — the central test. A sign flip is the strongest failure.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transaction value; R = recognized revenue; t = R/V, the monetization rate; g(·) = annual growth.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can observe — and how directly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樣本與證據層級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1234440"/>
          </a:xfrm>
          <a:prstGeom prst="rect">
            <a:avLst/>
          </a:prstGeom>
          <a:solidFill>
            <a:srgbClr val="E8EFF1"/>
          </a:solidFill>
          <a:ln w="12700">
            <a:solidFill>
              <a:srgbClr val="E8EF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385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Issuer-reported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957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sample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73736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Tokopedia 2022–23  ·  Blibli 2021–25  ·  Bukalapak 2020–23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098280" y="173736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platform-years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comparisons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1091672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3558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13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scale only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15468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2021–23  ·  Shopee 2022–24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315468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fixed by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figures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1091672" cy="1234440"/>
          </a:xfrm>
          <a:prstGeom prst="rect">
            <a:avLst/>
          </a:prstGeom>
          <a:solidFill>
            <a:srgbClr val="F7EEDD"/>
          </a:solidFill>
          <a:ln w="12700">
            <a:solidFill>
              <a:srgbClr val="F7EE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7731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indicators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2303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pooled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457200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 national e-commerce  ·  Bank Indonesia payments  ·  8 listed platforms outside Indonesia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45720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benchmark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Disclosing cases, not a representative sample. Lazada and TikTok Shop excluded: no matched Indonesian revenue series.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outgrew transactions in 6 of 8 comparisons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八次比較中有六次營收成長快於交易額</a:t>
            </a:r>
            <a:endParaRPr lang="en-US" sz="1400" dirty="0"/>
          </a:p>
        </p:txBody>
      </p:sp>
      <p:pic>
        <p:nvPicPr>
          <p:cNvPr id="5" name="Image 0" descr="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955280" cy="35310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15400" y="1783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faster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91540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reversals (◆)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4160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38.92 pp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891540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|D|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Blibli 2022–23: 5 of 7, median 15.74 pp. Every Ecosystem Ratio ends below where it began.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Issuer-reported main sample: 3 platforms, 8 annual comparisons, 2020–2025. Blibli includes online travel; Bukalapak reports at Group scope.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direction is common. The magnitude is not.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方向普遍，幅度不同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absolute divergence |g(R) − g(V)|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828800"/>
            <a:ext cx="3959352" cy="1783080"/>
          </a:xfrm>
          <a:prstGeom prst="rect">
            <a:avLst/>
          </a:prstGeom>
          <a:solidFill>
            <a:srgbClr val="E8EFF1"/>
          </a:solidFill>
          <a:ln w="12700">
            <a:solidFill>
              <a:srgbClr val="E8EF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common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23774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faster in 6 of 8 comparisons in Indonesia, and 22 of 29 abroad.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680960" y="3840480"/>
            <a:ext cx="3959352" cy="1783080"/>
          </a:xfrm>
          <a:prstGeom prst="rect">
            <a:avLst/>
          </a:prstGeom>
          <a:solidFill>
            <a:srgbClr val="F7EEDD"/>
          </a:solidFill>
          <a:ln w="12700">
            <a:solidFill>
              <a:srgbClr val="F7EE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Magnitude: not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43891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typical gap is about five times larger in Indonesia: 38.92 vs 7.1 points.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 eBay, Etsy, Jumia, Mercado Libre, Rakuten, Sea, Shopify, Zalando — 29 comparisons unaffected by acquisitions or scope changes, 2017–2025.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Nationally, growth happened outside the marketplace channel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全國電商成長主要發生在市集通路之外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value, 2023 → 2024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182880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A6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98.46%</a:t>
            </a:r>
            <a:endParaRPr lang="en-US" sz="56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788920"/>
            <a:ext cx="3959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2023–24 increase in e-commerce value fell outside BPS's marketplace channel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80960" y="3931920"/>
            <a:ext cx="3959352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393192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 classifies surveyed businesses' online sales by channel: marketplaces, social media, instant messaging, own website.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BPS-Statistics Indonesia. The marketplace channel is a survey classification, not a list of firms. Single annual transition.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came from new sellers, not bigger sellers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成長來自新進賣家，而非既有賣家擴張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20928" y="1783080"/>
            <a:ext cx="301752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0928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+17.08%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20928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value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038448" y="1783080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87088" y="1783080"/>
            <a:ext cx="3017520" cy="1325880"/>
          </a:xfrm>
          <a:prstGeom prst="rect">
            <a:avLst/>
          </a:prstGeom>
          <a:solidFill>
            <a:srgbClr val="E8EFF1"/>
          </a:solidFill>
          <a:ln w="12700">
            <a:solidFill>
              <a:srgbClr val="E8EF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7088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+15.31%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587088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businesses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604608" y="1783080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153248" y="1783080"/>
            <a:ext cx="301752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53248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+1.54%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153248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business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204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90.29%</a:t>
            </a:r>
            <a:endParaRPr lang="en-US" sz="5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34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increase came from more businesses selling online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463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70.95% under BPS's alternative 2023 business count — entry dominates either way.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0" y="3520440"/>
            <a:ext cx="5148072" cy="2331720"/>
          </a:xfrm>
          <a:prstGeom prst="rect">
            <a:avLst/>
          </a:prstGeom>
          <a:solidFill>
            <a:srgbClr val="F7EEDD"/>
          </a:solidFill>
          <a:ln w="12700">
            <a:solidFill>
              <a:srgbClr val="F7EE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3657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sellers keep better records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4114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28.63%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4754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marketplace users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7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12.25%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4754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non-users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5166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complete financial statements — an association, not a cause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split of BPS 2023–2024 e-commerce value (S = N × A). BPS publishes two 2023 business counts; both reported.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records are becoming tax infrastructure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市集紀錄正成為稅務行政基礎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89320" y="1691640"/>
            <a:ext cx="5650992" cy="3063240"/>
          </a:xfrm>
          <a:prstGeom prst="rect">
            <a:avLst/>
          </a:prstGeom>
          <a:solidFill>
            <a:srgbClr val="A63A2B">
              <a:alpha val="7000"/>
            </a:srgbClr>
          </a:solidFill>
          <a:ln w="12700">
            <a:solidFill>
              <a:srgbClr val="A63A2B">
                <a:alpha val="7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6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deferred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10698480" cy="0"/>
          </a:xfrm>
          <a:prstGeom prst="line">
            <a:avLst/>
          </a:prstGeom>
          <a:noFill/>
          <a:ln w="25400">
            <a:solidFill>
              <a:srgbClr val="7A7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3090672"/>
            <a:ext cx="310896" cy="310896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Jul 2025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8288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PMK 37/2025 issued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62072" y="3090672"/>
            <a:ext cx="310896" cy="310896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0312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Jul 2026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marketplaces designated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82312" y="3090672"/>
            <a:ext cx="310896" cy="310896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Aug 2026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begins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02552" y="3090672"/>
            <a:ext cx="310896" cy="310896"/>
          </a:xfrm>
          <a:prstGeom prst="ellipse">
            <a:avLst/>
          </a:prstGeom>
          <a:solidFill>
            <a:srgbClr val="A63A2B"/>
          </a:solidFill>
          <a:ln w="12700">
            <a:solidFill>
              <a:srgbClr val="A63A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Postponed; designations cancelled, amounts refunded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22792" y="3090672"/>
            <a:ext cx="310896" cy="310896"/>
          </a:xfrm>
          <a:prstGeom prst="ellipse">
            <a:avLst/>
          </a:prstGeom>
          <a:solidFill>
            <a:srgbClr val="C88A2E"/>
          </a:solidFill>
          <a:ln w="12700">
            <a:solidFill>
              <a:srgbClr val="C88A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 2026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Re-designation scheduled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543032" y="3090672"/>
            <a:ext cx="310896" cy="310896"/>
          </a:xfrm>
          <a:prstGeom prst="ellipse">
            <a:avLst/>
          </a:prstGeom>
          <a:solidFill>
            <a:srgbClr val="C88A2E"/>
          </a:solidFill>
          <a:ln w="12700">
            <a:solidFill>
              <a:srgbClr val="C88A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840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Nov 2026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78408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scheduled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937760"/>
            <a:ext cx="11091672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93776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administration is being routed through the marketplace record — while 98% of measured e-commerce growth sat outside the marketplace channel. Different categories; worth seeing side by side. Not a forecast.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PMK 37/2025: 0.5% of gross turnover withheld by designated marketplace operators. DJP: timing deferred, substance unchanged; further deferral not ruled out.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revenue growth look identical in the accounts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兩種營收成長在帳上看起來相同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377440"/>
          </a:xfrm>
          <a:prstGeom prst="rect">
            <a:avLst/>
          </a:prstGeom>
          <a:solidFill>
            <a:srgbClr val="E8EFF1"/>
          </a:solidFill>
          <a:ln w="12700">
            <a:solidFill>
              <a:srgbClr val="E8EF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more commerce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grow; revenue follows.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continue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5394960" cy="2377440"/>
          </a:xfrm>
          <a:prstGeom prst="rect">
            <a:avLst/>
          </a:prstGeom>
          <a:solidFill>
            <a:srgbClr val="F7EEDD"/>
          </a:solidFill>
          <a:ln w="12700">
            <a:solidFill>
              <a:srgbClr val="F7EE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9672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fewer incentives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331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grows while transactions stall or fall — Tokopedia 2022–23.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can stop discounting only once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434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revenue shows the same number for both. The finance question: is revenue a reliable signal of a platform's underlying growth?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91672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2578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extension (Prof. Kong's suggestion): which indicator, or revenue-growth component, is more informative for stock returns — exploratory, given a small, segment-affected listed sample.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CLAIMS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evidence does — and does not — establish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證據能說明與不能說明的範圍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by itself establish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3A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and transaction value move apart within platforms (W, E, 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 profit, taxable income, unpaid tax, or missing GDP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Disclosed components reconcile selected movements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causal effect of incentives, monetization or accounting choices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channels and platform records grow at very different rates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indicator, if any, contains measurement error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PMK 37/2025 draws on designated operators' records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coverage of the digital economy, or any compliance effect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46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record is correct for what it measures. The error appears only when one is used in place of another.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disclosure-selected evidence: 3 platforms, 11 platform-years, 8 comparisons.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to the final defence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邁向學位考試的工作規劃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9584" cy="3246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stage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0040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committee feedback. Finalize source definitions and figures.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29684" y="1783080"/>
            <a:ext cx="3529584" cy="3246120"/>
          </a:xfrm>
          <a:prstGeom prst="rect">
            <a:avLst/>
          </a:prstGeom>
          <a:solidFill>
            <a:srgbClr val="E8EFF1"/>
          </a:solidFill>
          <a:ln w="12700">
            <a:solidFill>
              <a:srgbClr val="E8EF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4004" y="2011680"/>
            <a:ext cx="502920" cy="502920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0400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04004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– Nov 2026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04004" y="320040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BPS and platform definitions. Split movements into volume and monetization effects. Alternative sample rules; robustness.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10728" y="1783080"/>
            <a:ext cx="3529584" cy="3246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5048" y="2011680"/>
            <a:ext cx="502920" cy="502920"/>
          </a:xfrm>
          <a:prstGeom prst="ellipse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8504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85048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final defence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85048" y="320040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manuscript. Decide and, if feasible, run the stock-return extension.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and framework are assembled; what remains is reconciliation, robustness and the manuscript.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554480"/>
            <a:ext cx="1033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company can look like it is growing or shrinking depending on which of its own numbers you read.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shows when that happens, why, and that it also appears in the national statistics — as Indonesia begins building tax collection on the more visible record.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5120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 謝謝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651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566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· construction · ratio paths · BPS levels · payments · hypotheses · Tokopedia bridge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 scale: a large level gap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188720"/>
                <a:gridCol w="1280160"/>
                <a:gridCol w="1280160"/>
                <a:gridCol w="37764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(US$ bn)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Grab Indonesia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7.895×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value constructed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Tokopedia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39.296×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Issuer-reported pair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Shopee Indonesia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9.000×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value and revenue estimated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platforms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43.233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12.671×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three cases, not national 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60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2.9% of Indonesia's 2023 nominal GDP (US$1.371 trillion) — magnitude only; the wedge is transaction value, not value added.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 rate varied 9–11% → W between US$39.86B and US$40.29B. Excluding any one platform leaves at least US$20.70B.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Rupiah converted at the World Bank 2023 rate, 15,236.88 IDR per US$.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Shopee is 9.000× and Grab 7.9×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468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45352" y="1463040"/>
            <a:ext cx="5394960" cy="2468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 Indonesia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value: third-party estimate (Momentum Works). Revenue: that estimate × Sea's company-wide monetization rate (assumed 10%). So E = 1/0.10 − 1 = 9.000 by construction.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Indonesia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1488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Indonesian revenue is disclosed; transaction value = Indonesian revenue × Group GTV / Group revenue. So Grab's Indonesian E equals its Group E (7.9×).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contribute 2023 levels only — no independent evidence on the ratio or its movement. The time-series result uses issuer-reported pairs alone.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 ratio over time (issuer-reported, log scale)</a:t>
            </a:r>
            <a:endParaRPr lang="en-US" sz="2800" dirty="0"/>
          </a:p>
        </p:txBody>
      </p:sp>
      <p:pic>
        <p:nvPicPr>
          <p:cNvPr id="4" name="Image 0" descr="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325880"/>
            <a:ext cx="8138160" cy="424268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without a matched pair omitted (Tokopedia 2021; Bukalapak 2024: nine months of transactions vs twelve of revenue).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BPS levels are not like-for-like with platform figures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6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Rp200.68T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 2023 marketplace component ≈ US$13.2B (18.2% of e-commerce, exclusive channel split)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554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US$37.9B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377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Tokopedia reported GTV + external Shopee GMV estimate, 2023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definitions and channel attribution — the study reconciles them before attributing any gap to coverage.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 multiple-response measure (social media 44.04%, marketplaces 32.74% of value) is not comparable with the 18.2% exclusive split.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BPS-Statistics Indonesia, Statistik E-Commerce 2023.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measures grew far faster than e-commerce value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1091672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2023–2024. Context only: payment values reflect adoption and substitution between payment methods, not sales (Bank Indonesia).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and principal tests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533095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 Within platforms, transaction value and revenue do not grow in proportion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and E for issuer-reported pairs: level, stability, sign reversals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 National e-commerce growth comes mainly from more businesses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BPS value split into business count and sales per business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  Marketplace participation is associated with stronger recordkeeping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BPS comparison of marketplace and non-marketplace sellers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  Conclusions about growth change with the indicator used (central claim)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vs transaction value within platforms; marketplace channel vs all e-commerce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tests is interpreted as a causal claim.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Tokopedia revenue bridge, 2022–2023 (Rp trillion)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94560"/>
                <a:gridCol w="2194560"/>
                <a:gridCol w="24963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gross revenue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4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+0.85  (39.4%)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incentives (deducted)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−2.81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8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+1.30  (60.6%)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net revenue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+2.14  (+53.2%)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023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change = gross revenue change + reduction in incentives. Incentives fell by about a third while transaction value fell 8.9%.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362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 annual report 2023, Note 29 (segment operations). Arithmetic reconciliation only.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1091672" y="6236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Invisible Ledger — Proposal Oral</dc:title>
  <dc:subject>PptxGenJS Presentation</dc:subject>
  <dc:creator>PptxGenJS</dc:creator>
  <cp:lastModifiedBy>PptxGenJS</cp:lastModifiedBy>
  <cp:revision>1</cp:revision>
  <dcterms:created xsi:type="dcterms:W3CDTF">2026-09-24T17:25:50Z</dcterms:created>
  <dcterms:modified xsi:type="dcterms:W3CDTF">2026-09-24T17:25:50Z</dcterms:modified>
</cp:coreProperties>
</file>
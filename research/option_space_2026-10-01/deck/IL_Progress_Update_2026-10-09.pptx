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f0d95b-1368-4a38-957b-1f0e537ad884}">
          <p14:sldIdLst>
            <p14:sldId id="256"/>
            <p14:sldId id="257"/>
            <p14:sldId id="258"/>
          </p14:sldIdLst>
        </p14:section>
        <p14:section name="How it reads" id="{1f5f2c2a-6a11-9a94-1285-7bbb2bf213ad}">
          <p14:sldIdLst>
            <p14:sldId id="259"/>
            <p14:sldId id="260"/>
          </p14:sldIdLst>
        </p14:section>
        <p14:section name="Platforms" id="{08178618-5cca-4655-0980-9000eacd5993}">
          <p14:sldIdLst>
            <p14:sldId id="261"/>
          </p14:sldIdLst>
        </p14:section>
        <p14:section name="2023" id="{d61c68cd-2bcb-4f4a-6fe2-bad108ef004f}">
          <p14:sldIdLst>
            <p14:sldId id="262"/>
          </p14:sldIdLst>
        </p14:section>
        <p14:section name="Sellers" id="{e97690c9-bb15-f8b3-42c1-fd69e4d79f35}">
          <p14:sldIdLst>
            <p14:sldId id="263"/>
            <p14:sldId id="264"/>
            <p14:sldId id="265"/>
          </p14:sldIdLst>
        </p14:section>
        <p14:section name="Why it matters" id="{e9003f71-370b-8092-18b6-8ef0aff26bdf}">
          <p14:sldIdLst>
            <p14:sldId id="266"/>
          </p14:sldIdLst>
        </p14:section>
        <p14:section name="Answers" id="{4b9859d4-a02e-2cbe-6243-03007b3595b6}">
          <p14:sldIdLst>
            <p14:sldId id="267"/>
            <p14:sldId id="268"/>
          </p14:sldIdLst>
        </p14:section>
        <p14:section name="Next" id="{a3aee36f-6665-7502-3893-2361704a2be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update for the advisor. Same thesis as the proposal: same title, question, hypotheses and measures. This deck shows what came back from the work promised at the oral, and what it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Stayed: nothing the committee approved has moved. Added: the data and tests promised at the oral. Changed: what the results mean, including two places where the meaning shifted from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golden pitch, frozen on 8 October. Everything else in the deck backs one of its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parts are the reading order; the chapters stay the proposal's. The wedge and H1 are the foundation, the 2023 seller count is the centre, the rules and other countries are the way back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quarterly test failed and is reported. The market test answers only half its question. The entry test was not promised by name, but it tests the oral deck's own caveat on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Thomas's question on the wedge. Growth divergence equals the change in the share kept divided by the share kept, so the size of the wedge next to revenue sets how far a price change moves revenue growth. Exploratory check, h1_points_vs_log.py. It also corrects our own earlier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bars are the headlines; teal bars are what buying and sellers show. Bank Indonesia and BPS disagree only outside the marketplaces: BPS's own marketplace slice barely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entry test was written down on 2 October and committed before the survey files were opened on 7 October. It closes the caveat on the oral deck's H2 slide: 'an arithmetic decomposition, not entry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the surveys do not follow individual businesses, so each group's 2023 count is compared with its 2022 count, net of that group's normal yearly change from the 2020-22 surveys. The raw tilt to men disappears under this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alternative to wider survey reach is sellers who paused in 2022 and came back. Three answers: the month pattern, the timing, and who closes and restarts small firms. January restarts cannot be ruled out; the claim stays 'the likeliest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causal claims about any rule: reach is measured, effects are not. The same design is spreading: OECD model rules (2020, goods 2021), EU DAC7 (2023), Philippines withholding (2024), Viet Nam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Thomas's wedge question is answered by the thin-slice result. Kong's readability point is answered by the new voice and structure; the proposal averaged 25.6 words a sentence, the story draft 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found by our own checks and by the independent review. None changes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decision needed from the advisor: is the H2 framing acceptable, with the entry test presented as closing the proposal's own stated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L-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L-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L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822960"/>
          </a:xfrm>
          <a:prstGeom prst="rect">
            <a:avLst/>
          </a:prstGeom>
          <a:noFill/>
          <a:ln/>
        </p:spPr>
        <p:txBody>
          <a:bodyPr wrap="square" rtlCol="0"/>
          <a:lstStyle>
            <a:lvl1pPr algn="ctr" indent="0" marL="0">
              <a:buNone/>
              <a:defRPr lang="en-US" sz="4000" b="1" dirty="0">
                <a:solidFill>
                  <a:srgbClr val="1A1A1A"/>
                </a:solidFill>
                <a:latin typeface="Montserrat" pitchFamily="34" charset="0"/>
                <a:ea typeface="Montserrat" pitchFamily="34" charset="-122"/>
                <a:cs typeface="Montserrat" pitchFamily="34" charset="-120"/>
              </a:defRPr>
            </a:lvl1pPr>
          </a:lstStyle>
          <a:p>
            <a:pPr algn="ctr"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L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384048"/>
            <a:ext cx="347472" cy="45720"/>
          </a:xfrm>
          <a:prstGeom prst="rect">
            <a:avLst/>
          </a:prstGeom>
          <a:solidFill>
            <a:srgbClr val="1A1A1A"/>
          </a:solidFill>
          <a:ln/>
        </p:spPr>
      </p:sp>
      <p:sp>
        <p:nvSpPr>
          <p:cNvPr id="3" name="Text 1"/>
          <p:cNvSpPr/>
          <p:nvPr>
            <p:ph idx="101" type="title" hasCustomPrompt="1"/>
          </p:nvPr>
        </p:nvSpPr>
        <p:spPr>
          <a:xfrm>
            <a:off x="548640" y="457200"/>
            <a:ext cx="11064240" cy="566928"/>
          </a:xfrm>
          <a:prstGeom prst="rect">
            <a:avLst/>
          </a:prstGeom>
          <a:noFill/>
          <a:ln/>
        </p:spPr>
        <p:txBody>
          <a:bodyPr wrap="square" rtlCol="0"/>
          <a:lstStyle>
            <a:lvl1pPr algn="l" indent="0" marL="0">
              <a:buNone/>
              <a:defRPr lang="en-US" sz="2600" b="1" dirty="0">
                <a:solidFill>
                  <a:srgbClr val="1A1A1A"/>
                </a:solidFill>
                <a:latin typeface="Montserrat" pitchFamily="34" charset="0"/>
                <a:ea typeface="Montserrat" pitchFamily="34" charset="-122"/>
                <a:cs typeface="Montserrat" pitchFamily="34" charset="-120"/>
              </a:defRPr>
            </a:lvl1pPr>
          </a:lstStyle>
          <a:p>
            <a:pPr algn="l" indent="0" marL="0">
              <a:buNone/>
            </a:pPr>
            <a:endParaRPr lang="en-US" sz="2600" dirty="0"/>
          </a:p>
        </p:txBody>
      </p:sp>
      <p:sp>
        <p:nvSpPr>
          <p:cNvPr id="4" name="Text 1"/>
          <p:cNvSpPr/>
          <p:nvPr>
            <p:ph idx="102" type="body" hasCustomPrompt="1"/>
          </p:nvPr>
        </p:nvSpPr>
        <p:spPr>
          <a:xfrm>
            <a:off x="548640" y="1024128"/>
            <a:ext cx="11064240" cy="411480"/>
          </a:xfrm>
          <a:prstGeom prst="rect">
            <a:avLst/>
          </a:prstGeom>
          <a:noFill/>
          <a:ln/>
        </p:spPr>
        <p:txBody>
          <a:bodyPr wrap="square" rtlCol="0"/>
          <a:lstStyle>
            <a:lvl1pPr indent="0" marL="0">
              <a:buNone/>
              <a:defRPr lang="en-US" sz="1500" i="1" dirty="0">
                <a:solidFill>
                  <a:srgbClr val="3A3834"/>
                </a:solidFill>
                <a:latin typeface="Calibri" pitchFamily="34" charset="0"/>
                <a:ea typeface="Calibri" pitchFamily="34" charset="-122"/>
                <a:cs typeface="Calibri" pitchFamily="34" charset="-120"/>
              </a:defRPr>
            </a:lvl1pPr>
          </a:lstStyle>
          <a:p>
            <a:pPr indent="0" marL="0">
              <a:buNone/>
            </a:pPr>
            <a:endParaRPr lang="en-US" sz="1500" dirty="0"/>
          </a:p>
        </p:txBody>
      </p:sp>
      <p:sp>
        <p:nvSpPr>
          <p:cNvPr id="5" name="Text 1"/>
          <p:cNvSpPr/>
          <p:nvPr/>
        </p:nvSpPr>
        <p:spPr>
          <a:xfrm>
            <a:off x="548640" y="6446520"/>
            <a:ext cx="7315200" cy="228600"/>
          </a:xfrm>
          <a:prstGeom prst="rect">
            <a:avLst/>
          </a:prstGeom>
          <a:noFill/>
          <a:ln/>
        </p:spPr>
        <p:txBody>
          <a:bodyPr wrap="square" lIns="0" tIns="0" rIns="0" bIns="0" rtlCol="0" anchor="ctr"/>
          <a:lstStyle/>
          <a:p>
            <a:pPr indent="0" marL="0">
              <a:buNone/>
            </a:pPr>
            <a:r>
              <a:rPr lang="en-US" sz="900" spc="100" kern="0" dirty="0">
                <a:solidFill>
                  <a:srgbClr val="8A8782"/>
                </a:solidFill>
                <a:latin typeface="Calibri" pitchFamily="34" charset="0"/>
                <a:ea typeface="Calibri" pitchFamily="34" charset="-122"/>
                <a:cs typeface="Calibri" pitchFamily="34" charset="-120"/>
              </a:rPr>
              <a:t>THE INVISIBLE LEDGER   ·   PROGRESS SINCE THE PROPOSAL ORAL</a:t>
            </a:r>
            <a:endParaRPr lang="en-US" sz="9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822960"/>
          </a:xfrm>
          <a:prstGeom prst="rect">
            <a:avLst/>
          </a:prstGeom>
          <a:noFill/>
          <a:ln/>
        </p:spPr>
        <p:txBody>
          <a:bodyPr wrap="square" lIns="0" tIns="0" rIns="0" bIns="0" rtlCol="0" anchor="ctr"/>
          <a:lstStyle/>
          <a:p>
            <a:pPr algn="ctr" indent="0" marL="0">
              <a:buNone/>
            </a:pPr>
            <a:r>
              <a:rPr lang="en-US" sz="4000" b="1" dirty="0">
                <a:solidFill>
                  <a:srgbClr val="1A1A1A"/>
                </a:solidFill>
                <a:latin typeface="Montserrat" pitchFamily="34" charset="0"/>
                <a:ea typeface="Montserrat" pitchFamily="34" charset="-122"/>
                <a:cs typeface="Montserrat" pitchFamily="34" charset="-120"/>
              </a:rPr>
              <a:t>The Invisible Ledger</a:t>
            </a:r>
            <a:endParaRPr lang="en-US" sz="4000" dirty="0"/>
          </a:p>
        </p:txBody>
      </p:sp>
      <p:sp>
        <p:nvSpPr>
          <p:cNvPr id="3" name="Text 1"/>
          <p:cNvSpPr txBox="1"/>
          <p:nvPr/>
        </p:nvSpPr>
        <p:spPr>
          <a:xfrm>
            <a:off x="731520" y="2697480"/>
            <a:ext cx="10698480" cy="411480"/>
          </a:xfrm>
          <a:prstGeom prst="rect">
            <a:avLst/>
          </a:prstGeom>
          <a:noFill/>
          <a:ln/>
        </p:spPr>
        <p:txBody>
          <a:bodyPr wrap="square" lIns="0" tIns="0" rIns="0" bIns="0" rtlCol="0" anchor="t"/>
          <a:lstStyle/>
          <a:p>
            <a:pPr algn="ctr" indent="0" marL="0">
              <a:spcAft>
                <a:spcPts val="600"/>
              </a:spcAft>
              <a:buNone/>
            </a:pPr>
            <a:r>
              <a:rPr lang="en-US" sz="2000" dirty="0">
                <a:solidFill>
                  <a:srgbClr val="3A3834"/>
                </a:solidFill>
                <a:latin typeface="Calibri" pitchFamily="34" charset="0"/>
                <a:ea typeface="Calibri" pitchFamily="34" charset="-122"/>
                <a:cs typeface="Calibri" pitchFamily="34" charset="-120"/>
              </a:rPr>
              <a:t>Quantifying the Invisible Wedge in Indonesia's Platform Economy</a:t>
            </a:r>
            <a:endParaRPr lang="en-US" sz="2000" dirty="0"/>
          </a:p>
        </p:txBody>
      </p:sp>
      <p:sp>
        <p:nvSpPr>
          <p:cNvPr id="4" name="Text 2"/>
          <p:cNvSpPr txBox="1"/>
          <p:nvPr/>
        </p:nvSpPr>
        <p:spPr>
          <a:xfrm>
            <a:off x="731520" y="3127248"/>
            <a:ext cx="10698480" cy="320040"/>
          </a:xfrm>
          <a:prstGeom prst="rect">
            <a:avLst/>
          </a:prstGeom>
          <a:noFill/>
          <a:ln/>
        </p:spPr>
        <p:txBody>
          <a:bodyPr wrap="square" lIns="0" tIns="0" rIns="0" bIns="0" rtlCol="0" anchor="t"/>
          <a:lstStyle/>
          <a:p>
            <a:pPr algn="ctr" indent="0" marL="0">
              <a:spcAft>
                <a:spcPts val="600"/>
              </a:spcAft>
              <a:buNone/>
            </a:pPr>
            <a:r>
              <a:rPr lang="en-US" sz="1400" dirty="0">
                <a:solidFill>
                  <a:srgbClr val="5F5C57"/>
                </a:solidFill>
                <a:latin typeface="Calibri" pitchFamily="34" charset="0"/>
                <a:ea typeface="Calibri" pitchFamily="34" charset="-122"/>
                <a:cs typeface="Calibri" pitchFamily="34" charset="-120"/>
              </a:rPr>
              <a:t>隱形帳簿：量化印尼平台經濟中的隱形缺口</a:t>
            </a:r>
            <a:endParaRPr lang="en-US" sz="1400" dirty="0"/>
          </a:p>
        </p:txBody>
      </p:sp>
      <p:sp>
        <p:nvSpPr>
          <p:cNvPr id="5" name="Text 3"/>
          <p:cNvSpPr txBox="1"/>
          <p:nvPr/>
        </p:nvSpPr>
        <p:spPr>
          <a:xfrm>
            <a:off x="731520" y="3840480"/>
            <a:ext cx="10698480" cy="365760"/>
          </a:xfrm>
          <a:prstGeom prst="rect">
            <a:avLst/>
          </a:prstGeom>
          <a:noFill/>
          <a:ln/>
        </p:spPr>
        <p:txBody>
          <a:bodyPr wrap="square" lIns="0" tIns="0" rIns="0" bIns="0" rtlCol="0" anchor="t"/>
          <a:lstStyle/>
          <a:p>
            <a:pPr algn="ctr" indent="0" marL="0">
              <a:spcAft>
                <a:spcPts val="600"/>
              </a:spcAft>
              <a:buNone/>
            </a:pPr>
            <a:r>
              <a:rPr lang="en-US" sz="1800" b="1" dirty="0">
                <a:solidFill>
                  <a:srgbClr val="1F4E5F"/>
                </a:solidFill>
                <a:latin typeface="Calibri" pitchFamily="34" charset="0"/>
                <a:ea typeface="Calibri" pitchFamily="34" charset="-122"/>
                <a:cs typeface="Calibri" pitchFamily="34" charset="-120"/>
              </a:rPr>
              <a:t>Progress update: what has changed since the proposal oral of 1 October</a:t>
            </a:r>
            <a:endParaRPr lang="en-US" sz="1800" dirty="0"/>
          </a:p>
        </p:txBody>
      </p:sp>
      <p:sp>
        <p:nvSpPr>
          <p:cNvPr id="6" name="Text 4"/>
          <p:cNvSpPr txBox="1"/>
          <p:nvPr/>
        </p:nvSpPr>
        <p:spPr>
          <a:xfrm>
            <a:off x="731520" y="4617720"/>
            <a:ext cx="10698480" cy="274320"/>
          </a:xfrm>
          <a:prstGeom prst="rect">
            <a:avLst/>
          </a:prstGeom>
          <a:noFill/>
          <a:ln/>
        </p:spPr>
        <p:txBody>
          <a:bodyPr wrap="square" lIns="0" tIns="0" rIns="0" bIns="0" rtlCol="0" anchor="t"/>
          <a:lstStyle/>
          <a:p>
            <a:pPr algn="ctr" indent="0" marL="0">
              <a:spcAft>
                <a:spcPts val="600"/>
              </a:spcAft>
              <a:buNone/>
            </a:pPr>
            <a:r>
              <a:rPr lang="en-US" sz="1200" spc="100" kern="0" dirty="0">
                <a:solidFill>
                  <a:srgbClr val="3A3834"/>
                </a:solidFill>
                <a:latin typeface="Calibri" pitchFamily="34" charset="0"/>
                <a:ea typeface="Calibri" pitchFamily="34" charset="-122"/>
                <a:cs typeface="Calibri" pitchFamily="34" charset="-120"/>
              </a:rPr>
              <a:t>CHRISTOPHER ONGKO  王新福   ·   ADVISOR: PROF. DE-RONG KONG  孔德蓉</a:t>
            </a:r>
            <a:endParaRPr lang="en-US" sz="1200" dirty="0"/>
          </a:p>
        </p:txBody>
      </p:sp>
      <p:sp>
        <p:nvSpPr>
          <p:cNvPr id="7" name="Text 5"/>
          <p:cNvSpPr txBox="1"/>
          <p:nvPr/>
        </p:nvSpPr>
        <p:spPr>
          <a:xfrm>
            <a:off x="731520" y="4983480"/>
            <a:ext cx="10698480" cy="274320"/>
          </a:xfrm>
          <a:prstGeom prst="rect">
            <a:avLst/>
          </a:prstGeom>
          <a:noFill/>
          <a:ln/>
        </p:spPr>
        <p:txBody>
          <a:bodyPr wrap="square" lIns="0" tIns="0" rIns="0" bIns="0" rtlCol="0" anchor="t"/>
          <a:lstStyle/>
          <a:p>
            <a:pPr algn="ctr" indent="0" marL="0">
              <a:spcAft>
                <a:spcPts val="600"/>
              </a:spcAft>
              <a:buNone/>
            </a:pPr>
            <a:r>
              <a:rPr lang="en-US" sz="1000" spc="100" kern="0" dirty="0">
                <a:solidFill>
                  <a:srgbClr val="8A8782"/>
                </a:solidFill>
                <a:latin typeface="Calibri" pitchFamily="34" charset="0"/>
                <a:ea typeface="Calibri" pitchFamily="34" charset="-122"/>
                <a:cs typeface="Calibri" pitchFamily="34" charset="-120"/>
              </a:rPr>
              <a:t>MASTER OF SCIENCE IN FINANCE, YUAN ZE UNIVERSITY   ·   9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Since 1 October: what stayed, was added, changed</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“The question and hypotheses are the ones you approved. The answers are new.”</a:t>
            </a:r>
            <a:endParaRPr lang="en-US" sz="1500" dirty="0"/>
          </a:p>
        </p:txBody>
      </p:sp>
      <p:sp>
        <p:nvSpPr>
          <p:cNvPr id="5" name="col0"/>
          <p:cNvSpPr/>
          <p:nvPr/>
        </p:nvSpPr>
        <p:spPr>
          <a:xfrm>
            <a:off x="548640" y="1691640"/>
            <a:ext cx="3520440" cy="3291840"/>
          </a:xfrm>
          <a:prstGeom prst="roundRect">
            <a:avLst>
              <a:gd name="adj" fmla="val 2222"/>
            </a:avLst>
          </a:prstGeom>
          <a:solidFill>
            <a:srgbClr val="FAF9F6"/>
          </a:solidFill>
          <a:ln w="9525">
            <a:solidFill>
              <a:srgbClr val="D9D5CD"/>
            </a:solidFill>
            <a:prstDash val="solid"/>
          </a:ln>
        </p:spPr>
      </p:sp>
      <p:sp>
        <p:nvSpPr>
          <p:cNvPr id="6" name="Text 3"/>
          <p:cNvSpPr txBox="1"/>
          <p:nvPr/>
        </p:nvSpPr>
        <p:spPr>
          <a:xfrm>
            <a:off x="822960" y="1920240"/>
            <a:ext cx="30175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STAYED</a:t>
            </a:r>
            <a:endParaRPr lang="en-US" sz="1100" dirty="0"/>
          </a:p>
        </p:txBody>
      </p:sp>
      <p:sp>
        <p:nvSpPr>
          <p:cNvPr id="7" name="Text 4"/>
          <p:cNvSpPr txBox="1"/>
          <p:nvPr/>
        </p:nvSpPr>
        <p:spPr>
          <a:xfrm>
            <a:off x="822960" y="2331720"/>
            <a:ext cx="3017520" cy="2560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title, the research question, H1 and H2, word for word</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measures: the invisible wedge, the ecosystem ratio, growth divergence</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Tanah Abang opening and the three users of the numbers</a:t>
            </a:r>
            <a:endParaRPr lang="en-US" sz="1400" dirty="0"/>
          </a:p>
        </p:txBody>
      </p:sp>
      <p:sp>
        <p:nvSpPr>
          <p:cNvPr id="8" name="col1"/>
          <p:cNvSpPr/>
          <p:nvPr/>
        </p:nvSpPr>
        <p:spPr>
          <a:xfrm>
            <a:off x="4297680" y="1691640"/>
            <a:ext cx="3520440" cy="3291840"/>
          </a:xfrm>
          <a:prstGeom prst="roundRect">
            <a:avLst>
              <a:gd name="adj" fmla="val 2222"/>
            </a:avLst>
          </a:prstGeom>
          <a:solidFill>
            <a:srgbClr val="FAF9F6"/>
          </a:solidFill>
          <a:ln w="9525">
            <a:solidFill>
              <a:srgbClr val="D9D5CD"/>
            </a:solidFill>
            <a:prstDash val="solid"/>
          </a:ln>
        </p:spPr>
      </p:sp>
      <p:sp>
        <p:nvSpPr>
          <p:cNvPr id="9" name="Text 6"/>
          <p:cNvSpPr txBox="1"/>
          <p:nvPr/>
        </p:nvSpPr>
        <p:spPr>
          <a:xfrm>
            <a:off x="4572000" y="1920240"/>
            <a:ext cx="30175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ADDED</a:t>
            </a:r>
            <a:endParaRPr lang="en-US" sz="1100" dirty="0"/>
          </a:p>
        </p:txBody>
      </p:sp>
      <p:sp>
        <p:nvSpPr>
          <p:cNvPr id="10" name="Text 7"/>
          <p:cNvSpPr txBox="1"/>
          <p:nvPr/>
        </p:nvSpPr>
        <p:spPr>
          <a:xfrm>
            <a:off x="4572000" y="2331720"/>
            <a:ext cx="3017520" cy="2560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BPS's own survey answers, three rounds (bought through SILASTIK)</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27 foreign platforms in the comparison, up from 8</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A market-value test, and tests written down before the data were opened</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Primary texts of the 2023-26 rules</a:t>
            </a:r>
            <a:endParaRPr lang="en-US" sz="1400" dirty="0"/>
          </a:p>
        </p:txBody>
      </p:sp>
      <p:sp>
        <p:nvSpPr>
          <p:cNvPr id="11" name="col2"/>
          <p:cNvSpPr/>
          <p:nvPr/>
        </p:nvSpPr>
        <p:spPr>
          <a:xfrm>
            <a:off x="8046720" y="1691640"/>
            <a:ext cx="3520440" cy="3291840"/>
          </a:xfrm>
          <a:prstGeom prst="roundRect">
            <a:avLst>
              <a:gd name="adj" fmla="val 2222"/>
            </a:avLst>
          </a:prstGeom>
          <a:solidFill>
            <a:srgbClr val="FAF9F6"/>
          </a:solidFill>
          <a:ln w="9525">
            <a:solidFill>
              <a:srgbClr val="D9D5CD"/>
            </a:solidFill>
            <a:prstDash val="solid"/>
          </a:ln>
        </p:spPr>
      </p:sp>
      <p:sp>
        <p:nvSpPr>
          <p:cNvPr id="12" name="Text 9"/>
          <p:cNvSpPr txBox="1"/>
          <p:nvPr/>
        </p:nvSpPr>
        <p:spPr>
          <a:xfrm>
            <a:off x="8321040" y="1920240"/>
            <a:ext cx="30175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A33A2C"/>
                </a:solidFill>
                <a:latin typeface="Calibri" pitchFamily="34" charset="0"/>
                <a:ea typeface="Calibri" pitchFamily="34" charset="-122"/>
                <a:cs typeface="Calibri" pitchFamily="34" charset="-120"/>
              </a:rPr>
              <a:t>CHANGED</a:t>
            </a:r>
            <a:endParaRPr lang="en-US" sz="1100" dirty="0"/>
          </a:p>
        </p:txBody>
      </p:sp>
      <p:sp>
        <p:nvSpPr>
          <p:cNvPr id="13" name="Text 10"/>
          <p:cNvSpPr txBox="1"/>
          <p:nvPr/>
        </p:nvSpPr>
        <p:spPr>
          <a:xfrm>
            <a:off x="8321040" y="2331720"/>
            <a:ext cx="3017520" cy="2560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thesis now answers the oral deck's own question</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wedge has a job: it explains why revenue swings</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H2's meaning: about half the 2023 rise in sellers was not new</a:t>
            </a:r>
            <a:endParaRPr lang="en-US" sz="1400" dirty="0"/>
          </a:p>
          <a:p>
            <a:pPr marL="177800" indent="-177800">
              <a:spcAft>
                <a:spcPts val="1000"/>
              </a:spcAft>
              <a:buSzPct val="100000"/>
              <a:buChar char="•"/>
            </a:pPr>
            <a:r>
              <a:rPr lang="en-US" sz="1400" dirty="0">
                <a:solidFill>
                  <a:srgbClr val="3A3834"/>
                </a:solidFill>
                <a:latin typeface="Calibri" pitchFamily="34" charset="0"/>
                <a:ea typeface="Calibri" pitchFamily="34" charset="-122"/>
                <a:cs typeface="Calibri" pitchFamily="34" charset="-120"/>
              </a:rPr>
              <a:t>The market test came back only partly</a:t>
            </a:r>
            <a:endParaRPr lang="en-US" sz="1400" dirty="0"/>
          </a:p>
        </p:txBody>
      </p:sp>
      <p:sp>
        <p:nvSpPr>
          <p:cNvPr id="14" name="Text 11"/>
          <p:cNvSpPr txBox="1"/>
          <p:nvPr/>
        </p:nvSpPr>
        <p:spPr>
          <a:xfrm>
            <a:off x="548640" y="5257800"/>
            <a:ext cx="11064240" cy="411480"/>
          </a:xfrm>
          <a:prstGeom prst="rect">
            <a:avLst/>
          </a:prstGeom>
          <a:noFill/>
          <a:ln/>
        </p:spPr>
        <p:txBody>
          <a:bodyPr wrap="square" lIns="0" tIns="0" rIns="0" bIns="0" rtlCol="0" anchor="t"/>
          <a:lstStyle/>
          <a:p>
            <a:pPr indent="0" marL="0">
              <a:spcAft>
                <a:spcPts val="600"/>
              </a:spcAft>
              <a:buNone/>
            </a:pPr>
            <a:r>
              <a:rPr lang="en-US" sz="1600" i="1" dirty="0">
                <a:solidFill>
                  <a:srgbClr val="1F4E5F"/>
                </a:solidFill>
                <a:latin typeface="Calibri" pitchFamily="34" charset="0"/>
                <a:ea typeface="Calibri" pitchFamily="34" charset="-122"/>
                <a:cs typeface="Calibri" pitchFamily="34" charset="-120"/>
              </a:rPr>
              <a:t>Nothing the committee approved has moved. Everything promised at the oral has a result.</a:t>
            </a:r>
            <a:endParaRPr lang="en-US" sz="16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The oral deck's question, now answered</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“How much commerce had actually moved online? It depends on which number you read.”  (oral deck, slide 3)</a:t>
            </a:r>
            <a:endParaRPr lang="en-US" sz="1500" dirty="0"/>
          </a:p>
        </p:txBody>
      </p:sp>
      <p:sp>
        <p:nvSpPr>
          <p:cNvPr id="5" name="pitch"/>
          <p:cNvSpPr/>
          <p:nvPr/>
        </p:nvSpPr>
        <p:spPr>
          <a:xfrm>
            <a:off x="548640" y="1691640"/>
            <a:ext cx="11064240" cy="4160520"/>
          </a:xfrm>
          <a:prstGeom prst="roundRect">
            <a:avLst>
              <a:gd name="adj" fmla="val 1758"/>
            </a:avLst>
          </a:prstGeom>
          <a:solidFill>
            <a:srgbClr val="FAF9F6"/>
          </a:solidFill>
          <a:ln w="9525">
            <a:solidFill>
              <a:srgbClr val="D9D5CD"/>
            </a:solidFill>
            <a:prstDash val="solid"/>
          </a:ln>
        </p:spPr>
      </p:sp>
      <p:sp>
        <p:nvSpPr>
          <p:cNvPr id="6" name="Text 3"/>
          <p:cNvSpPr txBox="1"/>
          <p:nvPr/>
        </p:nvSpPr>
        <p:spPr>
          <a:xfrm>
            <a:off x="868680" y="1920240"/>
            <a:ext cx="731520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THE ANSWER, IN SIX SENTENCES</a:t>
            </a:r>
            <a:endParaRPr lang="en-US" sz="1100" dirty="0"/>
          </a:p>
        </p:txBody>
      </p:sp>
      <p:sp>
        <p:nvSpPr>
          <p:cNvPr id="7" name="Text 4"/>
          <p:cNvSpPr txBox="1"/>
          <p:nvPr/>
        </p:nvSpPr>
        <p:spPr>
          <a:xfrm>
            <a:off x="868680" y="2331720"/>
            <a:ext cx="10424160" cy="2743200"/>
          </a:xfrm>
          <a:prstGeom prst="rect">
            <a:avLst/>
          </a:prstGeom>
          <a:noFill/>
          <a:ln/>
        </p:spPr>
        <p:txBody>
          <a:bodyPr wrap="square" lIns="0" tIns="0" rIns="0" bIns="0" rtlCol="0" anchor="t"/>
          <a:lstStyle/>
          <a:p>
            <a:pPr indent="0" marL="0">
              <a:lnSpc>
                <a:spcPct val="115000"/>
              </a:lnSpc>
              <a:buNone/>
            </a:pPr>
            <a:r>
              <a:rPr lang="en-US" sz="1800" dirty="0">
                <a:solidFill>
                  <a:srgbClr val="1A1A1A"/>
                </a:solidFill>
                <a:latin typeface="Calibri" pitchFamily="34" charset="0"/>
                <a:ea typeface="Calibri" pitchFamily="34" charset="-122"/>
                <a:cs typeface="Calibri" pitchFamily="34" charset="-120"/>
              </a:rPr>
              <a:t>In 2023 Indonesia argued about whether online selling was growing so fast it was hurting market traders, and the government shut TikTok Shop. The official figures for that year later said online sales rose 41%. I looked inside the survey behind those figures. Most sellers said their sales were flat or down, and their main complaint was a lack of customers. About half the new sellers weren't new: they were older, long-running small businesses, selling through WhatsApp and social media, that were only counted that year. On the big platforms, revenue grew mostly because they charged more, not because people bought more.</a:t>
            </a:r>
            <a:endParaRPr lang="en-US" sz="1800" dirty="0"/>
          </a:p>
        </p:txBody>
      </p:sp>
      <p:sp>
        <p:nvSpPr>
          <p:cNvPr id="8" name="Text 5"/>
          <p:cNvSpPr txBox="1"/>
          <p:nvPr/>
        </p:nvSpPr>
        <p:spPr>
          <a:xfrm>
            <a:off x="868680" y="5166360"/>
            <a:ext cx="10424160" cy="54864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Short version: </a:t>
            </a:r>
            <a:pPr indent="0" marL="0">
              <a:spcAft>
                <a:spcPts val="600"/>
              </a:spcAft>
              <a:buNone/>
            </a:pPr>
            <a:r>
              <a:rPr lang="en-US" sz="1400" dirty="0">
                <a:solidFill>
                  <a:srgbClr val="3A3834"/>
                </a:solidFill>
                <a:latin typeface="Calibri" pitchFamily="34" charset="0"/>
                <a:ea typeface="Calibri" pitchFamily="34" charset="-122"/>
                <a:cs typeface="Calibri" pitchFamily="34" charset="-120"/>
              </a:rPr>
              <a:t>less commerce had moved online in 2023 than the numbers suggested. Platform income measured prices; the official seller count partly measured counting.</a:t>
            </a:r>
            <a:endParaRPr lang="en-US" sz="14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How the thesis now reads</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“Start where everyone is, prove it where the numbers break, end with what anyone can check.”</a:t>
            </a:r>
            <a:endParaRPr lang="en-US" sz="1500" dirty="0"/>
          </a:p>
        </p:txBody>
      </p:sp>
      <p:sp>
        <p:nvSpPr>
          <p:cNvPr id="5" name="arc0"/>
          <p:cNvSpPr/>
          <p:nvPr/>
        </p:nvSpPr>
        <p:spPr>
          <a:xfrm>
            <a:off x="548640" y="1965960"/>
            <a:ext cx="2066544" cy="2743200"/>
          </a:xfrm>
          <a:prstGeom prst="roundRect">
            <a:avLst>
              <a:gd name="adj" fmla="val 4425"/>
            </a:avLst>
          </a:prstGeom>
          <a:solidFill>
            <a:srgbClr val="FAF9F6"/>
          </a:solidFill>
          <a:ln w="9525">
            <a:solidFill>
              <a:srgbClr val="D9D5CD"/>
            </a:solidFill>
            <a:prstDash val="solid"/>
          </a:ln>
        </p:spPr>
      </p:sp>
      <p:sp>
        <p:nvSpPr>
          <p:cNvPr id="6" name="Text 3"/>
          <p:cNvSpPr txBox="1"/>
          <p:nvPr/>
        </p:nvSpPr>
        <p:spPr>
          <a:xfrm>
            <a:off x="548640" y="2834640"/>
            <a:ext cx="2066544" cy="365760"/>
          </a:xfrm>
          <a:prstGeom prst="rect">
            <a:avLst/>
          </a:prstGeom>
          <a:noFill/>
          <a:ln/>
        </p:spPr>
        <p:txBody>
          <a:bodyPr wrap="square" lIns="0" tIns="0" rIns="0" bIns="0" rtlCol="0" anchor="t"/>
          <a:lstStyle/>
          <a:p>
            <a:pPr algn="ctr" indent="0" marL="0">
              <a:spcAft>
                <a:spcPts val="600"/>
              </a:spcAft>
              <a:buNone/>
            </a:pPr>
            <a:r>
              <a:rPr lang="en-US" sz="2000" b="1" dirty="0">
                <a:solidFill>
                  <a:srgbClr val="1A1A1A"/>
                </a:solidFill>
                <a:latin typeface="Montserrat" pitchFamily="34" charset="0"/>
                <a:ea typeface="Montserrat" pitchFamily="34" charset="-122"/>
                <a:cs typeface="Montserrat" pitchFamily="34" charset="-120"/>
              </a:rPr>
              <a:t>A</a:t>
            </a:r>
            <a:endParaRPr lang="en-US" sz="2000" dirty="0"/>
          </a:p>
        </p:txBody>
      </p:sp>
      <p:sp>
        <p:nvSpPr>
          <p:cNvPr id="7" name="Text 4"/>
          <p:cNvSpPr txBox="1"/>
          <p:nvPr/>
        </p:nvSpPr>
        <p:spPr>
          <a:xfrm>
            <a:off x="658368" y="3264408"/>
            <a:ext cx="1847088" cy="320040"/>
          </a:xfrm>
          <a:prstGeom prst="rect">
            <a:avLst/>
          </a:prstGeom>
          <a:noFill/>
          <a:ln/>
        </p:spPr>
        <p:txBody>
          <a:bodyPr wrap="square" lIns="0" tIns="0" rIns="0" bIns="0" rtlCol="0" anchor="t"/>
          <a:lstStyle/>
          <a:p>
            <a:pPr algn="ctr" indent="0" marL="0">
              <a:spcAft>
                <a:spcPts val="600"/>
              </a:spcAft>
              <a:buNone/>
            </a:pPr>
            <a:r>
              <a:rPr lang="en-US" sz="1400" b="1" dirty="0">
                <a:solidFill>
                  <a:srgbClr val="1A1A1A"/>
                </a:solidFill>
                <a:latin typeface="Calibri" pitchFamily="34" charset="0"/>
                <a:ea typeface="Calibri" pitchFamily="34" charset="-122"/>
                <a:cs typeface="Calibri" pitchFamily="34" charset="-120"/>
              </a:rPr>
              <a:t>The problem everywhere</a:t>
            </a:r>
            <a:endParaRPr lang="en-US" sz="1400" dirty="0"/>
          </a:p>
        </p:txBody>
      </p:sp>
      <p:sp>
        <p:nvSpPr>
          <p:cNvPr id="8" name="arc1"/>
          <p:cNvSpPr/>
          <p:nvPr/>
        </p:nvSpPr>
        <p:spPr>
          <a:xfrm>
            <a:off x="2798064" y="2331720"/>
            <a:ext cx="2066544" cy="2011680"/>
          </a:xfrm>
          <a:prstGeom prst="roundRect">
            <a:avLst>
              <a:gd name="adj" fmla="val 4545"/>
            </a:avLst>
          </a:prstGeom>
          <a:solidFill>
            <a:srgbClr val="FAF9F6"/>
          </a:solidFill>
          <a:ln w="9525">
            <a:solidFill>
              <a:srgbClr val="D9D5CD"/>
            </a:solidFill>
            <a:prstDash val="solid"/>
          </a:ln>
        </p:spPr>
      </p:sp>
      <p:sp>
        <p:nvSpPr>
          <p:cNvPr id="9" name="Text 6"/>
          <p:cNvSpPr txBox="1"/>
          <p:nvPr/>
        </p:nvSpPr>
        <p:spPr>
          <a:xfrm>
            <a:off x="2798064" y="2834640"/>
            <a:ext cx="2066544" cy="365760"/>
          </a:xfrm>
          <a:prstGeom prst="rect">
            <a:avLst/>
          </a:prstGeom>
          <a:noFill/>
          <a:ln/>
        </p:spPr>
        <p:txBody>
          <a:bodyPr wrap="square" lIns="0" tIns="0" rIns="0" bIns="0" rtlCol="0" anchor="t"/>
          <a:lstStyle/>
          <a:p>
            <a:pPr algn="ctr" indent="0" marL="0">
              <a:spcAft>
                <a:spcPts val="600"/>
              </a:spcAft>
              <a:buNone/>
            </a:pPr>
            <a:r>
              <a:rPr lang="en-US" sz="2000" b="1" dirty="0">
                <a:solidFill>
                  <a:srgbClr val="1A1A1A"/>
                </a:solidFill>
                <a:latin typeface="Montserrat" pitchFamily="34" charset="0"/>
                <a:ea typeface="Montserrat" pitchFamily="34" charset="-122"/>
                <a:cs typeface="Montserrat" pitchFamily="34" charset="-120"/>
              </a:rPr>
              <a:t>A-B</a:t>
            </a:r>
            <a:endParaRPr lang="en-US" sz="2000" dirty="0"/>
          </a:p>
        </p:txBody>
      </p:sp>
      <p:sp>
        <p:nvSpPr>
          <p:cNvPr id="10" name="Text 7"/>
          <p:cNvSpPr txBox="1"/>
          <p:nvPr/>
        </p:nvSpPr>
        <p:spPr>
          <a:xfrm>
            <a:off x="2907792" y="3264408"/>
            <a:ext cx="1847088" cy="320040"/>
          </a:xfrm>
          <a:prstGeom prst="rect">
            <a:avLst/>
          </a:prstGeom>
          <a:noFill/>
          <a:ln/>
        </p:spPr>
        <p:txBody>
          <a:bodyPr wrap="square" lIns="0" tIns="0" rIns="0" bIns="0" rtlCol="0" anchor="t"/>
          <a:lstStyle/>
          <a:p>
            <a:pPr algn="ctr" indent="0" marL="0">
              <a:spcAft>
                <a:spcPts val="600"/>
              </a:spcAft>
              <a:buNone/>
            </a:pPr>
            <a:r>
              <a:rPr lang="en-US" sz="1400" b="1" dirty="0">
                <a:solidFill>
                  <a:srgbClr val="1A1A1A"/>
                </a:solidFill>
                <a:latin typeface="Calibri" pitchFamily="34" charset="0"/>
                <a:ea typeface="Calibri" pitchFamily="34" charset="-122"/>
                <a:cs typeface="Calibri" pitchFamily="34" charset="-120"/>
              </a:rPr>
              <a:t>Why Indonesia</a:t>
            </a:r>
            <a:endParaRPr lang="en-US" sz="1400" dirty="0"/>
          </a:p>
        </p:txBody>
      </p:sp>
      <p:sp>
        <p:nvSpPr>
          <p:cNvPr id="11" name="arc2"/>
          <p:cNvSpPr/>
          <p:nvPr/>
        </p:nvSpPr>
        <p:spPr>
          <a:xfrm>
            <a:off x="5047488" y="2606040"/>
            <a:ext cx="2066544" cy="1463040"/>
          </a:xfrm>
          <a:prstGeom prst="roundRect">
            <a:avLst>
              <a:gd name="adj" fmla="val 6250"/>
            </a:avLst>
          </a:prstGeom>
          <a:solidFill>
            <a:srgbClr val="E6EEF0"/>
          </a:solidFill>
          <a:ln w="15875">
            <a:solidFill>
              <a:srgbClr val="1F4E5F"/>
            </a:solidFill>
            <a:prstDash val="solid"/>
          </a:ln>
        </p:spPr>
      </p:sp>
      <p:sp>
        <p:nvSpPr>
          <p:cNvPr id="12" name="Text 9"/>
          <p:cNvSpPr txBox="1"/>
          <p:nvPr/>
        </p:nvSpPr>
        <p:spPr>
          <a:xfrm>
            <a:off x="5047488" y="2834640"/>
            <a:ext cx="2066544" cy="365760"/>
          </a:xfrm>
          <a:prstGeom prst="rect">
            <a:avLst/>
          </a:prstGeom>
          <a:noFill/>
          <a:ln/>
        </p:spPr>
        <p:txBody>
          <a:bodyPr wrap="square" lIns="0" tIns="0" rIns="0" bIns="0" rtlCol="0" anchor="t"/>
          <a:lstStyle/>
          <a:p>
            <a:pPr algn="ctr" indent="0" marL="0">
              <a:spcAft>
                <a:spcPts val="600"/>
              </a:spcAft>
              <a:buNone/>
            </a:pPr>
            <a:r>
              <a:rPr lang="en-US" sz="2000" b="1" dirty="0">
                <a:solidFill>
                  <a:srgbClr val="1F4E5F"/>
                </a:solidFill>
                <a:latin typeface="Montserrat" pitchFamily="34" charset="0"/>
                <a:ea typeface="Montserrat" pitchFamily="34" charset="-122"/>
                <a:cs typeface="Montserrat" pitchFamily="34" charset="-120"/>
              </a:rPr>
              <a:t>B</a:t>
            </a:r>
            <a:endParaRPr lang="en-US" sz="2000" dirty="0"/>
          </a:p>
        </p:txBody>
      </p:sp>
      <p:sp>
        <p:nvSpPr>
          <p:cNvPr id="13" name="Text 10"/>
          <p:cNvSpPr txBox="1"/>
          <p:nvPr/>
        </p:nvSpPr>
        <p:spPr>
          <a:xfrm>
            <a:off x="5157216" y="3264408"/>
            <a:ext cx="1847088" cy="320040"/>
          </a:xfrm>
          <a:prstGeom prst="rect">
            <a:avLst/>
          </a:prstGeom>
          <a:noFill/>
          <a:ln/>
        </p:spPr>
        <p:txBody>
          <a:bodyPr wrap="square" lIns="0" tIns="0" rIns="0" bIns="0" rtlCol="0" anchor="t"/>
          <a:lstStyle/>
          <a:p>
            <a:pPr algn="ctr" indent="0" marL="0">
              <a:spcAft>
                <a:spcPts val="600"/>
              </a:spcAft>
              <a:buNone/>
            </a:pPr>
            <a:r>
              <a:rPr lang="en-US" sz="1400" b="1" dirty="0">
                <a:solidFill>
                  <a:srgbClr val="1A1A1A"/>
                </a:solidFill>
                <a:latin typeface="Calibri" pitchFamily="34" charset="0"/>
                <a:ea typeface="Calibri" pitchFamily="34" charset="-122"/>
                <a:cs typeface="Calibri" pitchFamily="34" charset="-120"/>
              </a:rPr>
              <a:t>The evidence</a:t>
            </a:r>
            <a:endParaRPr lang="en-US" sz="1400" dirty="0"/>
          </a:p>
        </p:txBody>
      </p:sp>
      <p:sp>
        <p:nvSpPr>
          <p:cNvPr id="14" name="arc3"/>
          <p:cNvSpPr/>
          <p:nvPr/>
        </p:nvSpPr>
        <p:spPr>
          <a:xfrm>
            <a:off x="7296912" y="2331720"/>
            <a:ext cx="2066544" cy="2011680"/>
          </a:xfrm>
          <a:prstGeom prst="roundRect">
            <a:avLst>
              <a:gd name="adj" fmla="val 4545"/>
            </a:avLst>
          </a:prstGeom>
          <a:solidFill>
            <a:srgbClr val="FAF9F6"/>
          </a:solidFill>
          <a:ln w="9525">
            <a:solidFill>
              <a:srgbClr val="D9D5CD"/>
            </a:solidFill>
            <a:prstDash val="solid"/>
          </a:ln>
        </p:spPr>
      </p:sp>
      <p:sp>
        <p:nvSpPr>
          <p:cNvPr id="15" name="Text 12"/>
          <p:cNvSpPr txBox="1"/>
          <p:nvPr/>
        </p:nvSpPr>
        <p:spPr>
          <a:xfrm>
            <a:off x="7296912" y="2834640"/>
            <a:ext cx="2066544" cy="365760"/>
          </a:xfrm>
          <a:prstGeom prst="rect">
            <a:avLst/>
          </a:prstGeom>
          <a:noFill/>
          <a:ln/>
        </p:spPr>
        <p:txBody>
          <a:bodyPr wrap="square" lIns="0" tIns="0" rIns="0" bIns="0" rtlCol="0" anchor="t"/>
          <a:lstStyle/>
          <a:p>
            <a:pPr algn="ctr" indent="0" marL="0">
              <a:spcAft>
                <a:spcPts val="600"/>
              </a:spcAft>
              <a:buNone/>
            </a:pPr>
            <a:r>
              <a:rPr lang="en-US" sz="2000" b="1" dirty="0">
                <a:solidFill>
                  <a:srgbClr val="1A1A1A"/>
                </a:solidFill>
                <a:latin typeface="Montserrat" pitchFamily="34" charset="0"/>
                <a:ea typeface="Montserrat" pitchFamily="34" charset="-122"/>
                <a:cs typeface="Montserrat" pitchFamily="34" charset="-120"/>
              </a:rPr>
              <a:t>B-C</a:t>
            </a:r>
            <a:endParaRPr lang="en-US" sz="2000" dirty="0"/>
          </a:p>
        </p:txBody>
      </p:sp>
      <p:sp>
        <p:nvSpPr>
          <p:cNvPr id="16" name="Text 13"/>
          <p:cNvSpPr txBox="1"/>
          <p:nvPr/>
        </p:nvSpPr>
        <p:spPr>
          <a:xfrm>
            <a:off x="7406640" y="3264408"/>
            <a:ext cx="1847088" cy="320040"/>
          </a:xfrm>
          <a:prstGeom prst="rect">
            <a:avLst/>
          </a:prstGeom>
          <a:noFill/>
          <a:ln/>
        </p:spPr>
        <p:txBody>
          <a:bodyPr wrap="square" lIns="0" tIns="0" rIns="0" bIns="0" rtlCol="0" anchor="t"/>
          <a:lstStyle/>
          <a:p>
            <a:pPr algn="ctr" indent="0" marL="0">
              <a:spcAft>
                <a:spcPts val="600"/>
              </a:spcAft>
              <a:buNone/>
            </a:pPr>
            <a:r>
              <a:rPr lang="en-US" sz="1400" b="1" dirty="0">
                <a:solidFill>
                  <a:srgbClr val="1A1A1A"/>
                </a:solidFill>
                <a:latin typeface="Calibri" pitchFamily="34" charset="0"/>
                <a:ea typeface="Calibri" pitchFamily="34" charset="-122"/>
                <a:cs typeface="Calibri" pitchFamily="34" charset="-120"/>
              </a:rPr>
              <a:t>What travels</a:t>
            </a:r>
            <a:endParaRPr lang="en-US" sz="1400" dirty="0"/>
          </a:p>
        </p:txBody>
      </p:sp>
      <p:sp>
        <p:nvSpPr>
          <p:cNvPr id="17" name="arc4"/>
          <p:cNvSpPr/>
          <p:nvPr/>
        </p:nvSpPr>
        <p:spPr>
          <a:xfrm>
            <a:off x="9546336" y="1965960"/>
            <a:ext cx="2066544" cy="2743200"/>
          </a:xfrm>
          <a:prstGeom prst="roundRect">
            <a:avLst>
              <a:gd name="adj" fmla="val 4425"/>
            </a:avLst>
          </a:prstGeom>
          <a:solidFill>
            <a:srgbClr val="FAF9F6"/>
          </a:solidFill>
          <a:ln w="9525">
            <a:solidFill>
              <a:srgbClr val="D9D5CD"/>
            </a:solidFill>
            <a:prstDash val="solid"/>
          </a:ln>
        </p:spPr>
      </p:sp>
      <p:sp>
        <p:nvSpPr>
          <p:cNvPr id="18" name="Text 15"/>
          <p:cNvSpPr txBox="1"/>
          <p:nvPr/>
        </p:nvSpPr>
        <p:spPr>
          <a:xfrm>
            <a:off x="9546336" y="2834640"/>
            <a:ext cx="2066544" cy="365760"/>
          </a:xfrm>
          <a:prstGeom prst="rect">
            <a:avLst/>
          </a:prstGeom>
          <a:noFill/>
          <a:ln/>
        </p:spPr>
        <p:txBody>
          <a:bodyPr wrap="square" lIns="0" tIns="0" rIns="0" bIns="0" rtlCol="0" anchor="t"/>
          <a:lstStyle/>
          <a:p>
            <a:pPr algn="ctr" indent="0" marL="0">
              <a:spcAft>
                <a:spcPts val="600"/>
              </a:spcAft>
              <a:buNone/>
            </a:pPr>
            <a:r>
              <a:rPr lang="en-US" sz="2000" b="1" dirty="0">
                <a:solidFill>
                  <a:srgbClr val="1A1A1A"/>
                </a:solidFill>
                <a:latin typeface="Montserrat" pitchFamily="34" charset="0"/>
                <a:ea typeface="Montserrat" pitchFamily="34" charset="-122"/>
                <a:cs typeface="Montserrat" pitchFamily="34" charset="-120"/>
              </a:rPr>
              <a:t>C</a:t>
            </a:r>
            <a:endParaRPr lang="en-US" sz="2000" dirty="0"/>
          </a:p>
        </p:txBody>
      </p:sp>
      <p:sp>
        <p:nvSpPr>
          <p:cNvPr id="19" name="Text 16"/>
          <p:cNvSpPr txBox="1"/>
          <p:nvPr/>
        </p:nvSpPr>
        <p:spPr>
          <a:xfrm>
            <a:off x="9656064" y="3264408"/>
            <a:ext cx="1847088" cy="320040"/>
          </a:xfrm>
          <a:prstGeom prst="rect">
            <a:avLst/>
          </a:prstGeom>
          <a:noFill/>
          <a:ln/>
        </p:spPr>
        <p:txBody>
          <a:bodyPr wrap="square" lIns="0" tIns="0" rIns="0" bIns="0" rtlCol="0" anchor="t"/>
          <a:lstStyle/>
          <a:p>
            <a:pPr algn="ctr" indent="0" marL="0">
              <a:spcAft>
                <a:spcPts val="600"/>
              </a:spcAft>
              <a:buNone/>
            </a:pPr>
            <a:r>
              <a:rPr lang="en-US" sz="1400" b="1" dirty="0">
                <a:solidFill>
                  <a:srgbClr val="1A1A1A"/>
                </a:solidFill>
                <a:latin typeface="Calibri" pitchFamily="34" charset="0"/>
                <a:ea typeface="Calibri" pitchFamily="34" charset="-122"/>
                <a:cs typeface="Calibri" pitchFamily="34" charset="-120"/>
              </a:rPr>
              <a:t>Back to everyone</a:t>
            </a:r>
            <a:endParaRPr lang="en-US" sz="1400" dirty="0"/>
          </a:p>
        </p:txBody>
      </p:sp>
      <p:sp>
        <p:nvSpPr>
          <p:cNvPr id="20" name="Text 17"/>
          <p:cNvSpPr txBox="1"/>
          <p:nvPr/>
        </p:nvSpPr>
        <p:spPr>
          <a:xfrm>
            <a:off x="548640" y="5120640"/>
            <a:ext cx="2066544" cy="822960"/>
          </a:xfrm>
          <a:prstGeom prst="rect">
            <a:avLst/>
          </a:prstGeom>
          <a:noFill/>
          <a:ln/>
        </p:spPr>
        <p:txBody>
          <a:bodyPr wrap="square" lIns="0" tIns="0" rIns="0" bIns="0" rtlCol="0" anchor="t"/>
          <a:lstStyle/>
          <a:p>
            <a:pPr algn="ctr" indent="0" marL="0">
              <a:spcAft>
                <a:spcPts val="600"/>
              </a:spcAft>
              <a:buNone/>
            </a:pPr>
            <a:r>
              <a:rPr lang="en-US" sz="1200" dirty="0">
                <a:solidFill>
                  <a:srgbClr val="5F5C57"/>
                </a:solidFill>
                <a:latin typeface="Calibri" pitchFamily="34" charset="0"/>
                <a:ea typeface="Calibri" pitchFamily="34" charset="-122"/>
                <a:cs typeface="Calibri" pitchFamily="34" charset="-120"/>
              </a:rPr>
              <a:t>Investors, statistics offices and tax offices all read the digital economy through stand-ins</a:t>
            </a:r>
            <a:endParaRPr lang="en-US" sz="1200" dirty="0"/>
          </a:p>
        </p:txBody>
      </p:sp>
      <p:sp>
        <p:nvSpPr>
          <p:cNvPr id="21" name="Text 18"/>
          <p:cNvSpPr txBox="1"/>
          <p:nvPr/>
        </p:nvSpPr>
        <p:spPr>
          <a:xfrm>
            <a:off x="2798064" y="5120640"/>
            <a:ext cx="2066544" cy="822960"/>
          </a:xfrm>
          <a:prstGeom prst="rect">
            <a:avLst/>
          </a:prstGeom>
          <a:noFill/>
          <a:ln/>
        </p:spPr>
        <p:txBody>
          <a:bodyPr wrap="square" lIns="0" tIns="0" rIns="0" bIns="0" rtlCol="0" anchor="t"/>
          <a:lstStyle/>
          <a:p>
            <a:pPr algn="ctr" indent="0" marL="0">
              <a:spcAft>
                <a:spcPts val="600"/>
              </a:spcAft>
              <a:buNone/>
            </a:pPr>
            <a:r>
              <a:rPr lang="en-US" sz="1200" dirty="0">
                <a:solidFill>
                  <a:srgbClr val="5F5C57"/>
                </a:solidFill>
                <a:latin typeface="Calibri" pitchFamily="34" charset="0"/>
                <a:ea typeface="Calibri" pitchFamily="34" charset="-122"/>
                <a:cs typeface="Calibri" pitchFamily="34" charset="-120"/>
              </a:rPr>
              <a:t>Thin platform slices, sellers in chat apps, and a public fight in 2023</a:t>
            </a:r>
            <a:endParaRPr lang="en-US" sz="1200" dirty="0"/>
          </a:p>
        </p:txBody>
      </p:sp>
      <p:sp>
        <p:nvSpPr>
          <p:cNvPr id="22" name="Text 19"/>
          <p:cNvSpPr txBox="1"/>
          <p:nvPr/>
        </p:nvSpPr>
        <p:spPr>
          <a:xfrm>
            <a:off x="5047488" y="5120640"/>
            <a:ext cx="2066544" cy="822960"/>
          </a:xfrm>
          <a:prstGeom prst="rect">
            <a:avLst/>
          </a:prstGeom>
          <a:noFill/>
          <a:ln/>
        </p:spPr>
        <p:txBody>
          <a:bodyPr wrap="square" lIns="0" tIns="0" rIns="0" bIns="0" rtlCol="0" anchor="t"/>
          <a:lstStyle/>
          <a:p>
            <a:pPr algn="ctr" indent="0" marL="0">
              <a:spcAft>
                <a:spcPts val="600"/>
              </a:spcAft>
              <a:buNone/>
            </a:pPr>
            <a:r>
              <a:rPr lang="en-US" sz="1200" dirty="0">
                <a:solidFill>
                  <a:srgbClr val="5F5C57"/>
                </a:solidFill>
                <a:latin typeface="Calibri" pitchFamily="34" charset="0"/>
                <a:ea typeface="Calibri" pitchFamily="34" charset="-122"/>
                <a:cs typeface="Calibri" pitchFamily="34" charset="-120"/>
              </a:rPr>
              <a:t>The wedge and H1; buying stalled; H2 and the entry test; who the sellers were</a:t>
            </a:r>
            <a:endParaRPr lang="en-US" sz="1200" dirty="0"/>
          </a:p>
        </p:txBody>
      </p:sp>
      <p:sp>
        <p:nvSpPr>
          <p:cNvPr id="23" name="Text 20"/>
          <p:cNvSpPr txBox="1"/>
          <p:nvPr/>
        </p:nvSpPr>
        <p:spPr>
          <a:xfrm>
            <a:off x="7296912" y="5120640"/>
            <a:ext cx="2066544" cy="822960"/>
          </a:xfrm>
          <a:prstGeom prst="rect">
            <a:avLst/>
          </a:prstGeom>
          <a:noFill/>
          <a:ln/>
        </p:spPr>
        <p:txBody>
          <a:bodyPr wrap="square" lIns="0" tIns="0" rIns="0" bIns="0" rtlCol="0" anchor="t"/>
          <a:lstStyle/>
          <a:p>
            <a:pPr algn="ctr" indent="0" marL="0">
              <a:spcAft>
                <a:spcPts val="600"/>
              </a:spcAft>
              <a:buNone/>
            </a:pPr>
            <a:r>
              <a:rPr lang="en-US" sz="1200" dirty="0">
                <a:solidFill>
                  <a:srgbClr val="5F5C57"/>
                </a:solidFill>
                <a:latin typeface="Calibri" pitchFamily="34" charset="0"/>
                <a:ea typeface="Calibri" pitchFamily="34" charset="-122"/>
                <a:cs typeface="Calibri" pitchFamily="34" charset="-120"/>
              </a:rPr>
              <a:t>The checks travel; the Indonesian numbers do not</a:t>
            </a:r>
            <a:endParaRPr lang="en-US" sz="1200" dirty="0"/>
          </a:p>
        </p:txBody>
      </p:sp>
      <p:sp>
        <p:nvSpPr>
          <p:cNvPr id="24" name="Text 21"/>
          <p:cNvSpPr txBox="1"/>
          <p:nvPr/>
        </p:nvSpPr>
        <p:spPr>
          <a:xfrm>
            <a:off x="9546336" y="5120640"/>
            <a:ext cx="2066544" cy="822960"/>
          </a:xfrm>
          <a:prstGeom prst="rect">
            <a:avLst/>
          </a:prstGeom>
          <a:noFill/>
          <a:ln/>
        </p:spPr>
        <p:txBody>
          <a:bodyPr wrap="square" lIns="0" tIns="0" rIns="0" bIns="0" rtlCol="0" anchor="t"/>
          <a:lstStyle/>
          <a:p>
            <a:pPr algn="ctr" indent="0" marL="0">
              <a:spcAft>
                <a:spcPts val="600"/>
              </a:spcAft>
              <a:buNone/>
            </a:pPr>
            <a:r>
              <a:rPr lang="en-US" sz="1200" dirty="0">
                <a:solidFill>
                  <a:srgbClr val="5F5C57"/>
                </a:solidFill>
                <a:latin typeface="Calibri" pitchFamily="34" charset="0"/>
                <a:ea typeface="Calibri" pitchFamily="34" charset="-122"/>
                <a:cs typeface="Calibri" pitchFamily="34" charset="-120"/>
              </a:rPr>
              <a:t>One lesson for each of the three users</a:t>
            </a:r>
            <a:endParaRPr lang="en-US" sz="1200" dirty="0"/>
          </a:p>
        </p:txBody>
      </p:sp>
      <p:sp>
        <p:nvSpPr>
          <p:cNvPr id="25" name="Text 22"/>
          <p:cNvSpPr txBox="1"/>
          <p:nvPr/>
        </p:nvSpPr>
        <p:spPr>
          <a:xfrm>
            <a:off x="548640" y="1691640"/>
            <a:ext cx="2066544" cy="274320"/>
          </a:xfrm>
          <a:prstGeom prst="rect">
            <a:avLst/>
          </a:prstGeom>
          <a:noFill/>
          <a:ln/>
        </p:spPr>
        <p:txBody>
          <a:bodyPr wrap="square" lIns="0" tIns="0" rIns="0" bIns="0" rtlCol="0" anchor="t"/>
          <a:lstStyle/>
          <a:p>
            <a:pPr algn="ctr" indent="0" marL="0">
              <a:spcAft>
                <a:spcPts val="600"/>
              </a:spcAft>
              <a:buNone/>
            </a:pPr>
            <a:r>
              <a:rPr lang="en-US" sz="1000" spc="200" kern="0" dirty="0">
                <a:solidFill>
                  <a:srgbClr val="8A8782"/>
                </a:solidFill>
                <a:latin typeface="Calibri" pitchFamily="34" charset="0"/>
                <a:ea typeface="Calibri" pitchFamily="34" charset="-122"/>
                <a:cs typeface="Calibri" pitchFamily="34" charset="-120"/>
              </a:rPr>
              <a:t>WIDE</a:t>
            </a:r>
            <a:endParaRPr lang="en-US" sz="1000" dirty="0"/>
          </a:p>
        </p:txBody>
      </p:sp>
      <p:sp>
        <p:nvSpPr>
          <p:cNvPr id="26" name="Text 23"/>
          <p:cNvSpPr txBox="1"/>
          <p:nvPr/>
        </p:nvSpPr>
        <p:spPr>
          <a:xfrm>
            <a:off x="5047488" y="1691640"/>
            <a:ext cx="2066544" cy="274320"/>
          </a:xfrm>
          <a:prstGeom prst="rect">
            <a:avLst/>
          </a:prstGeom>
          <a:noFill/>
          <a:ln/>
        </p:spPr>
        <p:txBody>
          <a:bodyPr wrap="square" lIns="0" tIns="0" rIns="0" bIns="0" rtlCol="0" anchor="t"/>
          <a:lstStyle/>
          <a:p>
            <a:pPr algn="ctr" indent="0" marL="0">
              <a:spcAft>
                <a:spcPts val="600"/>
              </a:spcAft>
              <a:buNone/>
            </a:pPr>
            <a:r>
              <a:rPr lang="en-US" sz="1000" spc="200" kern="0" dirty="0">
                <a:solidFill>
                  <a:srgbClr val="8A8782"/>
                </a:solidFill>
                <a:latin typeface="Calibri" pitchFamily="34" charset="0"/>
                <a:ea typeface="Calibri" pitchFamily="34" charset="-122"/>
                <a:cs typeface="Calibri" pitchFamily="34" charset="-120"/>
              </a:rPr>
              <a:t>NARROW: INDONESIA</a:t>
            </a:r>
            <a:endParaRPr lang="en-US" sz="1000" dirty="0"/>
          </a:p>
        </p:txBody>
      </p:sp>
      <p:sp>
        <p:nvSpPr>
          <p:cNvPr id="27" name="Text 24"/>
          <p:cNvSpPr txBox="1"/>
          <p:nvPr/>
        </p:nvSpPr>
        <p:spPr>
          <a:xfrm>
            <a:off x="9546336" y="1691640"/>
            <a:ext cx="2066544" cy="274320"/>
          </a:xfrm>
          <a:prstGeom prst="rect">
            <a:avLst/>
          </a:prstGeom>
          <a:noFill/>
          <a:ln/>
        </p:spPr>
        <p:txBody>
          <a:bodyPr wrap="square" lIns="0" tIns="0" rIns="0" bIns="0" rtlCol="0" anchor="t"/>
          <a:lstStyle/>
          <a:p>
            <a:pPr algn="ctr" indent="0" marL="0">
              <a:spcAft>
                <a:spcPts val="600"/>
              </a:spcAft>
              <a:buNone/>
            </a:pPr>
            <a:r>
              <a:rPr lang="en-US" sz="1000" spc="200" kern="0" dirty="0">
                <a:solidFill>
                  <a:srgbClr val="8A8782"/>
                </a:solidFill>
                <a:latin typeface="Calibri" pitchFamily="34" charset="0"/>
                <a:ea typeface="Calibri" pitchFamily="34" charset="-122"/>
                <a:cs typeface="Calibri" pitchFamily="34" charset="-120"/>
              </a:rPr>
              <a:t>WIDE AGAIN</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What the oral deck promised, and what came back</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“Every promise has a result, including the ones that did not go our way.”</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291840"/>
                <a:gridCol w="6035040"/>
                <a:gridCol w="173736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Promised at the oral</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1F4E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1F4E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1F4E5F"/>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Thicken H1 with quarterly pairs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Does not hold: the quarterly data mostly cover the calmer years after the repricing</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A33A2C"/>
                          </a:solidFill>
                          <a:latin typeface="Calibri" pitchFamily="34" charset="0"/>
                          <a:ea typeface="Calibri" pitchFamily="34" charset="-122"/>
                          <a:cs typeface="Calibri" pitchFamily="34" charset="-120"/>
                        </a:rPr>
                        <a:t>Failed, reported</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A longer foreign comparison</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27 foreign platforms; Indonesia still stands apart (p = 0.004; worst leave-one-out 0.016)</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1F4E5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Diagnose each large divergence</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Grab mostly repricing; Blibli partly travel mix; GoTo cut discounts in 2024; Tokopedia 60.6% from fewer discounts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1F4E5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Reconcile platform and BPS figures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They agree on growth where they cover the same sellers; levels cannot be fully reconciled, and the reasons are named</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1F4E5F"/>
                          </a:solidFill>
                          <a:latin typeface="Calibri" pitchFamily="34" charset="0"/>
                          <a:ea typeface="Calibri" pitchFamily="34" charset="-122"/>
                          <a:cs typeface="Calibri" pitchFamily="34" charset="-120"/>
                        </a:rPr>
                        <a:t>Done, with limits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Market test: does the market tell the two kinds of revenue growth apart?</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Market value moved with buying (28 firms, p = 0.002); a different price for fee-driven revenue is not shown (p = 0.20)</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A33A2C"/>
                          </a:solidFill>
                          <a:latin typeface="Calibri" pitchFamily="34" charset="0"/>
                          <a:ea typeface="Calibri" pitchFamily="34" charset="-122"/>
                          <a:cs typeface="Calibri" pitchFamily="34" charset="-120"/>
                        </a:rPr>
                        <a:t>Half answered</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r h="566928">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H2 caveat: “an arithmetic decomposition, not entry dynamics”</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dirty="0">
                          <a:solidFill>
                            <a:srgbClr val="3A3834"/>
                          </a:solidFill>
                          <a:latin typeface="Calibri" pitchFamily="34" charset="0"/>
                          <a:ea typeface="Calibri" pitchFamily="34" charset="-122"/>
                          <a:cs typeface="Calibri" pitchFamily="34" charset="-120"/>
                        </a:rPr>
                        <a:t>Entry test written down before the data: entry was too small; about half the 2023 rise was not first-time entry</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c>
                  <a:txBody>
                    <a:bodyPr/>
                    <a:lstStyle/>
                    <a:p>
                      <a:pPr indent="0" marL="0">
                        <a:buNone/>
                      </a:pPr>
                      <a:r>
                        <a:rPr lang="en-US" sz="1200" b="1" dirty="0">
                          <a:solidFill>
                            <a:srgbClr val="1F4E5F"/>
                          </a:solidFill>
                          <a:latin typeface="Calibri" pitchFamily="34" charset="0"/>
                          <a:ea typeface="Calibri" pitchFamily="34" charset="-122"/>
                          <a:cs typeface="Calibri" pitchFamily="34" charset="-120"/>
                        </a:rPr>
                        <a:t>Done, new centre</a:t>
                      </a:r>
                      <a:endParaRPr lang="en-US" sz="1200" dirty="0">
                        <a:latin typeface="Calibri" charset="0"/>
                        <a:ea typeface="Calibri" charset="0"/>
                        <a:cs typeface="Calibri" charset="0"/>
                      </a:endParaRPr>
                    </a:p>
                  </a:txBody>
                  <a:tcPr marL="76200" marR="76200" marT="50800" marB="50800">
                    <a:lnL w="9525" cap="flat" cmpd="sng" algn="ctr">
                      <a:solidFill>
                        <a:srgbClr val="D9D5CD"/>
                      </a:solidFill>
                      <a:prstDash val="solid"/>
                      <a:round/>
                      <a:headEnd type="none" w="med" len="med"/>
                      <a:tailEnd type="none" w="med" len="med"/>
                    </a:lnL>
                    <a:lnR w="9525" cap="flat" cmpd="sng" algn="ctr">
                      <a:solidFill>
                        <a:srgbClr val="D9D5CD"/>
                      </a:solidFill>
                      <a:prstDash val="solid"/>
                      <a:round/>
                      <a:headEnd type="none" w="med" len="med"/>
                      <a:tailEnd type="none" w="med" len="med"/>
                    </a:lnR>
                    <a:lnT w="9525" cap="flat" cmpd="sng" algn="ctr">
                      <a:solidFill>
                        <a:srgbClr val="D9D5CD"/>
                      </a:solidFill>
                      <a:prstDash val="solid"/>
                      <a:round/>
                      <a:headEnd type="none" w="med" len="med"/>
                      <a:tailEnd type="none" w="med" len="med"/>
                    </a:lnT>
                    <a:lnB w="9525" cap="flat" cmpd="sng" algn="ctr">
                      <a:solidFill>
                        <a:srgbClr val="D9D5CD"/>
                      </a:solidFill>
                      <a:prstDash val="solid"/>
                      <a:round/>
                      <a:headEnd type="none" w="med" len="med"/>
                      <a:tailEnd type="none" w="med" len="med"/>
                    </a:lnB>
                    <a:solidFill>
                      <a:srgbClr val="FAF9F6"/>
                    </a:solidFill>
                  </a:tcPr>
                </a:tc>
              </a:tr>
            </a:tbl>
          </a:graphicData>
        </a:graphic>
      </p:graphicFrame>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The wedge's job: same price changes, thinner slice</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“Indonesian platforms did not change their prices more than platforms abroad. Their slice is ten times thinner.”</a:t>
            </a:r>
            <a:endParaRPr lang="en-US" sz="1500" dirty="0"/>
          </a:p>
        </p:txBody>
      </p:sp>
      <p:pic>
        <p:nvPicPr>
          <p:cNvPr id="5" name="Image 0" descr="1_thin_slice.png">    </p:cNvPr>
          <p:cNvPicPr>
            <a:picLocks noChangeAspect="1"/>
          </p:cNvPicPr>
          <p:nvPr/>
        </p:nvPicPr>
        <p:blipFill>
          <a:blip r:embed="rId1"/>
          <a:stretch>
            <a:fillRect/>
          </a:stretch>
        </p:blipFill>
        <p:spPr>
          <a:xfrm>
            <a:off x="822960" y="1600200"/>
            <a:ext cx="10241280" cy="3441290"/>
          </a:xfrm>
          <a:prstGeom prst="rect">
            <a:avLst/>
          </a:prstGeom>
        </p:spPr>
      </p:pic>
      <p:sp>
        <p:nvSpPr>
          <p:cNvPr id="6" name="Text 2"/>
          <p:cNvSpPr txBox="1"/>
          <p:nvPr/>
        </p:nvSpPr>
        <p:spPr>
          <a:xfrm>
            <a:off x="548640" y="5120640"/>
            <a:ext cx="11064240" cy="73152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Reading it: </a:t>
            </a:r>
            <a:pPr indent="0" marL="0">
              <a:spcAft>
                <a:spcPts val="600"/>
              </a:spcAft>
              <a:buNone/>
            </a:pPr>
            <a:r>
              <a:rPr lang="en-US" sz="1400" dirty="0">
                <a:solidFill>
                  <a:srgbClr val="3A3834"/>
                </a:solidFill>
                <a:latin typeface="Calibri" pitchFamily="34" charset="0"/>
                <a:ea typeface="Calibri" pitchFamily="34" charset="-122"/>
                <a:cs typeface="Calibri" pitchFamily="34" charset="-120"/>
              </a:rPr>
              <a:t>a typical platform abroad keeps about 17 rupiah of every 100 sold; Indonesian marketplaces keep under 2. Both change what they keep by about 1 rupiah per 100 a year. On a 2-rupiah slice that is a huge change, so revenue growth swings about three times as much. H1 is still rejected; the reason is now clear.</a:t>
            </a:r>
            <a:endParaRPr lang="en-US" sz="1400" dirty="0"/>
          </a:p>
        </p:txBody>
      </p:sp>
      <p:sp>
        <p:nvSpPr>
          <p:cNvPr id="7" name="Text 3"/>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Issuer filings, 5 Indonesian and regional vs 26 foreign platforms (firm medians); in points p = 0.65, relative p = 0.003. Exploratory, 9 Oct.</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2023: the headline numbers boomed, buying did not</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“Where two numbers look at the same place, they agree. They split where only one of them looks.”</a:t>
            </a:r>
            <a:endParaRPr lang="en-US" sz="1500" dirty="0"/>
          </a:p>
        </p:txBody>
      </p:sp>
      <p:pic>
        <p:nvPicPr>
          <p:cNvPr id="5" name="Image 0" descr="6_verdict_2023.png">    </p:cNvPr>
          <p:cNvPicPr>
            <a:picLocks noChangeAspect="1"/>
          </p:cNvPicPr>
          <p:nvPr/>
        </p:nvPicPr>
        <p:blipFill>
          <a:blip r:embed="rId1"/>
          <a:stretch>
            <a:fillRect/>
          </a:stretch>
        </p:blipFill>
        <p:spPr>
          <a:xfrm>
            <a:off x="548640" y="1645920"/>
            <a:ext cx="7680960" cy="3811891"/>
          </a:xfrm>
          <a:prstGeom prst="rect">
            <a:avLst/>
          </a:prstGeom>
        </p:spPr>
      </p:pic>
      <p:sp>
        <p:nvSpPr>
          <p:cNvPr id="6" name="Text 2"/>
          <p:cNvSpPr txBox="1"/>
          <p:nvPr/>
        </p:nvSpPr>
        <p:spPr>
          <a:xfrm>
            <a:off x="8549640" y="1737360"/>
            <a:ext cx="30175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WHAT IT SHOWS</a:t>
            </a:r>
            <a:endParaRPr lang="en-US" sz="1100" dirty="0"/>
          </a:p>
        </p:txBody>
      </p:sp>
      <p:sp>
        <p:nvSpPr>
          <p:cNvPr id="7" name="Text 3"/>
          <p:cNvSpPr txBox="1"/>
          <p:nvPr/>
        </p:nvSpPr>
        <p:spPr>
          <a:xfrm>
            <a:off x="8549640" y="2103120"/>
            <a:ext cx="3063240" cy="35661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Five of six Indonesia-only measures of buying grew less than household spending</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Existing sellers: 24% up, 44% same, 32% down</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Main complaint: not enough customers (41%, up from 35%)</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Bank Indonesia −5%, BPS +41%: they agree on the marketplaces and split outside them</a:t>
            </a:r>
            <a:endParaRPr lang="en-US" sz="1300" dirty="0"/>
          </a:p>
        </p:txBody>
      </p:sp>
      <p:sp>
        <p:nvSpPr>
          <p:cNvPr id="8" name="Text 4"/>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Company filings; Bank Indonesia; Momentum Works; BPS publications and survey microdata. Growth 2023 vs 2022, each in its own unit.</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H2 holds on paper; underneath, half were not new</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“If 820,000 people had started selling in 2023, they would say so. About 513,000 did.”</a:t>
            </a:r>
            <a:endParaRPr lang="en-US" sz="1500" dirty="0"/>
          </a:p>
        </p:txBody>
      </p:sp>
      <p:pic>
        <p:nvPicPr>
          <p:cNvPr id="5" name="Image 0" descr="5_bps_own_answers.png">    </p:cNvPr>
          <p:cNvPicPr>
            <a:picLocks noChangeAspect="1"/>
          </p:cNvPicPr>
          <p:nvPr/>
        </p:nvPicPr>
        <p:blipFill>
          <a:blip r:embed="rId1"/>
          <a:stretch>
            <a:fillRect/>
          </a:stretch>
        </p:blipFill>
        <p:spPr>
          <a:xfrm>
            <a:off x="548640" y="1645920"/>
            <a:ext cx="7863840" cy="2734298"/>
          </a:xfrm>
          <a:prstGeom prst="rect">
            <a:avLst/>
          </a:prstGeom>
        </p:spPr>
      </p:pic>
      <p:sp>
        <p:nvSpPr>
          <p:cNvPr id="6" name="Text 2"/>
          <p:cNvSpPr txBox="1"/>
          <p:nvPr/>
        </p:nvSpPr>
        <p:spPr>
          <a:xfrm>
            <a:off x="8686800" y="1737360"/>
            <a:ext cx="292608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THE ENTRY TEST</a:t>
            </a:r>
            <a:endParaRPr lang="en-US" sz="1100" dirty="0"/>
          </a:p>
        </p:txBody>
      </p:sp>
      <p:sp>
        <p:nvSpPr>
          <p:cNvPr id="7" name="Text 3"/>
          <p:cNvSpPr txBox="1"/>
          <p:nvPr/>
        </p:nvSpPr>
        <p:spPr>
          <a:xfrm>
            <a:off x="8686800" y="2103120"/>
            <a:ext cx="2926080" cy="31089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Written down before the data: at least 1 in 5 sellers should say they started in 2023</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Result: about 1 in 7</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37-56% of the rise was sellers already selling before 2023</a:t>
            </a:r>
            <a:endParaRPr lang="en-US" sz="1300" dirty="0"/>
          </a:p>
          <a:p>
            <a:pPr marL="177800" indent="-177800">
              <a:spcAft>
                <a:spcPts val="900"/>
              </a:spcAft>
              <a:buSzPct val="100000"/>
              <a:buChar char="•"/>
            </a:pPr>
            <a:r>
              <a:rPr lang="en-US" sz="1300" dirty="0">
                <a:solidFill>
                  <a:srgbClr val="3A3834"/>
                </a:solidFill>
                <a:latin typeface="Calibri" pitchFamily="34" charset="0"/>
                <a:ea typeface="Calibri" pitchFamily="34" charset="-122"/>
                <a:cs typeface="Calibri" pitchFamily="34" charset="-120"/>
              </a:rPr>
              <a:t>Too large for chance (4.6 standard errors); follows where the survey grew; 2024 is normal again</a:t>
            </a:r>
            <a:endParaRPr lang="en-US" sz="1300" dirty="0"/>
          </a:p>
        </p:txBody>
      </p:sp>
      <p:sp>
        <p:nvSpPr>
          <p:cNvPr id="8" name="Text 4"/>
          <p:cNvSpPr txBox="1"/>
          <p:nvPr/>
        </p:nvSpPr>
        <p:spPr>
          <a:xfrm>
            <a:off x="548640" y="4526280"/>
            <a:ext cx="7863840" cy="82296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H2 on BPS's published numbers: </a:t>
            </a:r>
            <a:pPr indent="0" marL="0">
              <a:spcAft>
                <a:spcPts val="600"/>
              </a:spcAft>
              <a:buNone/>
            </a:pPr>
            <a:r>
              <a:rPr lang="en-US" sz="1400" dirty="0">
                <a:solidFill>
                  <a:srgbClr val="3A3834"/>
                </a:solidFill>
                <a:latin typeface="Calibri" pitchFamily="34" charset="0"/>
                <a:ea typeface="Calibri" pitchFamily="34" charset="-122"/>
                <a:cs typeface="Calibri" pitchFamily="34" charset="-120"/>
              </a:rPr>
              <a:t>holds (71% of 2022-23 growth from more businesses). The survey's own answers change what “more businesses” means.</a:t>
            </a:r>
            <a:endParaRPr lang="en-US" sz="1400" dirty="0"/>
          </a:p>
        </p:txBody>
      </p:sp>
      <p:sp>
        <p:nvSpPr>
          <p:cNvPr id="9" name="Text 5"/>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BPS e-commerce survey microdata (2022 and 2023 rounds), weighted. Range depends on how many sellers stopped in 2023.</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Who the extra sellers were</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“Long-running small businesses, not start-ups. They had been there all along; the count reached them in 2023.”</a:t>
            </a:r>
            <a:endParaRPr lang="en-US" sz="1500" dirty="0"/>
          </a:p>
        </p:txBody>
      </p:sp>
      <p:pic>
        <p:nvPicPr>
          <p:cNvPr id="5" name="Image 0" descr="3_who_they_are.png">    </p:cNvPr>
          <p:cNvPicPr>
            <a:picLocks noChangeAspect="1"/>
          </p:cNvPicPr>
          <p:nvPr/>
        </p:nvPicPr>
        <p:blipFill>
          <a:blip r:embed="rId1"/>
          <a:stretch>
            <a:fillRect/>
          </a:stretch>
        </p:blipFill>
        <p:spPr>
          <a:xfrm>
            <a:off x="548640" y="1600200"/>
            <a:ext cx="7223760" cy="4056013"/>
          </a:xfrm>
          <a:prstGeom prst="rect">
            <a:avLst/>
          </a:prstGeom>
        </p:spPr>
      </p:pic>
      <p:sp>
        <p:nvSpPr>
          <p:cNvPr id="6" name="Text 2"/>
          <p:cNvSpPr txBox="1"/>
          <p:nvPr/>
        </p:nvSpPr>
        <p:spPr>
          <a:xfrm>
            <a:off x="8138160" y="1737360"/>
            <a:ext cx="34747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WHAT IT MEANS</a:t>
            </a:r>
            <a:endParaRPr lang="en-US" sz="1100" dirty="0"/>
          </a:p>
        </p:txBody>
      </p:sp>
      <p:sp>
        <p:nvSpPr>
          <p:cNvPr id="7" name="Text 3"/>
          <p:cNvSpPr txBox="1"/>
          <p:nvPr/>
        </p:nvSpPr>
        <p:spPr>
          <a:xfrm>
            <a:off x="8138160" y="2103120"/>
            <a:ext cx="3474720" cy="27432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3A3834"/>
                </a:solidFill>
                <a:latin typeface="Calibri" pitchFamily="34" charset="0"/>
                <a:ea typeface="Calibri" pitchFamily="34" charset="-122"/>
                <a:cs typeface="Calibri" pitchFamily="34" charset="-120"/>
              </a:rPr>
              <a:t>Businesses opened before 2010, often going online years later</a:t>
            </a:r>
            <a:endParaRPr lang="en-US" sz="1400" dirty="0"/>
          </a:p>
          <a:p>
            <a:pPr marL="177800" indent="-177800">
              <a:spcAft>
                <a:spcPts val="900"/>
              </a:spcAft>
              <a:buSzPct val="100000"/>
              <a:buChar char="•"/>
            </a:pPr>
            <a:r>
              <a:rPr lang="en-US" sz="1400" dirty="0">
                <a:solidFill>
                  <a:srgbClr val="3A3834"/>
                </a:solidFill>
                <a:latin typeface="Calibri" pitchFamily="34" charset="0"/>
                <a:ea typeface="Calibri" pitchFamily="34" charset="-122"/>
                <a:cs typeface="Calibri" pitchFamily="34" charset="-120"/>
              </a:rPr>
              <a:t>Older owners, mostly schooled to high school or less</a:t>
            </a:r>
            <a:endParaRPr lang="en-US" sz="1400" dirty="0"/>
          </a:p>
          <a:p>
            <a:pPr marL="177800" indent="-177800">
              <a:spcAft>
                <a:spcPts val="900"/>
              </a:spcAft>
              <a:buSzPct val="100000"/>
              <a:buChar char="•"/>
            </a:pPr>
            <a:r>
              <a:rPr lang="en-US" sz="1400" dirty="0">
                <a:solidFill>
                  <a:srgbClr val="3A3834"/>
                </a:solidFill>
                <a:latin typeface="Calibri" pitchFamily="34" charset="0"/>
                <a:ea typeface="Calibri" pitchFamily="34" charset="-122"/>
                <a:cs typeface="Calibri" pitchFamily="34" charset="-120"/>
              </a:rPr>
              <a:t>More often outside Java; food stalls and small workshops</a:t>
            </a:r>
            <a:endParaRPr lang="en-US" sz="1400" dirty="0"/>
          </a:p>
          <a:p>
            <a:pPr marL="177800" indent="-177800">
              <a:spcAft>
                <a:spcPts val="900"/>
              </a:spcAft>
              <a:buSzPct val="100000"/>
              <a:buChar char="•"/>
            </a:pPr>
            <a:r>
              <a:rPr lang="en-US" sz="1400" dirty="0">
                <a:solidFill>
                  <a:srgbClr val="3A3834"/>
                </a:solidFill>
                <a:latin typeface="Calibri" pitchFamily="34" charset="0"/>
                <a:ea typeface="Calibri" pitchFamily="34" charset="-122"/>
                <a:cs typeface="Calibri" pitchFamily="34" charset="-120"/>
              </a:rPr>
              <a:t>Selling only through chat and social media</a:t>
            </a:r>
            <a:endParaRPr lang="en-US" sz="1400" dirty="0"/>
          </a:p>
        </p:txBody>
      </p:sp>
      <p:sp>
        <p:nvSpPr>
          <p:cNvPr id="8" name="Text 4"/>
          <p:cNvSpPr txBox="1"/>
          <p:nvPr/>
        </p:nvSpPr>
        <p:spPr>
          <a:xfrm>
            <a:off x="8138160" y="4846320"/>
            <a:ext cx="3474720" cy="731520"/>
          </a:xfrm>
          <a:prstGeom prst="rect">
            <a:avLst/>
          </a:prstGeom>
          <a:noFill/>
          <a:ln/>
        </p:spPr>
        <p:txBody>
          <a:bodyPr wrap="square" lIns="0" tIns="0" rIns="0" bIns="0" rtlCol="0" anchor="t"/>
          <a:lstStyle/>
          <a:p>
            <a:pPr indent="0" marL="0">
              <a:spcAft>
                <a:spcPts val="600"/>
              </a:spcAft>
              <a:buNone/>
            </a:pPr>
            <a:r>
              <a:rPr lang="en-US" sz="1400" i="1" dirty="0">
                <a:solidFill>
                  <a:srgbClr val="1F4E5F"/>
                </a:solidFill>
                <a:latin typeface="Calibri" pitchFamily="34" charset="0"/>
                <a:ea typeface="Calibri" pitchFamily="34" charset="-122"/>
                <a:cs typeface="Calibri" pitchFamily="34" charset="-120"/>
              </a:rPr>
              <a:t>These are the people the original question was about: real business the numbers missed.</a:t>
            </a:r>
            <a:endParaRPr lang="en-US" sz="1400" dirty="0"/>
          </a:p>
        </p:txBody>
      </p:sp>
      <p:sp>
        <p:nvSpPr>
          <p:cNvPr id="9" name="Text 5"/>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BPS e-commerce survey microdata (2020, 2022, 2023 rounds), weighted; about 450,000 sellers beyond normal change. Exploratory, 9 Oct.</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Not sellers coming back from a break</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“Someone back from a break sells for part of the year. The rise is in sellers who sold every month.”</a:t>
            </a:r>
            <a:endParaRPr lang="en-US" sz="1500" dirty="0"/>
          </a:p>
        </p:txBody>
      </p:sp>
      <p:pic>
        <p:nvPicPr>
          <p:cNvPr id="5" name="Image 0" descr="4_full_year_sellers.png">    </p:cNvPr>
          <p:cNvPicPr>
            <a:picLocks noChangeAspect="1"/>
          </p:cNvPicPr>
          <p:nvPr/>
        </p:nvPicPr>
        <p:blipFill>
          <a:blip r:embed="rId1"/>
          <a:stretch>
            <a:fillRect/>
          </a:stretch>
        </p:blipFill>
        <p:spPr>
          <a:xfrm>
            <a:off x="548640" y="1645920"/>
            <a:ext cx="6766560" cy="3223707"/>
          </a:xfrm>
          <a:prstGeom prst="rect">
            <a:avLst/>
          </a:prstGeom>
        </p:spPr>
      </p:pic>
      <p:sp>
        <p:nvSpPr>
          <p:cNvPr id="6" name="Text 2"/>
          <p:cNvSpPr txBox="1"/>
          <p:nvPr/>
        </p:nvSpPr>
        <p:spPr>
          <a:xfrm>
            <a:off x="7680960" y="1737360"/>
            <a:ext cx="39319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THREE ANSWERS</a:t>
            </a:r>
            <a:endParaRPr lang="en-US" sz="1100" dirty="0"/>
          </a:p>
        </p:txBody>
      </p:sp>
      <p:sp>
        <p:nvSpPr>
          <p:cNvPr id="7" name="Text 3"/>
          <p:cNvSpPr txBox="1"/>
          <p:nvPr/>
        </p:nvSpPr>
        <p:spPr>
          <a:xfrm>
            <a:off x="7680960" y="2103120"/>
            <a:ext cx="3931920" cy="3566160"/>
          </a:xfrm>
          <a:prstGeom prst="rect">
            <a:avLst/>
          </a:prstGeom>
          <a:noFill/>
          <a:ln/>
        </p:spPr>
        <p:txBody>
          <a:bodyPr wrap="square" lIns="0" tIns="0" rIns="0" bIns="0" rtlCol="0" anchor="t"/>
          <a:lstStyle/>
          <a:p>
            <a:pPr indent="0" marL="0">
              <a:spcAft>
                <a:spcPts val="1200"/>
              </a:spcAft>
              <a:buNone/>
            </a:pPr>
            <a:r>
              <a:rPr lang="en-US" sz="1400" b="1" dirty="0">
                <a:solidFill>
                  <a:srgbClr val="1A1A1A"/>
                </a:solidFill>
                <a:latin typeface="Calibri" pitchFamily="34" charset="0"/>
                <a:ea typeface="Calibri" pitchFamily="34" charset="-122"/>
                <a:cs typeface="Calibri" pitchFamily="34" charset="-120"/>
              </a:rPr>
              <a:t>Months: </a:t>
            </a:r>
            <a:pPr indent="0" marL="0">
              <a:spcAft>
                <a:spcPts val="1200"/>
              </a:spcAft>
              <a:buNone/>
            </a:pPr>
            <a:r>
              <a:rPr lang="en-US" sz="1400" dirty="0">
                <a:solidFill>
                  <a:srgbClr val="3A3834"/>
                </a:solidFill>
                <a:latin typeface="Calibri" pitchFamily="34" charset="0"/>
                <a:ea typeface="Calibri" pitchFamily="34" charset="-122"/>
                <a:cs typeface="Calibri" pitchFamily="34" charset="-120"/>
              </a:rPr>
              <a:t>part-year selling fell (472k to 403k); full-year selling rose (2.09m to 2.90m).</a:t>
            </a:r>
            <a:endParaRPr lang="en-US" sz="1400" dirty="0"/>
          </a:p>
          <a:p>
            <a:pPr indent="0" marL="0">
              <a:spcAft>
                <a:spcPts val="1200"/>
              </a:spcAft>
              <a:buNone/>
            </a:pPr>
            <a:r>
              <a:rPr lang="en-US" sz="1400" b="1" dirty="0">
                <a:solidFill>
                  <a:srgbClr val="1A1A1A"/>
                </a:solidFill>
                <a:latin typeface="Calibri" pitchFamily="34" charset="0"/>
                <a:ea typeface="Calibri" pitchFamily="34" charset="-122"/>
                <a:cs typeface="Calibri" pitchFamily="34" charset="-120"/>
              </a:rPr>
              <a:t>Timing: </a:t>
            </a:r>
            <a:pPr indent="0" marL="0">
              <a:spcAft>
                <a:spcPts val="1200"/>
              </a:spcAft>
              <a:buNone/>
            </a:pPr>
            <a:r>
              <a:rPr lang="en-US" sz="1400" dirty="0">
                <a:solidFill>
                  <a:srgbClr val="3A3834"/>
                </a:solidFill>
                <a:latin typeface="Calibri" pitchFamily="34" charset="0"/>
                <a:ea typeface="Calibri" pitchFamily="34" charset="-122"/>
                <a:cs typeface="Calibri" pitchFamily="34" charset="-120"/>
              </a:rPr>
              <a:t>returning happens every year; it would have to spike in 2023 alone, while 2020-22 groups shrank and 2024 is normal.</a:t>
            </a:r>
            <a:endParaRPr lang="en-US" sz="1400" dirty="0"/>
          </a:p>
          <a:p>
            <a:pPr indent="0" marL="0">
              <a:spcAft>
                <a:spcPts val="1200"/>
              </a:spcAft>
              <a:buNone/>
            </a:pPr>
            <a:r>
              <a:rPr lang="en-US" sz="1400" b="1" dirty="0">
                <a:solidFill>
                  <a:srgbClr val="1A1A1A"/>
                </a:solidFill>
                <a:latin typeface="Calibri" pitchFamily="34" charset="0"/>
                <a:ea typeface="Calibri" pitchFamily="34" charset="-122"/>
                <a:cs typeface="Calibri" pitchFamily="34" charset="-120"/>
              </a:rPr>
              <a:t>Who restarts: </a:t>
            </a:r>
            <a:pPr indent="0" marL="0">
              <a:spcAft>
                <a:spcPts val="1200"/>
              </a:spcAft>
              <a:buNone/>
            </a:pPr>
            <a:r>
              <a:rPr lang="en-US" sz="1400" dirty="0">
                <a:solidFill>
                  <a:srgbClr val="3A3834"/>
                </a:solidFill>
                <a:latin typeface="Calibri" pitchFamily="34" charset="0"/>
                <a:ea typeface="Calibri" pitchFamily="34" charset="-122"/>
                <a:cs typeface="Calibri" pitchFamily="34" charset="-120"/>
              </a:rPr>
              <a:t>small firms close most often when young, with young owners (McKenzie and Paffhausen 2019). These sellers are the opposite.</a:t>
            </a:r>
            <a:endParaRPr lang="en-US" sz="1400" dirty="0"/>
          </a:p>
        </p:txBody>
      </p:sp>
      <p:sp>
        <p:nvSpPr>
          <p:cNvPr id="8" name="Text 4"/>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BPS survey microdata; the month question changed format between rounds. Recall error would inflate first-time entry, so the estimate is conservative (Neter and Waksberg 1964).</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Each rule reaches only what its number sees</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“A rule built on platform records reaches the sellers on the platforms. In Indonesia that is fewer than one in five.”</a:t>
            </a:r>
            <a:endParaRPr lang="en-US" sz="1500" dirty="0"/>
          </a:p>
        </p:txBody>
      </p:sp>
      <p:pic>
        <p:nvPicPr>
          <p:cNvPr id="5" name="Image 0" descr="5_tax_reach.png">    </p:cNvPr>
          <p:cNvPicPr>
            <a:picLocks noChangeAspect="1"/>
          </p:cNvPicPr>
          <p:nvPr/>
        </p:nvPicPr>
        <p:blipFill>
          <a:blip r:embed="rId1"/>
          <a:stretch>
            <a:fillRect/>
          </a:stretch>
        </p:blipFill>
        <p:spPr>
          <a:xfrm>
            <a:off x="548640" y="1691640"/>
            <a:ext cx="11064240" cy="2401094"/>
          </a:xfrm>
          <a:prstGeom prst="rect">
            <a:avLst/>
          </a:prstGeom>
        </p:spPr>
      </p:pic>
      <p:sp>
        <p:nvSpPr>
          <p:cNvPr id="6" name="rule0"/>
          <p:cNvSpPr/>
          <p:nvPr/>
        </p:nvSpPr>
        <p:spPr>
          <a:xfrm>
            <a:off x="548640" y="4343400"/>
            <a:ext cx="2615184" cy="1554480"/>
          </a:xfrm>
          <a:prstGeom prst="roundRect">
            <a:avLst>
              <a:gd name="adj" fmla="val 4706"/>
            </a:avLst>
          </a:prstGeom>
          <a:solidFill>
            <a:srgbClr val="FAF9F6"/>
          </a:solidFill>
          <a:ln w="9525">
            <a:solidFill>
              <a:srgbClr val="D9D5CD"/>
            </a:solidFill>
            <a:prstDash val="solid"/>
          </a:ln>
        </p:spPr>
      </p:sp>
      <p:sp>
        <p:nvSpPr>
          <p:cNvPr id="7" name="Text 3"/>
          <p:cNvSpPr txBox="1"/>
          <p:nvPr/>
        </p:nvSpPr>
        <p:spPr>
          <a:xfrm>
            <a:off x="731520" y="4498848"/>
            <a:ext cx="2286000" cy="292608"/>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Commission cap</a:t>
            </a:r>
            <a:endParaRPr lang="en-US" sz="1400" dirty="0"/>
          </a:p>
        </p:txBody>
      </p:sp>
      <p:sp>
        <p:nvSpPr>
          <p:cNvPr id="8" name="Text 4"/>
          <p:cNvSpPr txBox="1"/>
          <p:nvPr/>
        </p:nvSpPr>
        <p:spPr>
          <a:xfrm>
            <a:off x="731520" y="4846320"/>
            <a:ext cx="2286000" cy="960120"/>
          </a:xfrm>
          <a:prstGeom prst="rect">
            <a:avLst/>
          </a:prstGeom>
          <a:noFill/>
          <a:ln/>
        </p:spPr>
        <p:txBody>
          <a:bodyPr wrap="square" lIns="0" tIns="0" rIns="0" bIns="0" rtlCol="0" anchor="t"/>
          <a:lstStyle/>
          <a:p>
            <a:pPr indent="0" marL="0">
              <a:spcAft>
                <a:spcPts val="600"/>
              </a:spcAft>
              <a:buNone/>
            </a:pPr>
            <a:r>
              <a:rPr lang="en-US" sz="1200" dirty="0">
                <a:solidFill>
                  <a:srgbClr val="5F5C57"/>
                </a:solidFill>
                <a:latin typeface="Calibri" pitchFamily="34" charset="0"/>
                <a:ea typeface="Calibri" pitchFamily="34" charset="-122"/>
                <a:cs typeface="Calibri" pitchFamily="34" charset="-120"/>
              </a:rPr>
              <a:t>Motorbike rides only (Gojek, Grab); first test 27 October</a:t>
            </a:r>
            <a:endParaRPr lang="en-US" sz="1200" dirty="0"/>
          </a:p>
        </p:txBody>
      </p:sp>
      <p:sp>
        <p:nvSpPr>
          <p:cNvPr id="9" name="rule1"/>
          <p:cNvSpPr/>
          <p:nvPr/>
        </p:nvSpPr>
        <p:spPr>
          <a:xfrm>
            <a:off x="3346704" y="4343400"/>
            <a:ext cx="2615184" cy="1554480"/>
          </a:xfrm>
          <a:prstGeom prst="roundRect">
            <a:avLst>
              <a:gd name="adj" fmla="val 4706"/>
            </a:avLst>
          </a:prstGeom>
          <a:solidFill>
            <a:srgbClr val="FAF9F6"/>
          </a:solidFill>
          <a:ln w="9525">
            <a:solidFill>
              <a:srgbClr val="D9D5CD"/>
            </a:solidFill>
            <a:prstDash val="solid"/>
          </a:ln>
        </p:spPr>
      </p:sp>
      <p:sp>
        <p:nvSpPr>
          <p:cNvPr id="10" name="Text 6"/>
          <p:cNvSpPr txBox="1"/>
          <p:nvPr/>
        </p:nvSpPr>
        <p:spPr>
          <a:xfrm>
            <a:off x="3529584" y="4498848"/>
            <a:ext cx="2286000" cy="292608"/>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Discount rule</a:t>
            </a:r>
            <a:endParaRPr lang="en-US" sz="1400" dirty="0"/>
          </a:p>
        </p:txBody>
      </p:sp>
      <p:sp>
        <p:nvSpPr>
          <p:cNvPr id="11" name="Text 7"/>
          <p:cNvSpPr txBox="1"/>
          <p:nvPr/>
        </p:nvSpPr>
        <p:spPr>
          <a:xfrm>
            <a:off x="3529584" y="4846320"/>
            <a:ext cx="2286000" cy="960120"/>
          </a:xfrm>
          <a:prstGeom prst="rect">
            <a:avLst/>
          </a:prstGeom>
          <a:noFill/>
          <a:ln/>
        </p:spPr>
        <p:txBody>
          <a:bodyPr wrap="square" lIns="0" tIns="0" rIns="0" bIns="0" rtlCol="0" anchor="t"/>
          <a:lstStyle/>
          <a:p>
            <a:pPr indent="0" marL="0">
              <a:spcAft>
                <a:spcPts val="600"/>
              </a:spcAft>
              <a:buNone/>
            </a:pPr>
            <a:r>
              <a:rPr lang="en-US" sz="1200" dirty="0">
                <a:solidFill>
                  <a:srgbClr val="5F5C57"/>
                </a:solidFill>
                <a:latin typeface="Calibri" pitchFamily="34" charset="0"/>
                <a:ea typeface="Calibri" pitchFamily="34" charset="-122"/>
                <a:cs typeface="Calibri" pitchFamily="34" charset="-120"/>
              </a:rPr>
              <a:t>Targets discounts the platforms were already cutting</a:t>
            </a:r>
            <a:endParaRPr lang="en-US" sz="1200" dirty="0"/>
          </a:p>
        </p:txBody>
      </p:sp>
      <p:sp>
        <p:nvSpPr>
          <p:cNvPr id="12" name="rule2"/>
          <p:cNvSpPr/>
          <p:nvPr/>
        </p:nvSpPr>
        <p:spPr>
          <a:xfrm>
            <a:off x="6144768" y="4343400"/>
            <a:ext cx="2615184" cy="1554480"/>
          </a:xfrm>
          <a:prstGeom prst="roundRect">
            <a:avLst>
              <a:gd name="adj" fmla="val 4706"/>
            </a:avLst>
          </a:prstGeom>
          <a:solidFill>
            <a:srgbClr val="FAF9F6"/>
          </a:solidFill>
          <a:ln w="9525">
            <a:solidFill>
              <a:srgbClr val="D9D5CD"/>
            </a:solidFill>
            <a:prstDash val="solid"/>
          </a:ln>
        </p:spPr>
      </p:sp>
      <p:sp>
        <p:nvSpPr>
          <p:cNvPr id="13" name="Text 9"/>
          <p:cNvSpPr txBox="1"/>
          <p:nvPr/>
        </p:nvSpPr>
        <p:spPr>
          <a:xfrm>
            <a:off x="6327648" y="4498848"/>
            <a:ext cx="2286000" cy="292608"/>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Marketplace tax</a:t>
            </a:r>
            <a:endParaRPr lang="en-US" sz="1400" dirty="0"/>
          </a:p>
        </p:txBody>
      </p:sp>
      <p:sp>
        <p:nvSpPr>
          <p:cNvPr id="14" name="Text 10"/>
          <p:cNvSpPr txBox="1"/>
          <p:nvPr/>
        </p:nvSpPr>
        <p:spPr>
          <a:xfrm>
            <a:off x="6327648" y="4846320"/>
            <a:ext cx="2286000" cy="960120"/>
          </a:xfrm>
          <a:prstGeom prst="rect">
            <a:avLst/>
          </a:prstGeom>
          <a:noFill/>
          <a:ln/>
        </p:spPr>
        <p:txBody>
          <a:bodyPr wrap="square" lIns="0" tIns="0" rIns="0" bIns="0" rtlCol="0" anchor="t"/>
          <a:lstStyle/>
          <a:p>
            <a:pPr indent="0" marL="0">
              <a:spcAft>
                <a:spcPts val="600"/>
              </a:spcAft>
              <a:buNone/>
            </a:pPr>
            <a:r>
              <a:rPr lang="en-US" sz="1200" dirty="0">
                <a:solidFill>
                  <a:srgbClr val="5F5C57"/>
                </a:solidFill>
                <a:latin typeface="Calibri" pitchFamily="34" charset="0"/>
                <a:ea typeface="Calibri" pitchFamily="34" charset="-122"/>
                <a:cs typeface="Calibri" pitchFamily="34" charset="-120"/>
              </a:rPr>
              <a:t>Can collect from about 1 seller in 20; puts every marketplace seller on record</a:t>
            </a:r>
            <a:endParaRPr lang="en-US" sz="1200" dirty="0"/>
          </a:p>
        </p:txBody>
      </p:sp>
      <p:sp>
        <p:nvSpPr>
          <p:cNvPr id="15" name="rule3"/>
          <p:cNvSpPr/>
          <p:nvPr/>
        </p:nvSpPr>
        <p:spPr>
          <a:xfrm>
            <a:off x="8942832" y="4343400"/>
            <a:ext cx="2615184" cy="1554480"/>
          </a:xfrm>
          <a:prstGeom prst="roundRect">
            <a:avLst>
              <a:gd name="adj" fmla="val 4706"/>
            </a:avLst>
          </a:prstGeom>
          <a:solidFill>
            <a:srgbClr val="FAF9F6"/>
          </a:solidFill>
          <a:ln w="9525">
            <a:solidFill>
              <a:srgbClr val="D9D5CD"/>
            </a:solidFill>
            <a:prstDash val="solid"/>
          </a:ln>
        </p:spPr>
      </p:sp>
      <p:sp>
        <p:nvSpPr>
          <p:cNvPr id="16" name="Text 12"/>
          <p:cNvSpPr txBox="1"/>
          <p:nvPr/>
        </p:nvSpPr>
        <p:spPr>
          <a:xfrm>
            <a:off x="9125712" y="4498848"/>
            <a:ext cx="2286000" cy="292608"/>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2026 census</a:t>
            </a:r>
            <a:endParaRPr lang="en-US" sz="1400" dirty="0"/>
          </a:p>
        </p:txBody>
      </p:sp>
      <p:sp>
        <p:nvSpPr>
          <p:cNvPr id="17" name="Text 13"/>
          <p:cNvSpPr txBox="1"/>
          <p:nvPr/>
        </p:nvSpPr>
        <p:spPr>
          <a:xfrm>
            <a:off x="9125712" y="4846320"/>
            <a:ext cx="2286000" cy="960120"/>
          </a:xfrm>
          <a:prstGeom prst="rect">
            <a:avLst/>
          </a:prstGeom>
          <a:noFill/>
          <a:ln/>
        </p:spPr>
        <p:txBody>
          <a:bodyPr wrap="square" lIns="0" tIns="0" rIns="0" bIns="0" rtlCol="0" anchor="t"/>
          <a:lstStyle/>
          <a:p>
            <a:pPr indent="0" marL="0">
              <a:spcAft>
                <a:spcPts val="600"/>
              </a:spcAft>
              <a:buNone/>
            </a:pPr>
            <a:r>
              <a:rPr lang="en-US" sz="1200" dirty="0">
                <a:solidFill>
                  <a:srgbClr val="5F5C57"/>
                </a:solidFill>
                <a:latin typeface="Calibri" pitchFamily="34" charset="0"/>
                <a:ea typeface="Calibri" pitchFamily="34" charset="-122"/>
                <a:cs typeface="Calibri" pitchFamily="34" charset="-120"/>
              </a:rPr>
              <a:t>Reaches the same group the 2023 count found: the next jump may be counting again</a:t>
            </a:r>
            <a:endParaRPr lang="en-US" sz="1200" dirty="0"/>
          </a:p>
        </p:txBody>
      </p:sp>
      <p:sp>
        <p:nvSpPr>
          <p:cNvPr id="18" name="Text 14"/>
          <p:cNvSpPr txBox="1"/>
          <p:nvPr/>
        </p:nvSpPr>
        <p:spPr>
          <a:xfrm>
            <a:off x="548640" y="6035040"/>
            <a:ext cx="11064240" cy="320040"/>
          </a:xfrm>
          <a:prstGeom prst="rect">
            <a:avLst/>
          </a:prstGeom>
          <a:noFill/>
          <a:ln/>
        </p:spPr>
        <p:txBody>
          <a:bodyPr wrap="square" lIns="0" tIns="0" rIns="0" bIns="0" rtlCol="0" anchor="t"/>
          <a:lstStyle/>
          <a:p>
            <a:pPr indent="0" marL="0">
              <a:spcAft>
                <a:spcPts val="600"/>
              </a:spcAft>
              <a:buNone/>
            </a:pPr>
            <a:r>
              <a:rPr lang="en-US" sz="1000" i="1" dirty="0">
                <a:solidFill>
                  <a:srgbClr val="8A8782"/>
                </a:solidFill>
                <a:latin typeface="Calibri" pitchFamily="34" charset="0"/>
                <a:ea typeface="Calibri" pitchFamily="34" charset="-122"/>
                <a:cs typeface="Calibri" pitchFamily="34" charset="-120"/>
              </a:rPr>
              <a:t>PMK 37/2025; Permendag 19/2026; Perpres 27/2026 as announced; BPS survey microdata. Abroad: OECD (2020), Directive 2021/514, BIR RR 16-2023, Decree 117/2025/ND-CP.</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Answers to the questions from the oral</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“Each question now has an answer in the thesis, not just at the podium.”</a:t>
            </a:r>
            <a:endParaRPr lang="en-US" sz="1500" dirty="0"/>
          </a:p>
        </p:txBody>
      </p:sp>
      <p:sp>
        <p:nvSpPr>
          <p:cNvPr id="5" name="qa0"/>
          <p:cNvSpPr/>
          <p:nvPr/>
        </p:nvSpPr>
        <p:spPr>
          <a:xfrm>
            <a:off x="548640" y="1691640"/>
            <a:ext cx="11064240" cy="731520"/>
          </a:xfrm>
          <a:prstGeom prst="roundRect">
            <a:avLst>
              <a:gd name="adj" fmla="val 10000"/>
            </a:avLst>
          </a:prstGeom>
          <a:solidFill>
            <a:srgbClr val="FAF9F6"/>
          </a:solidFill>
          <a:ln w="9525">
            <a:solidFill>
              <a:srgbClr val="D9D5CD"/>
            </a:solidFill>
            <a:prstDash val="solid"/>
          </a:ln>
        </p:spPr>
      </p:sp>
      <p:sp>
        <p:nvSpPr>
          <p:cNvPr id="6" name="Text 3"/>
          <p:cNvSpPr txBox="1"/>
          <p:nvPr/>
        </p:nvSpPr>
        <p:spPr>
          <a:xfrm>
            <a:off x="777240" y="1810512"/>
            <a:ext cx="4023360" cy="502920"/>
          </a:xfrm>
          <a:prstGeom prst="rect">
            <a:avLst/>
          </a:prstGeom>
          <a:noFill/>
          <a:ln/>
        </p:spPr>
        <p:txBody>
          <a:bodyPr wrap="square" lIns="0" tIns="0" rIns="0" bIns="0" rtlCol="0" anchor="ctr"/>
          <a:lstStyle/>
          <a:p>
            <a:pPr indent="0" marL="0">
              <a:spcAft>
                <a:spcPts val="600"/>
              </a:spcAft>
              <a:buNone/>
            </a:pPr>
            <a:r>
              <a:rPr lang="en-US" sz="1300" b="1" dirty="0">
                <a:solidFill>
                  <a:srgbClr val="1A1A1A"/>
                </a:solidFill>
                <a:latin typeface="Calibri" pitchFamily="34" charset="0"/>
                <a:ea typeface="Calibri" pitchFamily="34" charset="-122"/>
                <a:cs typeface="Calibri" pitchFamily="34" charset="-120"/>
              </a:rPr>
              <a:t>Prof. Thomas: what is the point of the wedge?</a:t>
            </a:r>
            <a:endParaRPr lang="en-US" sz="1300" dirty="0"/>
          </a:p>
        </p:txBody>
      </p:sp>
      <p:sp>
        <p:nvSpPr>
          <p:cNvPr id="7" name="Text 4"/>
          <p:cNvSpPr txBox="1"/>
          <p:nvPr/>
        </p:nvSpPr>
        <p:spPr>
          <a:xfrm>
            <a:off x="4937760" y="1810512"/>
            <a:ext cx="6492240" cy="502920"/>
          </a:xfrm>
          <a:prstGeom prst="rect">
            <a:avLst/>
          </a:prstGeom>
          <a:noFill/>
          <a:ln/>
        </p:spPr>
        <p:txBody>
          <a:bodyPr wrap="square" lIns="0" tIns="0" rIns="0" bIns="0" rtlCol="0" anchor="ctr"/>
          <a:lstStyle/>
          <a:p>
            <a:pPr indent="0" marL="0">
              <a:spcAft>
                <a:spcPts val="600"/>
              </a:spcAft>
              <a:buNone/>
            </a:pPr>
            <a:r>
              <a:rPr lang="en-US" sz="1300" dirty="0">
                <a:solidFill>
                  <a:srgbClr val="3A3834"/>
                </a:solidFill>
                <a:latin typeface="Calibri" pitchFamily="34" charset="0"/>
                <a:ea typeface="Calibri" pitchFamily="34" charset="-122"/>
                <a:cs typeface="Calibri" pitchFamily="34" charset="-120"/>
              </a:rPr>
              <a:t>Its size sets how far a price change moves revenue growth. The wedge is why growth divergence is large in Indonesia.</a:t>
            </a:r>
            <a:endParaRPr lang="en-US" sz="1300" dirty="0"/>
          </a:p>
        </p:txBody>
      </p:sp>
      <p:sp>
        <p:nvSpPr>
          <p:cNvPr id="8" name="qa1"/>
          <p:cNvSpPr/>
          <p:nvPr/>
        </p:nvSpPr>
        <p:spPr>
          <a:xfrm>
            <a:off x="548640" y="2542032"/>
            <a:ext cx="11064240" cy="731520"/>
          </a:xfrm>
          <a:prstGeom prst="roundRect">
            <a:avLst>
              <a:gd name="adj" fmla="val 10000"/>
            </a:avLst>
          </a:prstGeom>
          <a:solidFill>
            <a:srgbClr val="FAF9F6"/>
          </a:solidFill>
          <a:ln w="9525">
            <a:solidFill>
              <a:srgbClr val="D9D5CD"/>
            </a:solidFill>
            <a:prstDash val="solid"/>
          </a:ln>
        </p:spPr>
      </p:sp>
      <p:sp>
        <p:nvSpPr>
          <p:cNvPr id="9" name="Text 6"/>
          <p:cNvSpPr txBox="1"/>
          <p:nvPr/>
        </p:nvSpPr>
        <p:spPr>
          <a:xfrm>
            <a:off x="777240" y="2660904"/>
            <a:ext cx="4023360" cy="502920"/>
          </a:xfrm>
          <a:prstGeom prst="rect">
            <a:avLst/>
          </a:prstGeom>
          <a:noFill/>
          <a:ln/>
        </p:spPr>
        <p:txBody>
          <a:bodyPr wrap="square" lIns="0" tIns="0" rIns="0" bIns="0" rtlCol="0" anchor="ctr"/>
          <a:lstStyle/>
          <a:p>
            <a:pPr indent="0" marL="0">
              <a:spcAft>
                <a:spcPts val="600"/>
              </a:spcAft>
              <a:buNone/>
            </a:pPr>
            <a:r>
              <a:rPr lang="en-US" sz="1300" b="1" dirty="0">
                <a:solidFill>
                  <a:srgbClr val="1A1A1A"/>
                </a:solidFill>
                <a:latin typeface="Calibri" pitchFamily="34" charset="0"/>
                <a:ea typeface="Calibri" pitchFamily="34" charset="-122"/>
                <a:cs typeface="Calibri" pitchFamily="34" charset="-120"/>
              </a:rPr>
              <a:t>Prof. Thomas: the ride-hailing commission cap</a:t>
            </a:r>
            <a:endParaRPr lang="en-US" sz="1300" dirty="0"/>
          </a:p>
        </p:txBody>
      </p:sp>
      <p:sp>
        <p:nvSpPr>
          <p:cNvPr id="10" name="Text 7"/>
          <p:cNvSpPr txBox="1"/>
          <p:nvPr/>
        </p:nvSpPr>
        <p:spPr>
          <a:xfrm>
            <a:off x="4937760" y="2660904"/>
            <a:ext cx="6492240" cy="502920"/>
          </a:xfrm>
          <a:prstGeom prst="rect">
            <a:avLst/>
          </a:prstGeom>
          <a:noFill/>
          <a:ln/>
        </p:spPr>
        <p:txBody>
          <a:bodyPr wrap="square" lIns="0" tIns="0" rIns="0" bIns="0" rtlCol="0" anchor="ctr"/>
          <a:lstStyle/>
          <a:p>
            <a:pPr indent="0" marL="0">
              <a:spcAft>
                <a:spcPts val="600"/>
              </a:spcAft>
              <a:buNone/>
            </a:pPr>
            <a:r>
              <a:rPr lang="en-US" sz="1300" dirty="0">
                <a:solidFill>
                  <a:srgbClr val="3A3834"/>
                </a:solidFill>
                <a:latin typeface="Calibri" pitchFamily="34" charset="0"/>
                <a:ea typeface="Calibri" pitchFamily="34" charset="-122"/>
                <a:cs typeface="Calibri" pitchFamily="34" charset="-120"/>
              </a:rPr>
              <a:t>Scoped to motorbike rides; its slice of the measure is shown; predictions are scored on 27 October and in mid-November.</a:t>
            </a:r>
            <a:endParaRPr lang="en-US" sz="1300" dirty="0"/>
          </a:p>
        </p:txBody>
      </p:sp>
      <p:sp>
        <p:nvSpPr>
          <p:cNvPr id="11" name="qa2"/>
          <p:cNvSpPr/>
          <p:nvPr/>
        </p:nvSpPr>
        <p:spPr>
          <a:xfrm>
            <a:off x="548640" y="3392424"/>
            <a:ext cx="11064240" cy="731520"/>
          </a:xfrm>
          <a:prstGeom prst="roundRect">
            <a:avLst>
              <a:gd name="adj" fmla="val 10000"/>
            </a:avLst>
          </a:prstGeom>
          <a:solidFill>
            <a:srgbClr val="FAF9F6"/>
          </a:solidFill>
          <a:ln w="9525">
            <a:solidFill>
              <a:srgbClr val="D9D5CD"/>
            </a:solidFill>
            <a:prstDash val="solid"/>
          </a:ln>
        </p:spPr>
      </p:sp>
      <p:sp>
        <p:nvSpPr>
          <p:cNvPr id="12" name="Text 9"/>
          <p:cNvSpPr txBox="1"/>
          <p:nvPr/>
        </p:nvSpPr>
        <p:spPr>
          <a:xfrm>
            <a:off x="777240" y="3511296"/>
            <a:ext cx="4023360" cy="502920"/>
          </a:xfrm>
          <a:prstGeom prst="rect">
            <a:avLst/>
          </a:prstGeom>
          <a:noFill/>
          <a:ln/>
        </p:spPr>
        <p:txBody>
          <a:bodyPr wrap="square" lIns="0" tIns="0" rIns="0" bIns="0" rtlCol="0" anchor="ctr"/>
          <a:lstStyle/>
          <a:p>
            <a:pPr indent="0" marL="0">
              <a:spcAft>
                <a:spcPts val="600"/>
              </a:spcAft>
              <a:buNone/>
            </a:pPr>
            <a:r>
              <a:rPr lang="en-US" sz="1300" b="1" dirty="0">
                <a:solidFill>
                  <a:srgbClr val="1A1A1A"/>
                </a:solidFill>
                <a:latin typeface="Calibri" pitchFamily="34" charset="0"/>
                <a:ea typeface="Calibri" pitchFamily="34" charset="-122"/>
                <a:cs typeface="Calibri" pitchFamily="34" charset="-120"/>
              </a:rPr>
              <a:t>Prof. Thomas: politics and the players</a:t>
            </a:r>
            <a:endParaRPr lang="en-US" sz="1300" dirty="0"/>
          </a:p>
        </p:txBody>
      </p:sp>
      <p:sp>
        <p:nvSpPr>
          <p:cNvPr id="13" name="Text 10"/>
          <p:cNvSpPr txBox="1"/>
          <p:nvPr/>
        </p:nvSpPr>
        <p:spPr>
          <a:xfrm>
            <a:off x="4937760" y="3511296"/>
            <a:ext cx="6492240" cy="502920"/>
          </a:xfrm>
          <a:prstGeom prst="rect">
            <a:avLst/>
          </a:prstGeom>
          <a:noFill/>
          <a:ln/>
        </p:spPr>
        <p:txBody>
          <a:bodyPr wrap="square" lIns="0" tIns="0" rIns="0" bIns="0" rtlCol="0" anchor="ctr"/>
          <a:lstStyle/>
          <a:p>
            <a:pPr indent="0" marL="0">
              <a:spcAft>
                <a:spcPts val="600"/>
              </a:spcAft>
              <a:buNone/>
            </a:pPr>
            <a:r>
              <a:rPr lang="en-US" sz="1300" dirty="0">
                <a:solidFill>
                  <a:srgbClr val="3A3834"/>
                </a:solidFill>
                <a:latin typeface="Calibri" pitchFamily="34" charset="0"/>
                <a:ea typeface="Calibri" pitchFamily="34" charset="-122"/>
                <a:cs typeface="Calibri" pitchFamily="34" charset="-120"/>
              </a:rPr>
              <a:t>The rules chapter maps each rule to the number it acts on and how far it reaches. No causal claims.</a:t>
            </a:r>
            <a:endParaRPr lang="en-US" sz="1300" dirty="0"/>
          </a:p>
        </p:txBody>
      </p:sp>
      <p:sp>
        <p:nvSpPr>
          <p:cNvPr id="14" name="qa3"/>
          <p:cNvSpPr/>
          <p:nvPr/>
        </p:nvSpPr>
        <p:spPr>
          <a:xfrm>
            <a:off x="548640" y="4242816"/>
            <a:ext cx="11064240" cy="731520"/>
          </a:xfrm>
          <a:prstGeom prst="roundRect">
            <a:avLst>
              <a:gd name="adj" fmla="val 10000"/>
            </a:avLst>
          </a:prstGeom>
          <a:solidFill>
            <a:srgbClr val="FAF9F6"/>
          </a:solidFill>
          <a:ln w="9525">
            <a:solidFill>
              <a:srgbClr val="D9D5CD"/>
            </a:solidFill>
            <a:prstDash val="solid"/>
          </a:ln>
        </p:spPr>
      </p:sp>
      <p:sp>
        <p:nvSpPr>
          <p:cNvPr id="15" name="Text 12"/>
          <p:cNvSpPr txBox="1"/>
          <p:nvPr/>
        </p:nvSpPr>
        <p:spPr>
          <a:xfrm>
            <a:off x="777240" y="4361688"/>
            <a:ext cx="4023360" cy="502920"/>
          </a:xfrm>
          <a:prstGeom prst="rect">
            <a:avLst/>
          </a:prstGeom>
          <a:noFill/>
          <a:ln/>
        </p:spPr>
        <p:txBody>
          <a:bodyPr wrap="square" lIns="0" tIns="0" rIns="0" bIns="0" rtlCol="0" anchor="ctr"/>
          <a:lstStyle/>
          <a:p>
            <a:pPr indent="0" marL="0">
              <a:spcAft>
                <a:spcPts val="600"/>
              </a:spcAft>
              <a:buNone/>
            </a:pPr>
            <a:r>
              <a:rPr lang="en-US" sz="1300" b="1" dirty="0">
                <a:solidFill>
                  <a:srgbClr val="1A1A1A"/>
                </a:solidFill>
                <a:latin typeface="Calibri" pitchFamily="34" charset="0"/>
                <a:ea typeface="Calibri" pitchFamily="34" charset="-122"/>
                <a:cs typeface="Calibri" pitchFamily="34" charset="-120"/>
              </a:rPr>
              <a:t>Prof. Kong: how transaction value compares across platforms</a:t>
            </a:r>
            <a:endParaRPr lang="en-US" sz="1300" dirty="0"/>
          </a:p>
        </p:txBody>
      </p:sp>
      <p:sp>
        <p:nvSpPr>
          <p:cNvPr id="16" name="Text 13"/>
          <p:cNvSpPr txBox="1"/>
          <p:nvPr/>
        </p:nvSpPr>
        <p:spPr>
          <a:xfrm>
            <a:off x="4937760" y="4361688"/>
            <a:ext cx="6492240" cy="502920"/>
          </a:xfrm>
          <a:prstGeom prst="rect">
            <a:avLst/>
          </a:prstGeom>
          <a:noFill/>
          <a:ln/>
        </p:spPr>
        <p:txBody>
          <a:bodyPr wrap="square" lIns="0" tIns="0" rIns="0" bIns="0" rtlCol="0" anchor="ctr"/>
          <a:lstStyle/>
          <a:p>
            <a:pPr indent="0" marL="0">
              <a:spcAft>
                <a:spcPts val="600"/>
              </a:spcAft>
              <a:buNone/>
            </a:pPr>
            <a:r>
              <a:rPr lang="en-US" sz="1300" dirty="0">
                <a:solidFill>
                  <a:srgbClr val="3A3834"/>
                </a:solidFill>
                <a:latin typeface="Calibri" pitchFamily="34" charset="0"/>
                <a:ea typeface="Calibri" pitchFamily="34" charset="-122"/>
                <a:cs typeface="Calibri" pitchFamily="34" charset="-120"/>
              </a:rPr>
              <a:t>A definition map of each platform's transaction value, in the appendix.</a:t>
            </a:r>
            <a:endParaRPr lang="en-US" sz="1300" dirty="0"/>
          </a:p>
        </p:txBody>
      </p:sp>
      <p:sp>
        <p:nvSpPr>
          <p:cNvPr id="17" name="qa4"/>
          <p:cNvSpPr/>
          <p:nvPr/>
        </p:nvSpPr>
        <p:spPr>
          <a:xfrm>
            <a:off x="548640" y="5093208"/>
            <a:ext cx="11064240" cy="731520"/>
          </a:xfrm>
          <a:prstGeom prst="roundRect">
            <a:avLst>
              <a:gd name="adj" fmla="val 10000"/>
            </a:avLst>
          </a:prstGeom>
          <a:solidFill>
            <a:srgbClr val="FAF9F6"/>
          </a:solidFill>
          <a:ln w="9525">
            <a:solidFill>
              <a:srgbClr val="D9D5CD"/>
            </a:solidFill>
            <a:prstDash val="solid"/>
          </a:ln>
        </p:spPr>
      </p:sp>
      <p:sp>
        <p:nvSpPr>
          <p:cNvPr id="18" name="Text 15"/>
          <p:cNvSpPr txBox="1"/>
          <p:nvPr/>
        </p:nvSpPr>
        <p:spPr>
          <a:xfrm>
            <a:off x="777240" y="5212080"/>
            <a:ext cx="4023360" cy="502920"/>
          </a:xfrm>
          <a:prstGeom prst="rect">
            <a:avLst/>
          </a:prstGeom>
          <a:noFill/>
          <a:ln/>
        </p:spPr>
        <p:txBody>
          <a:bodyPr wrap="square" lIns="0" tIns="0" rIns="0" bIns="0" rtlCol="0" anchor="ctr"/>
          <a:lstStyle/>
          <a:p>
            <a:pPr indent="0" marL="0">
              <a:spcAft>
                <a:spcPts val="600"/>
              </a:spcAft>
              <a:buNone/>
            </a:pPr>
            <a:r>
              <a:rPr lang="en-US" sz="1300" b="1" dirty="0">
                <a:solidFill>
                  <a:srgbClr val="1A1A1A"/>
                </a:solidFill>
                <a:latin typeface="Calibri" pitchFamily="34" charset="0"/>
                <a:ea typeface="Calibri" pitchFamily="34" charset="-122"/>
                <a:cs typeface="Calibri" pitchFamily="34" charset="-120"/>
              </a:rPr>
              <a:t>Prof. Kong: hard to read, too cautious</a:t>
            </a:r>
            <a:endParaRPr lang="en-US" sz="1300" dirty="0"/>
          </a:p>
        </p:txBody>
      </p:sp>
      <p:sp>
        <p:nvSpPr>
          <p:cNvPr id="19" name="Text 16"/>
          <p:cNvSpPr txBox="1"/>
          <p:nvPr/>
        </p:nvSpPr>
        <p:spPr>
          <a:xfrm>
            <a:off x="4937760" y="5212080"/>
            <a:ext cx="6492240" cy="502920"/>
          </a:xfrm>
          <a:prstGeom prst="rect">
            <a:avLst/>
          </a:prstGeom>
          <a:noFill/>
          <a:ln/>
        </p:spPr>
        <p:txBody>
          <a:bodyPr wrap="square" lIns="0" tIns="0" rIns="0" bIns="0" rtlCol="0" anchor="ctr"/>
          <a:lstStyle/>
          <a:p>
            <a:pPr indent="0" marL="0">
              <a:spcAft>
                <a:spcPts val="600"/>
              </a:spcAft>
              <a:buNone/>
            </a:pPr>
            <a:r>
              <a:rPr lang="en-US" sz="1300" dirty="0">
                <a:solidFill>
                  <a:srgbClr val="3A3834"/>
                </a:solidFill>
                <a:latin typeface="Calibri" pitchFamily="34" charset="0"/>
                <a:ea typeface="Calibri" pitchFamily="34" charset="-122"/>
                <a:cs typeface="Calibri" pitchFamily="34" charset="-120"/>
              </a:rPr>
              <a:t>A plain story with one line from start to end; the centre is a bolder, tested claim about the official count.</a:t>
            </a:r>
            <a:endParaRPr lang="en-US" sz="13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What we corrected along the way</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“Each correction made a claim smaller and the thesis harder to knock over.”</a:t>
            </a:r>
            <a:endParaRPr lang="en-US" sz="1500" dirty="0"/>
          </a:p>
        </p:txBody>
      </p:sp>
      <p:sp>
        <p:nvSpPr>
          <p:cNvPr id="5" name="Text 2"/>
          <p:cNvSpPr txBox="1"/>
          <p:nvPr/>
        </p:nvSpPr>
        <p:spPr>
          <a:xfrm>
            <a:off x="548640" y="1691640"/>
            <a:ext cx="457200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A33A2C"/>
                </a:solidFill>
                <a:latin typeface="Calibri" pitchFamily="34" charset="0"/>
                <a:ea typeface="Calibri" pitchFamily="34" charset="-122"/>
                <a:cs typeface="Calibri" pitchFamily="34" charset="-120"/>
              </a:rPr>
              <a:t>BEFORE</a:t>
            </a:r>
            <a:endParaRPr lang="en-US" sz="1100" dirty="0"/>
          </a:p>
        </p:txBody>
      </p:sp>
      <p:sp>
        <p:nvSpPr>
          <p:cNvPr id="6" name="Text 3"/>
          <p:cNvSpPr txBox="1"/>
          <p:nvPr/>
        </p:nvSpPr>
        <p:spPr>
          <a:xfrm>
            <a:off x="6035040" y="1691640"/>
            <a:ext cx="457200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NOW</a:t>
            </a:r>
            <a:endParaRPr lang="en-US" sz="1100" dirty="0"/>
          </a:p>
        </p:txBody>
      </p:sp>
      <p:sp>
        <p:nvSpPr>
          <p:cNvPr id="7" name="Text 4"/>
          <p:cNvSpPr txBox="1"/>
          <p:nvPr/>
        </p:nvSpPr>
        <p:spPr>
          <a:xfrm>
            <a:off x="548640" y="2057400"/>
            <a:ext cx="5120640" cy="640080"/>
          </a:xfrm>
          <a:prstGeom prst="rect">
            <a:avLst/>
          </a:prstGeom>
          <a:noFill/>
          <a:ln/>
        </p:spPr>
        <p:txBody>
          <a:bodyPr wrap="square" lIns="0" tIns="0" rIns="0" bIns="0" rtlCol="0" anchor="t"/>
          <a:lstStyle/>
          <a:p>
            <a:pPr indent="0" marL="0">
              <a:spcAft>
                <a:spcPts val="600"/>
              </a:spcAft>
              <a:buNone/>
            </a:pPr>
            <a:r>
              <a:rPr lang="en-US" sz="1400" i="1" dirty="0">
                <a:solidFill>
                  <a:srgbClr val="5F5C57"/>
                </a:solidFill>
                <a:latin typeface="Calibri" pitchFamily="34" charset="0"/>
                <a:ea typeface="Calibri" pitchFamily="34" charset="-122"/>
                <a:cs typeface="Calibri" pitchFamily="34" charset="-120"/>
              </a:rPr>
              <a:t>“Indonesian platforms changed their prices far more”</a:t>
            </a:r>
            <a:endParaRPr lang="en-US" sz="1400" dirty="0"/>
          </a:p>
        </p:txBody>
      </p:sp>
      <p:sp>
        <p:nvSpPr>
          <p:cNvPr id="8" name="Text 5"/>
          <p:cNvSpPr txBox="1"/>
          <p:nvPr/>
        </p:nvSpPr>
        <p:spPr>
          <a:xfrm>
            <a:off x="6035040" y="2057400"/>
            <a:ext cx="5577840" cy="64008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Same price changes in rupiah; a much thinner slice</a:t>
            </a:r>
            <a:endParaRPr lang="en-US" sz="1400" dirty="0"/>
          </a:p>
        </p:txBody>
      </p:sp>
      <p:sp>
        <p:nvSpPr>
          <p:cNvPr id="9" name="Shape 6"/>
          <p:cNvSpPr/>
          <p:nvPr/>
        </p:nvSpPr>
        <p:spPr>
          <a:xfrm>
            <a:off x="548640" y="2734056"/>
            <a:ext cx="11064240" cy="0"/>
          </a:xfrm>
          <a:prstGeom prst="line">
            <a:avLst/>
          </a:prstGeom>
          <a:noFill/>
          <a:ln w="9525">
            <a:solidFill>
              <a:srgbClr val="D9D5CD"/>
            </a:solidFill>
            <a:prstDash val="solid"/>
          </a:ln>
        </p:spPr>
      </p:sp>
      <p:sp>
        <p:nvSpPr>
          <p:cNvPr id="10" name="Text 7"/>
          <p:cNvSpPr txBox="1"/>
          <p:nvPr/>
        </p:nvSpPr>
        <p:spPr>
          <a:xfrm>
            <a:off x="548640" y="2807208"/>
            <a:ext cx="5120640" cy="640080"/>
          </a:xfrm>
          <a:prstGeom prst="rect">
            <a:avLst/>
          </a:prstGeom>
          <a:noFill/>
          <a:ln/>
        </p:spPr>
        <p:txBody>
          <a:bodyPr wrap="square" lIns="0" tIns="0" rIns="0" bIns="0" rtlCol="0" anchor="t"/>
          <a:lstStyle/>
          <a:p>
            <a:pPr indent="0" marL="0">
              <a:spcAft>
                <a:spcPts val="600"/>
              </a:spcAft>
              <a:buNone/>
            </a:pPr>
            <a:r>
              <a:rPr lang="en-US" sz="1400" i="1" dirty="0">
                <a:solidFill>
                  <a:srgbClr val="5F5C57"/>
                </a:solidFill>
                <a:latin typeface="Calibri" pitchFamily="34" charset="0"/>
                <a:ea typeface="Calibri" pitchFamily="34" charset="-122"/>
                <a:cs typeface="Calibri" pitchFamily="34" charset="-120"/>
              </a:rPr>
              <a:t>“Mostly newly counted sellers”</a:t>
            </a:r>
            <a:endParaRPr lang="en-US" sz="1400" dirty="0"/>
          </a:p>
        </p:txBody>
      </p:sp>
      <p:sp>
        <p:nvSpPr>
          <p:cNvPr id="11" name="Text 8"/>
          <p:cNvSpPr txBox="1"/>
          <p:nvPr/>
        </p:nvSpPr>
        <p:spPr>
          <a:xfrm>
            <a:off x="6035040" y="2807208"/>
            <a:ext cx="5577840" cy="64008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About half not explained by first-time entry (37-56%); returning sellers named</a:t>
            </a:r>
            <a:endParaRPr lang="en-US" sz="1400" dirty="0"/>
          </a:p>
        </p:txBody>
      </p:sp>
      <p:sp>
        <p:nvSpPr>
          <p:cNvPr id="12" name="Shape 9"/>
          <p:cNvSpPr/>
          <p:nvPr/>
        </p:nvSpPr>
        <p:spPr>
          <a:xfrm>
            <a:off x="548640" y="3483864"/>
            <a:ext cx="11064240" cy="0"/>
          </a:xfrm>
          <a:prstGeom prst="line">
            <a:avLst/>
          </a:prstGeom>
          <a:noFill/>
          <a:ln w="9525">
            <a:solidFill>
              <a:srgbClr val="D9D5CD"/>
            </a:solidFill>
            <a:prstDash val="solid"/>
          </a:ln>
        </p:spPr>
      </p:sp>
      <p:sp>
        <p:nvSpPr>
          <p:cNvPr id="13" name="Text 10"/>
          <p:cNvSpPr txBox="1"/>
          <p:nvPr/>
        </p:nvSpPr>
        <p:spPr>
          <a:xfrm>
            <a:off x="548640" y="3557016"/>
            <a:ext cx="5120640" cy="640080"/>
          </a:xfrm>
          <a:prstGeom prst="rect">
            <a:avLst/>
          </a:prstGeom>
          <a:noFill/>
          <a:ln/>
        </p:spPr>
        <p:txBody>
          <a:bodyPr wrap="square" lIns="0" tIns="0" rIns="0" bIns="0" rtlCol="0" anchor="t"/>
          <a:lstStyle/>
          <a:p>
            <a:pPr indent="0" marL="0">
              <a:spcAft>
                <a:spcPts val="600"/>
              </a:spcAft>
              <a:buNone/>
            </a:pPr>
            <a:r>
              <a:rPr lang="en-US" sz="1400" i="1" dirty="0">
                <a:solidFill>
                  <a:srgbClr val="5F5C57"/>
                </a:solidFill>
                <a:latin typeface="Calibri" pitchFamily="34" charset="0"/>
                <a:ea typeface="Calibri" pitchFamily="34" charset="-122"/>
                <a:cs typeface="Calibri" pitchFamily="34" charset="-120"/>
              </a:rPr>
              <a:t>“Markets did not pay up for fee-driven growth”</a:t>
            </a:r>
            <a:endParaRPr lang="en-US" sz="1400" dirty="0"/>
          </a:p>
        </p:txBody>
      </p:sp>
      <p:sp>
        <p:nvSpPr>
          <p:cNvPr id="14" name="Text 11"/>
          <p:cNvSpPr txBox="1"/>
          <p:nvPr/>
        </p:nvSpPr>
        <p:spPr>
          <a:xfrm>
            <a:off x="6035040" y="3557016"/>
            <a:ext cx="5577840" cy="64008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Market value moved with buying; the multiples comparison is arithmetic, not evidence</a:t>
            </a:r>
            <a:endParaRPr lang="en-US" sz="1400" dirty="0"/>
          </a:p>
        </p:txBody>
      </p:sp>
      <p:sp>
        <p:nvSpPr>
          <p:cNvPr id="15" name="Shape 12"/>
          <p:cNvSpPr/>
          <p:nvPr/>
        </p:nvSpPr>
        <p:spPr>
          <a:xfrm>
            <a:off x="548640" y="4233672"/>
            <a:ext cx="11064240" cy="0"/>
          </a:xfrm>
          <a:prstGeom prst="line">
            <a:avLst/>
          </a:prstGeom>
          <a:noFill/>
          <a:ln w="9525">
            <a:solidFill>
              <a:srgbClr val="D9D5CD"/>
            </a:solidFill>
            <a:prstDash val="solid"/>
          </a:ln>
        </p:spPr>
      </p:sp>
      <p:sp>
        <p:nvSpPr>
          <p:cNvPr id="16" name="Text 13"/>
          <p:cNvSpPr txBox="1"/>
          <p:nvPr/>
        </p:nvSpPr>
        <p:spPr>
          <a:xfrm>
            <a:off x="548640" y="4306824"/>
            <a:ext cx="5120640" cy="640080"/>
          </a:xfrm>
          <a:prstGeom prst="rect">
            <a:avLst/>
          </a:prstGeom>
          <a:noFill/>
          <a:ln/>
        </p:spPr>
        <p:txBody>
          <a:bodyPr wrap="square" lIns="0" tIns="0" rIns="0" bIns="0" rtlCol="0" anchor="t"/>
          <a:lstStyle/>
          <a:p>
            <a:pPr indent="0" marL="0">
              <a:spcAft>
                <a:spcPts val="600"/>
              </a:spcAft>
              <a:buNone/>
            </a:pPr>
            <a:r>
              <a:rPr lang="en-US" sz="1400" i="1" dirty="0">
                <a:solidFill>
                  <a:srgbClr val="5F5C57"/>
                </a:solidFill>
                <a:latin typeface="Calibri" pitchFamily="34" charset="0"/>
                <a:ea typeface="Calibri" pitchFamily="34" charset="-122"/>
                <a:cs typeface="Calibri" pitchFamily="34" charset="-120"/>
              </a:rPr>
              <a:t>“Two thirds of revenue growth came from the cut”</a:t>
            </a:r>
            <a:endParaRPr lang="en-US" sz="1400" dirty="0"/>
          </a:p>
        </p:txBody>
      </p:sp>
      <p:sp>
        <p:nvSpPr>
          <p:cNvPr id="17" name="Text 14"/>
          <p:cNvSpPr txBox="1"/>
          <p:nvPr/>
        </p:nvSpPr>
        <p:spPr>
          <a:xfrm>
            <a:off x="6035040" y="4306824"/>
            <a:ext cx="5577840" cy="64008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Two thirds of the movement, defined; not a share of net growth</a:t>
            </a:r>
            <a:endParaRPr lang="en-US" sz="1400" dirty="0"/>
          </a:p>
        </p:txBody>
      </p:sp>
      <p:sp>
        <p:nvSpPr>
          <p:cNvPr id="18" name="Shape 15"/>
          <p:cNvSpPr/>
          <p:nvPr/>
        </p:nvSpPr>
        <p:spPr>
          <a:xfrm>
            <a:off x="548640" y="4983480"/>
            <a:ext cx="11064240" cy="0"/>
          </a:xfrm>
          <a:prstGeom prst="line">
            <a:avLst/>
          </a:prstGeom>
          <a:noFill/>
          <a:ln w="9525">
            <a:solidFill>
              <a:srgbClr val="D9D5CD"/>
            </a:solidFill>
            <a:prstDash val="solid"/>
          </a:ln>
        </p:spPr>
      </p:sp>
      <p:sp>
        <p:nvSpPr>
          <p:cNvPr id="19" name="Text 16"/>
          <p:cNvSpPr txBox="1"/>
          <p:nvPr/>
        </p:nvSpPr>
        <p:spPr>
          <a:xfrm>
            <a:off x="548640" y="5056632"/>
            <a:ext cx="5120640" cy="640080"/>
          </a:xfrm>
          <a:prstGeom prst="rect">
            <a:avLst/>
          </a:prstGeom>
          <a:noFill/>
          <a:ln/>
        </p:spPr>
        <p:txBody>
          <a:bodyPr wrap="square" lIns="0" tIns="0" rIns="0" bIns="0" rtlCol="0" anchor="t"/>
          <a:lstStyle/>
          <a:p>
            <a:pPr indent="0" marL="0">
              <a:spcAft>
                <a:spcPts val="600"/>
              </a:spcAft>
              <a:buNone/>
            </a:pPr>
            <a:r>
              <a:rPr lang="en-US" sz="1400" i="1" dirty="0">
                <a:solidFill>
                  <a:srgbClr val="5F5C57"/>
                </a:solidFill>
                <a:latin typeface="Calibri" pitchFamily="34" charset="0"/>
                <a:ea typeface="Calibri" pitchFamily="34" charset="-122"/>
                <a:cs typeface="Calibri" pitchFamily="34" charset="-120"/>
              </a:rPr>
              <a:t>“No one has compared platform and national figures”</a:t>
            </a:r>
            <a:endParaRPr lang="en-US" sz="1400" dirty="0"/>
          </a:p>
        </p:txBody>
      </p:sp>
      <p:sp>
        <p:nvSpPr>
          <p:cNvPr id="20" name="Text 17"/>
          <p:cNvSpPr txBox="1"/>
          <p:nvPr/>
        </p:nvSpPr>
        <p:spPr>
          <a:xfrm>
            <a:off x="6035040" y="5056632"/>
            <a:ext cx="5577840" cy="64008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UNCTAD (2024) has; our contribution is the connected Indonesian evidence</a:t>
            </a:r>
            <a:endParaRPr lang="en-US" sz="1400" dirty="0"/>
          </a:p>
        </p:txBody>
      </p:sp>
      <p:sp>
        <p:nvSpPr>
          <p:cNvPr id="21" name="Shape 18"/>
          <p:cNvSpPr/>
          <p:nvPr/>
        </p:nvSpPr>
        <p:spPr>
          <a:xfrm>
            <a:off x="548640" y="5733288"/>
            <a:ext cx="11064240" cy="0"/>
          </a:xfrm>
          <a:prstGeom prst="line">
            <a:avLst/>
          </a:prstGeom>
          <a:noFill/>
          <a:ln w="9525">
            <a:solidFill>
              <a:srgbClr val="D9D5CD"/>
            </a:solidFill>
            <a:prstDash val="solid"/>
          </a:ln>
        </p:spPr>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Montserrat" pitchFamily="34" charset="0"/>
                <a:ea typeface="Montserrat" pitchFamily="34" charset="-122"/>
                <a:cs typeface="Montserrat" pitchFamily="34" charset="-120"/>
              </a:rPr>
              <a:t>Next: writing, and four dates outside our control</a:t>
            </a:r>
            <a:endParaRPr lang="en-US" sz="2600" dirty="0"/>
          </a:p>
        </p:txBody>
      </p:sp>
      <p:sp>
        <p:nvSpPr>
          <p:cNvPr id="3" name="Text 1"/>
          <p:cNvSpPr/>
          <p:nvPr>
            <p:ph idx="102" type="body" hasCustomPrompt="1"/>
          </p:nvPr>
        </p:nvSpPr>
        <p:spPr>
          <a:xfrm>
            <a:off x="548640" y="1024128"/>
            <a:ext cx="11064240" cy="411480"/>
          </a:xfrm>
          <a:prstGeom prst="rect">
            <a:avLst/>
          </a:prstGeom>
          <a:noFill/>
          <a:ln/>
        </p:spPr>
        <p:txBody>
          <a:bodyPr wrap="square" lIns="0" tIns="0" rIns="0" bIns="0" rtlCol="0" anchor="t"/>
          <a:lstStyle/>
          <a:p>
            <a:pPr indent="0" marL="0">
              <a:buNone/>
            </a:pPr>
            <a:r>
              <a:rPr lang="en-US" sz="1500" i="1" dirty="0">
                <a:solidFill>
                  <a:srgbClr val="3A3834"/>
                </a:solidFill>
                <a:latin typeface="Calibri" pitchFamily="34" charset="0"/>
                <a:ea typeface="Calibri" pitchFamily="34" charset="-122"/>
                <a:cs typeface="Calibri" pitchFamily="34" charset="-120"/>
              </a:rPr>
              <a:t>“The material is complete. What remains is writing it and scoring the predictions.”</a:t>
            </a:r>
            <a:endParaRPr lang="en-US" sz="1500" dirty="0"/>
          </a:p>
        </p:txBody>
      </p:sp>
      <p:sp>
        <p:nvSpPr>
          <p:cNvPr id="5" name="Shape 2"/>
          <p:cNvSpPr/>
          <p:nvPr/>
        </p:nvSpPr>
        <p:spPr>
          <a:xfrm>
            <a:off x="822960" y="2331720"/>
            <a:ext cx="8229600" cy="0"/>
          </a:xfrm>
          <a:prstGeom prst="line">
            <a:avLst/>
          </a:prstGeom>
          <a:noFill/>
          <a:ln w="19050">
            <a:solidFill>
              <a:srgbClr val="1F4E5F"/>
            </a:solidFill>
            <a:prstDash val="solid"/>
          </a:ln>
        </p:spPr>
      </p:sp>
      <p:sp>
        <p:nvSpPr>
          <p:cNvPr id="6" name="Shape 3"/>
          <p:cNvSpPr/>
          <p:nvPr/>
        </p:nvSpPr>
        <p:spPr>
          <a:xfrm>
            <a:off x="731520" y="2240280"/>
            <a:ext cx="182880" cy="182880"/>
          </a:xfrm>
          <a:prstGeom prst="ellipse">
            <a:avLst/>
          </a:prstGeom>
          <a:solidFill>
            <a:srgbClr val="1F4E5F"/>
          </a:solidFill>
          <a:ln w="12700">
            <a:solidFill>
              <a:srgbClr val="1F4E5F"/>
            </a:solidFill>
            <a:prstDash val="solid"/>
          </a:ln>
        </p:spPr>
      </p:sp>
      <p:sp>
        <p:nvSpPr>
          <p:cNvPr id="7" name="Text 4"/>
          <p:cNvSpPr txBox="1"/>
          <p:nvPr/>
        </p:nvSpPr>
        <p:spPr>
          <a:xfrm>
            <a:off x="731520" y="1783080"/>
            <a:ext cx="2560320" cy="32004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27 Oct</a:t>
            </a:r>
            <a:endParaRPr lang="en-US" sz="1400" dirty="0"/>
          </a:p>
        </p:txBody>
      </p:sp>
      <p:sp>
        <p:nvSpPr>
          <p:cNvPr id="8" name="Text 5"/>
          <p:cNvSpPr txBox="1"/>
          <p:nvPr/>
        </p:nvSpPr>
        <p:spPr>
          <a:xfrm>
            <a:off x="731520" y="2560320"/>
            <a:ext cx="2560320" cy="731520"/>
          </a:xfrm>
          <a:prstGeom prst="rect">
            <a:avLst/>
          </a:prstGeom>
          <a:noFill/>
          <a:ln/>
        </p:spPr>
        <p:txBody>
          <a:bodyPr wrap="square" lIns="0" tIns="0" rIns="0" bIns="0" rtlCol="0" anchor="t"/>
          <a:lstStyle/>
          <a:p>
            <a:pPr indent="0" marL="0">
              <a:spcAft>
                <a:spcPts val="600"/>
              </a:spcAft>
              <a:buNone/>
            </a:pPr>
            <a:r>
              <a:rPr lang="en-US" sz="1300" dirty="0">
                <a:solidFill>
                  <a:srgbClr val="5F5C57"/>
                </a:solidFill>
                <a:latin typeface="Calibri" pitchFamily="34" charset="0"/>
                <a:ea typeface="Calibri" pitchFamily="34" charset="-122"/>
                <a:cs typeface="Calibri" pitchFamily="34" charset="-120"/>
              </a:rPr>
              <a:t>GoTo 3Q26: commission-cap predictions</a:t>
            </a:r>
            <a:endParaRPr lang="en-US" sz="1300" dirty="0"/>
          </a:p>
        </p:txBody>
      </p:sp>
      <p:sp>
        <p:nvSpPr>
          <p:cNvPr id="9" name="Shape 6"/>
          <p:cNvSpPr/>
          <p:nvPr/>
        </p:nvSpPr>
        <p:spPr>
          <a:xfrm>
            <a:off x="3474720" y="2240280"/>
            <a:ext cx="182880" cy="182880"/>
          </a:xfrm>
          <a:prstGeom prst="ellipse">
            <a:avLst/>
          </a:prstGeom>
          <a:solidFill>
            <a:srgbClr val="1F4E5F"/>
          </a:solidFill>
          <a:ln w="12700">
            <a:solidFill>
              <a:srgbClr val="1F4E5F"/>
            </a:solidFill>
            <a:prstDash val="solid"/>
          </a:ln>
        </p:spPr>
      </p:sp>
      <p:sp>
        <p:nvSpPr>
          <p:cNvPr id="10" name="Text 7"/>
          <p:cNvSpPr txBox="1"/>
          <p:nvPr/>
        </p:nvSpPr>
        <p:spPr>
          <a:xfrm>
            <a:off x="3474720" y="1783080"/>
            <a:ext cx="2560320" cy="32004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1 Nov</a:t>
            </a:r>
            <a:endParaRPr lang="en-US" sz="1400" dirty="0"/>
          </a:p>
        </p:txBody>
      </p:sp>
      <p:sp>
        <p:nvSpPr>
          <p:cNvPr id="11" name="Text 8"/>
          <p:cNvSpPr txBox="1"/>
          <p:nvPr/>
        </p:nvSpPr>
        <p:spPr>
          <a:xfrm>
            <a:off x="3474720" y="2560320"/>
            <a:ext cx="2560320" cy="731520"/>
          </a:xfrm>
          <a:prstGeom prst="rect">
            <a:avLst/>
          </a:prstGeom>
          <a:noFill/>
          <a:ln/>
        </p:spPr>
        <p:txBody>
          <a:bodyPr wrap="square" lIns="0" tIns="0" rIns="0" bIns="0" rtlCol="0" anchor="t"/>
          <a:lstStyle/>
          <a:p>
            <a:pPr indent="0" marL="0">
              <a:spcAft>
                <a:spcPts val="600"/>
              </a:spcAft>
              <a:buNone/>
            </a:pPr>
            <a:r>
              <a:rPr lang="en-US" sz="1300" dirty="0">
                <a:solidFill>
                  <a:srgbClr val="5F5C57"/>
                </a:solidFill>
                <a:latin typeface="Calibri" pitchFamily="34" charset="0"/>
                <a:ea typeface="Calibri" pitchFamily="34" charset="-122"/>
                <a:cs typeface="Calibri" pitchFamily="34" charset="-120"/>
              </a:rPr>
              <a:t>Marketplace tax start (registered: slips again)</a:t>
            </a:r>
            <a:endParaRPr lang="en-US" sz="1300" dirty="0"/>
          </a:p>
        </p:txBody>
      </p:sp>
      <p:sp>
        <p:nvSpPr>
          <p:cNvPr id="12" name="Shape 9"/>
          <p:cNvSpPr/>
          <p:nvPr/>
        </p:nvSpPr>
        <p:spPr>
          <a:xfrm>
            <a:off x="6217920" y="2240280"/>
            <a:ext cx="182880" cy="182880"/>
          </a:xfrm>
          <a:prstGeom prst="ellipse">
            <a:avLst/>
          </a:prstGeom>
          <a:solidFill>
            <a:srgbClr val="1F4E5F"/>
          </a:solidFill>
          <a:ln w="12700">
            <a:solidFill>
              <a:srgbClr val="1F4E5F"/>
            </a:solidFill>
            <a:prstDash val="solid"/>
          </a:ln>
        </p:spPr>
      </p:sp>
      <p:sp>
        <p:nvSpPr>
          <p:cNvPr id="13" name="Text 10"/>
          <p:cNvSpPr txBox="1"/>
          <p:nvPr/>
        </p:nvSpPr>
        <p:spPr>
          <a:xfrm>
            <a:off x="6217920" y="1783080"/>
            <a:ext cx="2560320" cy="32004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Early Nov</a:t>
            </a:r>
            <a:endParaRPr lang="en-US" sz="1400" dirty="0"/>
          </a:p>
        </p:txBody>
      </p:sp>
      <p:sp>
        <p:nvSpPr>
          <p:cNvPr id="14" name="Text 11"/>
          <p:cNvSpPr txBox="1"/>
          <p:nvPr/>
        </p:nvSpPr>
        <p:spPr>
          <a:xfrm>
            <a:off x="6217920" y="2560320"/>
            <a:ext cx="2560320" cy="731520"/>
          </a:xfrm>
          <a:prstGeom prst="rect">
            <a:avLst/>
          </a:prstGeom>
          <a:noFill/>
          <a:ln/>
        </p:spPr>
        <p:txBody>
          <a:bodyPr wrap="square" lIns="0" tIns="0" rIns="0" bIns="0" rtlCol="0" anchor="t"/>
          <a:lstStyle/>
          <a:p>
            <a:pPr indent="0" marL="0">
              <a:spcAft>
                <a:spcPts val="600"/>
              </a:spcAft>
              <a:buNone/>
            </a:pPr>
            <a:r>
              <a:rPr lang="en-US" sz="1300" dirty="0">
                <a:solidFill>
                  <a:srgbClr val="5F5C57"/>
                </a:solidFill>
                <a:latin typeface="Calibri" pitchFamily="34" charset="0"/>
                <a:ea typeface="Calibri" pitchFamily="34" charset="-122"/>
                <a:cs typeface="Calibri" pitchFamily="34" charset="-120"/>
              </a:rPr>
              <a:t>BPS 3Q26 GDP: buying vs household spending</a:t>
            </a:r>
            <a:endParaRPr lang="en-US" sz="1300" dirty="0"/>
          </a:p>
        </p:txBody>
      </p:sp>
      <p:sp>
        <p:nvSpPr>
          <p:cNvPr id="15" name="Shape 12"/>
          <p:cNvSpPr/>
          <p:nvPr/>
        </p:nvSpPr>
        <p:spPr>
          <a:xfrm>
            <a:off x="8961120" y="2240280"/>
            <a:ext cx="182880" cy="182880"/>
          </a:xfrm>
          <a:prstGeom prst="ellipse">
            <a:avLst/>
          </a:prstGeom>
          <a:solidFill>
            <a:srgbClr val="1F4E5F"/>
          </a:solidFill>
          <a:ln w="12700">
            <a:solidFill>
              <a:srgbClr val="1F4E5F"/>
            </a:solidFill>
            <a:prstDash val="solid"/>
          </a:ln>
        </p:spPr>
      </p:sp>
      <p:sp>
        <p:nvSpPr>
          <p:cNvPr id="16" name="Text 13"/>
          <p:cNvSpPr txBox="1"/>
          <p:nvPr/>
        </p:nvSpPr>
        <p:spPr>
          <a:xfrm>
            <a:off x="8961120" y="1783080"/>
            <a:ext cx="2560320" cy="320040"/>
          </a:xfrm>
          <a:prstGeom prst="rect">
            <a:avLst/>
          </a:prstGeom>
          <a:noFill/>
          <a:ln/>
        </p:spPr>
        <p:txBody>
          <a:bodyPr wrap="square" lIns="0" tIns="0" rIns="0" bIns="0" rtlCol="0" anchor="t"/>
          <a:lstStyle/>
          <a:p>
            <a:pPr indent="0" marL="0">
              <a:spcAft>
                <a:spcPts val="600"/>
              </a:spcAft>
              <a:buNone/>
            </a:pPr>
            <a:r>
              <a:rPr lang="en-US" sz="1400" b="1" dirty="0">
                <a:solidFill>
                  <a:srgbClr val="1A1A1A"/>
                </a:solidFill>
                <a:latin typeface="Calibri" pitchFamily="34" charset="0"/>
                <a:ea typeface="Calibri" pitchFamily="34" charset="-122"/>
                <a:cs typeface="Calibri" pitchFamily="34" charset="-120"/>
              </a:rPr>
              <a:t>Mid Nov</a:t>
            </a:r>
            <a:endParaRPr lang="en-US" sz="1400" dirty="0"/>
          </a:p>
        </p:txBody>
      </p:sp>
      <p:sp>
        <p:nvSpPr>
          <p:cNvPr id="17" name="Text 14"/>
          <p:cNvSpPr txBox="1"/>
          <p:nvPr/>
        </p:nvSpPr>
        <p:spPr>
          <a:xfrm>
            <a:off x="8961120" y="2560320"/>
            <a:ext cx="2560320" cy="731520"/>
          </a:xfrm>
          <a:prstGeom prst="rect">
            <a:avLst/>
          </a:prstGeom>
          <a:noFill/>
          <a:ln/>
        </p:spPr>
        <p:txBody>
          <a:bodyPr wrap="square" lIns="0" tIns="0" rIns="0" bIns="0" rtlCol="0" anchor="t"/>
          <a:lstStyle/>
          <a:p>
            <a:pPr indent="0" marL="0">
              <a:spcAft>
                <a:spcPts val="600"/>
              </a:spcAft>
              <a:buNone/>
            </a:pPr>
            <a:r>
              <a:rPr lang="en-US" sz="1300" dirty="0">
                <a:solidFill>
                  <a:srgbClr val="5F5C57"/>
                </a:solidFill>
                <a:latin typeface="Calibri" pitchFamily="34" charset="0"/>
                <a:ea typeface="Calibri" pitchFamily="34" charset="-122"/>
                <a:cs typeface="Calibri" pitchFamily="34" charset="-120"/>
              </a:rPr>
              <a:t>Grab and Sea 3Q26: remaining predictions</a:t>
            </a:r>
            <a:endParaRPr lang="en-US" sz="1300" dirty="0"/>
          </a:p>
        </p:txBody>
      </p:sp>
      <p:sp>
        <p:nvSpPr>
          <p:cNvPr id="18" name="writing"/>
          <p:cNvSpPr/>
          <p:nvPr/>
        </p:nvSpPr>
        <p:spPr>
          <a:xfrm>
            <a:off x="548640" y="3566160"/>
            <a:ext cx="5394960" cy="2286000"/>
          </a:xfrm>
          <a:prstGeom prst="roundRect">
            <a:avLst>
              <a:gd name="adj" fmla="val 3200"/>
            </a:avLst>
          </a:prstGeom>
          <a:solidFill>
            <a:srgbClr val="FAF9F6"/>
          </a:solidFill>
          <a:ln w="9525">
            <a:solidFill>
              <a:srgbClr val="D9D5CD"/>
            </a:solidFill>
            <a:prstDash val="solid"/>
          </a:ln>
        </p:spPr>
      </p:sp>
      <p:sp>
        <p:nvSpPr>
          <p:cNvPr id="19" name="Text 16"/>
          <p:cNvSpPr txBox="1"/>
          <p:nvPr/>
        </p:nvSpPr>
        <p:spPr>
          <a:xfrm>
            <a:off x="822960" y="3749040"/>
            <a:ext cx="48463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1F4E5F"/>
                </a:solidFill>
                <a:latin typeface="Calibri" pitchFamily="34" charset="0"/>
                <a:ea typeface="Calibri" pitchFamily="34" charset="-122"/>
                <a:cs typeface="Calibri" pitchFamily="34" charset="-120"/>
              </a:rPr>
              <a:t>WRITING</a:t>
            </a:r>
            <a:endParaRPr lang="en-US" sz="1100" dirty="0"/>
          </a:p>
        </p:txBody>
      </p:sp>
      <p:sp>
        <p:nvSpPr>
          <p:cNvPr id="20" name="Text 17"/>
          <p:cNvSpPr txBox="1"/>
          <p:nvPr/>
        </p:nvSpPr>
        <p:spPr>
          <a:xfrm>
            <a:off x="822960" y="4114800"/>
            <a:ext cx="4846320" cy="16459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A3834"/>
                </a:solidFill>
                <a:latin typeface="Calibri" pitchFamily="34" charset="0"/>
                <a:ea typeface="Calibri" pitchFamily="34" charset="-122"/>
                <a:cs typeface="Calibri" pitchFamily="34" charset="-120"/>
              </a:rPr>
              <a:t>Results chapter first, then the introduction</a:t>
            </a:r>
            <a:endParaRPr lang="en-US" sz="1400" dirty="0"/>
          </a:p>
          <a:p>
            <a:pPr marL="177800" indent="-177800">
              <a:spcAft>
                <a:spcPts val="800"/>
              </a:spcAft>
              <a:buSzPct val="100000"/>
              <a:buChar char="•"/>
            </a:pPr>
            <a:r>
              <a:rPr lang="en-US" sz="1400" dirty="0">
                <a:solidFill>
                  <a:srgbClr val="3A3834"/>
                </a:solidFill>
                <a:latin typeface="Calibri" pitchFamily="34" charset="0"/>
                <a:ea typeface="Calibri" pitchFamily="34" charset="-122"/>
                <a:cs typeface="Calibri" pitchFamily="34" charset="-120"/>
              </a:rPr>
              <a:t>Same chapters as the proposal; the story runs through them</a:t>
            </a:r>
            <a:endParaRPr lang="en-US" sz="1400" dirty="0"/>
          </a:p>
          <a:p>
            <a:pPr marL="177800" indent="-177800">
              <a:spcAft>
                <a:spcPts val="800"/>
              </a:spcAft>
              <a:buSzPct val="100000"/>
              <a:buChar char="•"/>
            </a:pPr>
            <a:r>
              <a:rPr lang="en-US" sz="1400" dirty="0">
                <a:solidFill>
                  <a:srgbClr val="3A3834"/>
                </a:solidFill>
                <a:latin typeface="Calibri" pitchFamily="34" charset="0"/>
                <a:ea typeface="Calibri" pitchFamily="34" charset="-122"/>
                <a:cs typeface="Calibri" pitchFamily="34" charset="-120"/>
              </a:rPr>
              <a:t>YZU template and reference check before submission</a:t>
            </a:r>
            <a:endParaRPr lang="en-US" sz="1400" dirty="0"/>
          </a:p>
        </p:txBody>
      </p:sp>
      <p:sp>
        <p:nvSpPr>
          <p:cNvPr id="21" name="ask"/>
          <p:cNvSpPr/>
          <p:nvPr/>
        </p:nvSpPr>
        <p:spPr>
          <a:xfrm>
            <a:off x="6217920" y="3566160"/>
            <a:ext cx="5394960" cy="2286000"/>
          </a:xfrm>
          <a:prstGeom prst="roundRect">
            <a:avLst>
              <a:gd name="adj" fmla="val 3200"/>
            </a:avLst>
          </a:prstGeom>
          <a:solidFill>
            <a:srgbClr val="FAF9F6"/>
          </a:solidFill>
          <a:ln w="9525">
            <a:solidFill>
              <a:srgbClr val="D9D5CD"/>
            </a:solidFill>
            <a:prstDash val="solid"/>
          </a:ln>
        </p:spPr>
      </p:sp>
      <p:sp>
        <p:nvSpPr>
          <p:cNvPr id="22" name="Text 19"/>
          <p:cNvSpPr txBox="1"/>
          <p:nvPr/>
        </p:nvSpPr>
        <p:spPr>
          <a:xfrm>
            <a:off x="6492240" y="3749040"/>
            <a:ext cx="484632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A33A2C"/>
                </a:solidFill>
                <a:latin typeface="Calibri" pitchFamily="34" charset="0"/>
                <a:ea typeface="Calibri" pitchFamily="34" charset="-122"/>
                <a:cs typeface="Calibri" pitchFamily="34" charset="-120"/>
              </a:rPr>
              <a:t>ONE QUESTION FOR YOU</a:t>
            </a:r>
            <a:endParaRPr lang="en-US" sz="1100" dirty="0"/>
          </a:p>
        </p:txBody>
      </p:sp>
      <p:sp>
        <p:nvSpPr>
          <p:cNvPr id="23" name="Text 20"/>
          <p:cNvSpPr txBox="1"/>
          <p:nvPr/>
        </p:nvSpPr>
        <p:spPr>
          <a:xfrm>
            <a:off x="6492240" y="4114800"/>
            <a:ext cx="4846320" cy="1645920"/>
          </a:xfrm>
          <a:prstGeom prst="rect">
            <a:avLst/>
          </a:prstGeom>
          <a:noFill/>
          <a:ln/>
        </p:spPr>
        <p:txBody>
          <a:bodyPr wrap="square" lIns="0" tIns="0" rIns="0" bIns="0"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H2 still holds on the published numbers, but its 2023 meaning changes: about half the rise in sellers was not new. Is it acceptable to present the entry test as closing the limit the proposal itself named?</a:t>
            </a:r>
            <a:endParaRPr lang="en-US" sz="14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78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Invisible Ledger">
  <a:themeElements>
    <a:clrScheme name="Invisible Ledger">
      <a:dk1>
        <a:srgbClr val="1A1A1A"/>
      </a:dk1>
      <a:lt1>
        <a:srgbClr val="FFFFFF"/>
      </a:lt1>
      <a:dk2>
        <a:srgbClr val="1F4E5F"/>
      </a:dk2>
      <a:lt2>
        <a:srgbClr val="F1EFEA"/>
      </a:lt2>
      <a:accent1>
        <a:srgbClr val="1E88A8"/>
      </a:accent1>
      <a:accent2>
        <a:srgbClr val="BF4B33"/>
      </a:accent2>
      <a:accent3>
        <a:srgbClr val="1F4E5F"/>
      </a:accent3>
      <a:accent4>
        <a:srgbClr val="8A8782"/>
      </a:accent4>
      <a:accent5>
        <a:srgbClr val="A33A2C"/>
      </a:accent5>
      <a:accent6>
        <a:srgbClr val="5F5C57"/>
      </a:accent6>
      <a:hlink>
        <a:srgbClr val="1E88A8"/>
      </a:hlink>
      <a:folHlink>
        <a:srgbClr val="5F5C57"/>
      </a:folHlink>
    </a:clrScheme>
    <a:fontScheme name="Invisible Ledger">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Invisible Ledger: progress since the proposal oral</dc:title>
  <dc:subject>PptxGenJS Presentation</dc:subject>
  <dc:creator>Christopher Ongko</dc:creator>
  <cp:lastModifiedBy>Christopher Ongko</cp:lastModifiedBy>
  <cp:revision>1</cp:revision>
  <dcterms:created xsi:type="dcterms:W3CDTF">2026-10-09T10:33:23Z</dcterms:created>
  <dcterms:modified xsi:type="dcterms:W3CDTF">2026-10-09T10:33:23Z</dcterms:modified>
</cp:coreProperties>
</file>